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</p:sldIdLst>
  <p:sldSz cx="12192000" cy="6858000"/>
  <p:notesSz cx="6858000" cy="9144000"/>
  <p:custDataLst>
    <p:tags r:id="rId8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3E4D02-AB90-9BBF-5EFF-D32E969224AD}" name="Alexandra Caluseri" initials="AC" userId="S::alexandra.caluseri@mhp.com::ad5dd261-3a4e-469e-ac6b-691c7f696dc7" providerId="AD"/>
  <p188:author id="{EEC27003-A16B-478E-6937-3ACCC63195E2}" name="Sophia Rybing | i-pointing" initials="SR" userId="S::sophia.rybing@i-pointing.de::684fd05d-6aec-4bfc-a972-e30661d28a6b" providerId="AD"/>
  <p188:author id="{9CD0D913-EBA1-2697-BF27-42C9045AB20F}" name="Roxana-Aniela Oroian" initials="RO" userId="S::roxana-aniela.oroian@mhp.com::64fc5bb4-7223-4a1a-a9a4-8677cb341afd" providerId="AD"/>
  <p188:author id="{16024027-DE90-B643-A5AB-981C457C49CE}" name="Lennart Brouwer" initials="" userId="S::lennart.brouwer@mhp.com::d27dd6d1-bc5d-47e9-a589-6145e0c37199" providerId="AD"/>
  <p188:author id="{814D794E-E7B5-3AD6-159C-5E5AB476F9CB}" name="Andreea Lapuste" initials="AL" userId="S::andreea.lapuste@mhp.com::0ff6f271-2684-43fc-8ddc-9feb67db32a1" providerId="AD"/>
  <p188:author id="{B5735751-ECA2-FFCF-E825-45EBFA9FF1F1}" name="Nina Bauermann | i-pointing" initials="NB" userId="S::Nina.Bauermann@i-pointing.de::ea9b2913-e845-4eeb-a112-7187b6c4b448" providerId="AD"/>
  <p188:author id="{6BF52E52-6CEE-EDBB-300A-3BF6A29DC9A4}" name="Guest User" initials="GU" userId="S::urn:spo:anon#60fdd5421a9e105bd1d5e418a08a3ff40636ed9aeb9ec006da57b78e5833957a::" providerId="AD"/>
  <p188:author id="{0F6D3E57-D49F-0515-5126-05A1DFFC49B3}" name="roxana-aniela.oroian@mhp.com" initials="ro" userId="S::urn:spo:guest#roxana-aniela.oroian@mhp.com::" providerId="AD"/>
  <p188:author id="{CF956963-B8A1-6385-7137-0782CF06A58B}" name="Patrycja Soltysiak" initials="PS" userId="S::Patrycja.Soltysiak@i-pointing.de::b00dd03d-f5c9-4929-987d-3f948262db60" providerId="AD"/>
  <p188:author id="{DB7DBFBE-A3C2-189F-9C83-7512BF420A61}" name="andreea.lapuste@mhp.com" initials="an" userId="S::urn:spo:guest#andreea.lapuste@mhp.com::" providerId="AD"/>
  <p188:author id="{46BBECEC-2AF5-7AAF-666A-2CF1AA6C60A2}" name="Andreea Lapuste" initials="AL" userId="S::net.andreea.lapuste@mhp.com::0ff6f271-2684-43fc-8ddc-9feb67db32a1" providerId="AD"/>
  <p188:author id="{0F5E8DEE-DC95-EB92-8B53-D347D73635FE}" name="Giulia-Lavinia Jean" initials="GJ" userId="S::giulia-lavinia.jean@mhp.com::5a5624c6-683e-461a-b219-9ada4575c4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DED"/>
    <a:srgbClr val="3A43FF"/>
    <a:srgbClr val="EBEFFF"/>
    <a:srgbClr val="A5B202"/>
    <a:srgbClr val="FF3399"/>
    <a:srgbClr val="FFFFFF"/>
    <a:srgbClr val="00CC67"/>
    <a:srgbClr val="DDEF03"/>
    <a:srgbClr val="CDD6FF"/>
    <a:srgbClr val="F0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85"/>
    <p:restoredTop sz="94658"/>
  </p:normalViewPr>
  <p:slideViewPr>
    <p:cSldViewPr snapToGrid="0">
      <p:cViewPr varScale="1">
        <p:scale>
          <a:sx n="116" d="100"/>
          <a:sy n="116" d="100"/>
        </p:scale>
        <p:origin x="1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8/10/relationships/authors" Target="authors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xana-Aniela Oroian" userId="64fc5bb4-7223-4a1a-a9a4-8677cb341afd" providerId="ADAL" clId="{B0D2C031-6F24-55B1-BF27-3045ACBBF8BF}"/>
    <pc:docChg chg="modMainMaster">
      <pc:chgData name="Roxana-Aniela Oroian" userId="64fc5bb4-7223-4a1a-a9a4-8677cb341afd" providerId="ADAL" clId="{B0D2C031-6F24-55B1-BF27-3045ACBBF8BF}" dt="2026-10-19T08:47:56.587" v="1" actId="20577"/>
      <pc:docMkLst>
        <pc:docMk/>
      </pc:docMkLst>
      <pc:sldMasterChg chg="modSldLayout">
        <pc:chgData name="Roxana-Aniela Oroian" userId="64fc5bb4-7223-4a1a-a9a4-8677cb341afd" providerId="ADAL" clId="{B0D2C031-6F24-55B1-BF27-3045ACBBF8BF}" dt="2026-10-19T08:47:56.587" v="1" actId="20577"/>
        <pc:sldMasterMkLst>
          <pc:docMk/>
          <pc:sldMasterMk cId="1373265248" sldId="2147483689"/>
        </pc:sldMasterMkLst>
        <pc:sldLayoutChg chg="modSp mod">
          <pc:chgData name="Roxana-Aniela Oroian" userId="64fc5bb4-7223-4a1a-a9a4-8677cb341afd" providerId="ADAL" clId="{B0D2C031-6F24-55B1-BF27-3045ACBBF8BF}" dt="2026-10-19T08:47:56.587" v="1" actId="20577"/>
          <pc:sldLayoutMkLst>
            <pc:docMk/>
            <pc:sldMasterMk cId="1373265248" sldId="2147483689"/>
            <pc:sldLayoutMk cId="3375198235" sldId="2147483701"/>
          </pc:sldLayoutMkLst>
          <pc:spChg chg="mod">
            <ac:chgData name="Roxana-Aniela Oroian" userId="64fc5bb4-7223-4a1a-a9a4-8677cb341afd" providerId="ADAL" clId="{B0D2C031-6F24-55B1-BF27-3045ACBBF8BF}" dt="2026-10-19T08:47:56.587" v="1" actId="20577"/>
            <ac:spMkLst>
              <pc:docMk/>
              <pc:sldMasterMk cId="1373265248" sldId="2147483689"/>
              <pc:sldLayoutMk cId="3375198235" sldId="2147483701"/>
              <ac:spMk id="2" creationId="{F2C73B73-121B-A755-A619-61DA9EB43060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18F548F-0723-1361-F9F0-550EFB6ACC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624B7C-CC19-A67D-ADCE-B842FEBFB1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C04417-BBC1-4518-9A0D-FF86BA202DD5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EC7F2F-DC13-418E-8649-8BF84B4B2D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AEA43-998C-3818-2C0F-F8DE57AADB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A6BC3-664A-45E6-8F44-E085579B22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6186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AC601-79EC-4230-922D-8A80BCD7E733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6FB33-408D-4E42-9983-6C93B3CEFE4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0353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Simpl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hteck 43">
            <a:extLst>
              <a:ext uri="{FF2B5EF4-FFF2-40B4-BE49-F238E27FC236}">
                <a16:creationId xmlns:a16="http://schemas.microsoft.com/office/drawing/2014/main" id="{29AC1DB3-A364-5A5A-4458-F6D21574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1381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89804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D832960-CDA8-823E-15E4-30E3BD2CA0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350659"/>
            <a:ext cx="9144000" cy="553998"/>
          </a:xfrm>
        </p:spPr>
        <p:txBody>
          <a:bodyPr vert="horz" anchor="t"/>
          <a:lstStyle>
            <a:lvl1pPr algn="ctr"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Add </a:t>
            </a:r>
            <a:r>
              <a:rPr lang="de-DE" err="1"/>
              <a:t>presentation</a:t>
            </a:r>
            <a:r>
              <a:rPr lang="de-DE"/>
              <a:t> </a:t>
            </a:r>
            <a:r>
              <a:rPr lang="de-DE" err="1"/>
              <a:t>titlE</a:t>
            </a:r>
            <a:endParaRPr lang="en-CA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287F373-6A36-D830-BBFF-5BC526A72A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5441245"/>
            <a:ext cx="9144000" cy="276999"/>
          </a:xfrm>
        </p:spPr>
        <p:txBody>
          <a:bodyPr>
            <a:spAutoFit/>
          </a:bodyPr>
          <a:lstStyle>
            <a:lvl1pPr marL="0" indent="0" algn="ctr">
              <a:buNone/>
              <a:defRPr sz="18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MHP Quote-</a:t>
            </a:r>
            <a:r>
              <a:rPr lang="de-DE" err="1"/>
              <a:t>No</a:t>
            </a:r>
            <a:r>
              <a:rPr lang="de-DE"/>
              <a:t>. </a:t>
            </a:r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5A053A31-D315-58B6-B194-6EB692BB6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5051482" y="1484313"/>
            <a:ext cx="2089038" cy="833340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D413C6D-6242-0EAD-D568-DB553BE6770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E4C4E3A-FC09-B574-0BCB-8066B3FB15D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2A0E1A-0EDB-C5B6-51E5-981BE11E54D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DD59E1A-C8BD-5041-74B6-A05F634BC1F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E8D5896-4B70-893D-3B15-5601B41E480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9957FCD-EC82-D997-5FFA-274C5B51778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F2BA7CA-8188-4C52-205A-517F7A0B59C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2071794-20EE-C045-2A71-9F31668CC69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C5A9BDA-F69F-A6BF-304B-946744AA58C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1187800-CC88-6119-E2DC-27262530FA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68F0935-D1E6-73A0-E7E0-CDA4E203A35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AB34E3A-6F8B-6B73-A9F4-B709329E7A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37720B8-12CD-7A0E-256D-AB460801A63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BD0AA43-F83D-2F87-DF93-66F9CA13A5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DE2DD95-01C4-A0F1-43F1-109DD73126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4E9D878-2B64-25B1-B41D-F66E2F63DF0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8ABB3D9-464F-F735-DEA5-ABC0120F00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A573133-EF96-8589-2BF1-088B1044065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38CEEF2-882B-E3EE-8FD3-7DE0BC8430E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0DC81826-9A4C-FD0D-FDAE-A8C0602A002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B48FB929-8D8E-76C5-A881-E20BD54A399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48A6352-713F-0A02-F433-13D25B61D1B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9493CB0-4949-B334-F0C6-753F98F2C3F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43" name="Textplatzhalter 42">
            <a:extLst>
              <a:ext uri="{FF2B5EF4-FFF2-40B4-BE49-F238E27FC236}">
                <a16:creationId xmlns:a16="http://schemas.microsoft.com/office/drawing/2014/main" id="{57DD1241-2A1B-F420-A921-54F65AB261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58009" y="6019840"/>
            <a:ext cx="1103602" cy="36191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ctr">
              <a:buNone/>
              <a:defRPr sz="1200" cap="all" baseline="0">
                <a:solidFill>
                  <a:schemeClr val="bg1"/>
                </a:solidFill>
              </a:defRPr>
            </a:lvl1pPr>
            <a:lvl2pPr marL="252000" indent="0" algn="ctr">
              <a:buNone/>
              <a:defRPr>
                <a:solidFill>
                  <a:schemeClr val="bg1"/>
                </a:solidFill>
              </a:defRPr>
            </a:lvl2pPr>
            <a:lvl3pPr marL="504000" indent="0" algn="ctr">
              <a:buNone/>
              <a:defRPr>
                <a:solidFill>
                  <a:schemeClr val="bg1"/>
                </a:solidFill>
              </a:defRPr>
            </a:lvl3pPr>
            <a:lvl4pPr marL="756000" indent="0" algn="ctr">
              <a:buNone/>
              <a:defRPr>
                <a:solidFill>
                  <a:schemeClr val="bg1"/>
                </a:solidFill>
              </a:defRPr>
            </a:lvl4pPr>
            <a:lvl5pPr marL="10080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Place, Date</a:t>
            </a:r>
          </a:p>
        </p:txBody>
      </p:sp>
    </p:spTree>
    <p:extLst>
      <p:ext uri="{BB962C8B-B14F-4D97-AF65-F5344CB8AC3E}">
        <p14:creationId xmlns:p14="http://schemas.microsoft.com/office/powerpoint/2010/main" val="183448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Client Logo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hteck 43">
            <a:extLst>
              <a:ext uri="{FF2B5EF4-FFF2-40B4-BE49-F238E27FC236}">
                <a16:creationId xmlns:a16="http://schemas.microsoft.com/office/drawing/2014/main" id="{29AC1DB3-A364-5A5A-4458-F6D21574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0791681C-A270-31D1-136C-A834B9040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 bwMode="black">
          <a:xfrm>
            <a:off x="6678254" y="1489175"/>
            <a:ext cx="1750997" cy="698495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0C7EB7FE-9E26-6D38-4EF4-8D05F0B161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1B1149-6FFC-3C39-741A-D65A146D012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3B5A6BB-4A9C-4F0C-B52E-2CBFA5ECD26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A1EB3F81-091B-00E3-1856-B1BA2DCEA45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BD666F36-23AE-A6A5-CAB9-342D2630DB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96F0A04-E2E3-B3EC-B00A-F36880FEB7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4C81523-CD38-AEA9-43CE-DE09A4ED5A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4218DF69-828F-3E45-7EE4-2A9CC2B4C2D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093CED59-BA48-4657-D2B5-E016DB8229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A6A57279-FA69-ABA2-F8DF-B603C3090A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2CDF7285-422F-47FB-3220-AB280340929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B4836D42-D0EF-B8EE-579A-26416908E5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2A93973F-41B4-C487-0EF4-61721F56ABE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C10F19E0-AA4C-C957-0739-BD4BF16438E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0082C831-8EC3-6575-2CC2-C2F0BEBEC15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1E0F5E51-A2F6-4344-ADDD-6095C04994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B5E05BD9-24C2-2339-2B1B-1BC8E072EE5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FCFBD939-A61B-B1BE-B4C5-EFEBF0EB4C1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65C71E6A-03AD-58B4-9B90-E303BA8F1F8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67D425F8-DBC1-EFD2-E35C-F3FBC8AE65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DC58C6BA-5788-C418-9536-95411D30FC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947CF438-BACC-8F13-E01F-7FEA975452A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8C2FCA06-BB7D-74FD-8CB0-6EA1B01BBE3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3AB0A9DC-4EF4-A5A7-DA22-B7FA91C15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0471" y="1484313"/>
            <a:ext cx="1943100" cy="698400"/>
          </a:xfrm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/>
              <a:t>Dedicated placeholder for client logo</a:t>
            </a:r>
          </a:p>
        </p:txBody>
      </p:sp>
      <p:sp>
        <p:nvSpPr>
          <p:cNvPr id="46" name="Titel 1">
            <a:extLst>
              <a:ext uri="{FF2B5EF4-FFF2-40B4-BE49-F238E27FC236}">
                <a16:creationId xmlns:a16="http://schemas.microsoft.com/office/drawing/2014/main" id="{97037FA9-A734-926E-B263-6D5001908A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350659"/>
            <a:ext cx="9144000" cy="553998"/>
          </a:xfrm>
        </p:spPr>
        <p:txBody>
          <a:bodyPr vert="horz" anchor="t"/>
          <a:lstStyle>
            <a:lvl1pPr algn="ctr"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Add </a:t>
            </a:r>
            <a:r>
              <a:rPr lang="de-DE" err="1"/>
              <a:t>presentation</a:t>
            </a:r>
            <a:r>
              <a:rPr lang="de-DE"/>
              <a:t> </a:t>
            </a:r>
            <a:r>
              <a:rPr lang="de-DE" err="1"/>
              <a:t>titlE</a:t>
            </a:r>
            <a:endParaRPr lang="en-CA"/>
          </a:p>
        </p:txBody>
      </p:sp>
      <p:sp>
        <p:nvSpPr>
          <p:cNvPr id="47" name="Untertitel 2">
            <a:extLst>
              <a:ext uri="{FF2B5EF4-FFF2-40B4-BE49-F238E27FC236}">
                <a16:creationId xmlns:a16="http://schemas.microsoft.com/office/drawing/2014/main" id="{A212A3AF-326B-C975-D514-7789D0AA06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5441245"/>
            <a:ext cx="9144000" cy="276999"/>
          </a:xfrm>
        </p:spPr>
        <p:txBody>
          <a:bodyPr>
            <a:spAutoFit/>
          </a:bodyPr>
          <a:lstStyle>
            <a:lvl1pPr marL="0" indent="0" algn="ctr">
              <a:buNone/>
              <a:defRPr sz="18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MHP Quote-</a:t>
            </a:r>
            <a:r>
              <a:rPr lang="de-DE" err="1"/>
              <a:t>No</a:t>
            </a:r>
            <a:r>
              <a:rPr lang="de-DE"/>
              <a:t>. </a:t>
            </a:r>
            <a:endParaRPr lang="en-CA"/>
          </a:p>
        </p:txBody>
      </p:sp>
      <p:sp>
        <p:nvSpPr>
          <p:cNvPr id="4" name="Textplatzhalter 42">
            <a:extLst>
              <a:ext uri="{FF2B5EF4-FFF2-40B4-BE49-F238E27FC236}">
                <a16:creationId xmlns:a16="http://schemas.microsoft.com/office/drawing/2014/main" id="{B7BFD85D-A783-6A68-4945-DE451438C1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58009" y="6019840"/>
            <a:ext cx="1103602" cy="36191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ctr">
              <a:buNone/>
              <a:defRPr sz="1200" cap="all" baseline="0">
                <a:solidFill>
                  <a:schemeClr val="bg1"/>
                </a:solidFill>
              </a:defRPr>
            </a:lvl1pPr>
            <a:lvl2pPr marL="252000" indent="0" algn="ctr">
              <a:buNone/>
              <a:defRPr>
                <a:solidFill>
                  <a:schemeClr val="bg1"/>
                </a:solidFill>
              </a:defRPr>
            </a:lvl2pPr>
            <a:lvl3pPr marL="504000" indent="0" algn="ctr">
              <a:buNone/>
              <a:defRPr>
                <a:solidFill>
                  <a:schemeClr val="bg1"/>
                </a:solidFill>
              </a:defRPr>
            </a:lvl3pPr>
            <a:lvl4pPr marL="756000" indent="0" algn="ctr">
              <a:buNone/>
              <a:defRPr>
                <a:solidFill>
                  <a:schemeClr val="bg1"/>
                </a:solidFill>
              </a:defRPr>
            </a:lvl4pPr>
            <a:lvl5pPr marL="10080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Place, Date</a:t>
            </a:r>
          </a:p>
        </p:txBody>
      </p:sp>
    </p:spTree>
    <p:extLst>
      <p:ext uri="{BB962C8B-B14F-4D97-AF65-F5344CB8AC3E}">
        <p14:creationId xmlns:p14="http://schemas.microsoft.com/office/powerpoint/2010/main" val="4074881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white_2 lines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43">
            <a:extLst>
              <a:ext uri="{FF2B5EF4-FFF2-40B4-BE49-F238E27FC236}">
                <a16:creationId xmlns:a16="http://schemas.microsoft.com/office/drawing/2014/main" id="{935F2909-85BE-5E77-269D-0FF47A794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44B8E79-04A7-CD98-8EF6-E212565A1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3207657" y="0"/>
            <a:ext cx="89843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9931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7B7157D-CC1E-049E-3121-300A4FAD9EE3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713B47-FDFD-44F6-B33D-CFB4326DB920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Rechteck 6">
            <a:extLst>
              <a:ext uri="{FF2B5EF4-FFF2-40B4-BE49-F238E27FC236}">
                <a16:creationId xmlns:a16="http://schemas.microsoft.com/office/drawing/2014/main" id="{84D281E3-2D83-A5AC-F035-AB31EF1F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0" y="9625"/>
            <a:ext cx="320765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grpSp>
        <p:nvGrpSpPr>
          <p:cNvPr id="46" name="Gruppieren 14">
            <a:extLst>
              <a:ext uri="{FF2B5EF4-FFF2-40B4-BE49-F238E27FC236}">
                <a16:creationId xmlns:a16="http://schemas.microsoft.com/office/drawing/2014/main" id="{7A5B37BE-600D-3858-D0E2-A4203BCF9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7DB3670A-33D2-894A-4B00-D950267C9F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Rectangle 8">
              <a:extLst>
                <a:ext uri="{FF2B5EF4-FFF2-40B4-BE49-F238E27FC236}">
                  <a16:creationId xmlns:a16="http://schemas.microsoft.com/office/drawing/2014/main" id="{7865F3BA-0941-D8BC-2A7B-21214ACF110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Rectangle 9">
              <a:extLst>
                <a:ext uri="{FF2B5EF4-FFF2-40B4-BE49-F238E27FC236}">
                  <a16:creationId xmlns:a16="http://schemas.microsoft.com/office/drawing/2014/main" id="{F523ACFC-8CFC-25B5-37FF-2A969606C24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BE0B506B-4FF4-7B54-DBD7-53CDE15739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48EAF0F2-E5D5-AADA-E277-CD4C508492C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734144E7-7CCD-4721-ABA3-6BD158F3A9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E4F8A630-AF88-BA09-E472-D1B1A642DF5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4BD79CE0-7F1C-1049-8CF0-C93FF255D45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4F256713-518F-1111-4567-1EBEB3F671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80A26254-8B70-96E9-4EDE-A123C852B6B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DC0BE9A8-330E-11E2-7A03-2EE9D76883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3A619DF-556C-E520-9EBC-BEA5CD9C10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1" name="Freeform 19">
              <a:extLst>
                <a:ext uri="{FF2B5EF4-FFF2-40B4-BE49-F238E27FC236}">
                  <a16:creationId xmlns:a16="http://schemas.microsoft.com/office/drawing/2014/main" id="{04A6238B-53EF-20F4-6F92-A4AD1C1F478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2" name="Freeform 20">
              <a:extLst>
                <a:ext uri="{FF2B5EF4-FFF2-40B4-BE49-F238E27FC236}">
                  <a16:creationId xmlns:a16="http://schemas.microsoft.com/office/drawing/2014/main" id="{0AE07604-C9A3-8D85-5510-310FF2B60B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00CAAC1A-E736-44C3-159D-7028B1293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4" name="Freeform 22">
              <a:extLst>
                <a:ext uri="{FF2B5EF4-FFF2-40B4-BE49-F238E27FC236}">
                  <a16:creationId xmlns:a16="http://schemas.microsoft.com/office/drawing/2014/main" id="{A0412C8B-DCD2-9615-D934-1C209C37762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5" name="Freeform 23">
              <a:extLst>
                <a:ext uri="{FF2B5EF4-FFF2-40B4-BE49-F238E27FC236}">
                  <a16:creationId xmlns:a16="http://schemas.microsoft.com/office/drawing/2014/main" id="{27077822-9118-0B56-348F-69C4FD9258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6" name="Freeform 24">
              <a:extLst>
                <a:ext uri="{FF2B5EF4-FFF2-40B4-BE49-F238E27FC236}">
                  <a16:creationId xmlns:a16="http://schemas.microsoft.com/office/drawing/2014/main" id="{B3B46281-6925-9B09-7ADC-29BB65CE32C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7" name="Freeform 25">
              <a:extLst>
                <a:ext uri="{FF2B5EF4-FFF2-40B4-BE49-F238E27FC236}">
                  <a16:creationId xmlns:a16="http://schemas.microsoft.com/office/drawing/2014/main" id="{402FB823-A8B7-CFC4-A2B5-DF9D0DD0B5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8" name="Freeform 26">
              <a:extLst>
                <a:ext uri="{FF2B5EF4-FFF2-40B4-BE49-F238E27FC236}">
                  <a16:creationId xmlns:a16="http://schemas.microsoft.com/office/drawing/2014/main" id="{E9C9D7F8-1DD6-BCA4-F839-DB3CCABF39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9" name="Freeform 27">
              <a:extLst>
                <a:ext uri="{FF2B5EF4-FFF2-40B4-BE49-F238E27FC236}">
                  <a16:creationId xmlns:a16="http://schemas.microsoft.com/office/drawing/2014/main" id="{DF5D362F-28BC-D5AD-3803-2582A001A0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0" name="Freeform 28">
              <a:extLst>
                <a:ext uri="{FF2B5EF4-FFF2-40B4-BE49-F238E27FC236}">
                  <a16:creationId xmlns:a16="http://schemas.microsoft.com/office/drawing/2014/main" id="{B0196EBB-AF4D-3A2B-C92D-D305FFC2DD4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1" name="Freeform 29">
              <a:extLst>
                <a:ext uri="{FF2B5EF4-FFF2-40B4-BE49-F238E27FC236}">
                  <a16:creationId xmlns:a16="http://schemas.microsoft.com/office/drawing/2014/main" id="{69CD51E5-7846-0702-F251-E73A1662C2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28" name="Textplatzhalter 82">
            <a:extLst>
              <a:ext uri="{FF2B5EF4-FFF2-40B4-BE49-F238E27FC236}">
                <a16:creationId xmlns:a16="http://schemas.microsoft.com/office/drawing/2014/main" id="{22028DD5-9808-39F2-70BD-D34E582352E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589931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20" name="Textplatzhalter 82">
            <a:extLst>
              <a:ext uri="{FF2B5EF4-FFF2-40B4-BE49-F238E27FC236}">
                <a16:creationId xmlns:a16="http://schemas.microsoft.com/office/drawing/2014/main" id="{F8B14F74-6C57-346D-F472-D8E5D600FFC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21451" y="2591136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21" name="Textplatzhalter 82">
            <a:extLst>
              <a:ext uri="{FF2B5EF4-FFF2-40B4-BE49-F238E27FC236}">
                <a16:creationId xmlns:a16="http://schemas.microsoft.com/office/drawing/2014/main" id="{78836DFB-B4D6-B9C1-CEAA-37605EEA5FD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21451" y="2938873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29" name="Textplatzhalter 82">
            <a:extLst>
              <a:ext uri="{FF2B5EF4-FFF2-40B4-BE49-F238E27FC236}">
                <a16:creationId xmlns:a16="http://schemas.microsoft.com/office/drawing/2014/main" id="{298406EA-020A-99C9-2F7B-A69145A9724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589931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22" name="Textplatzhalter 82">
            <a:extLst>
              <a:ext uri="{FF2B5EF4-FFF2-40B4-BE49-F238E27FC236}">
                <a16:creationId xmlns:a16="http://schemas.microsoft.com/office/drawing/2014/main" id="{CCBF9747-F5AB-F3FB-C71B-129A2F3A94B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21451" y="3572059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23" name="Textplatzhalter 82">
            <a:extLst>
              <a:ext uri="{FF2B5EF4-FFF2-40B4-BE49-F238E27FC236}">
                <a16:creationId xmlns:a16="http://schemas.microsoft.com/office/drawing/2014/main" id="{158942FA-3055-FB58-988A-B53D9D33A7F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21451" y="3919796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30" name="Textplatzhalter 82">
            <a:extLst>
              <a:ext uri="{FF2B5EF4-FFF2-40B4-BE49-F238E27FC236}">
                <a16:creationId xmlns:a16="http://schemas.microsoft.com/office/drawing/2014/main" id="{EE110A93-39A1-1EDC-7A3B-586BA6FFCB9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589931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24" name="Textplatzhalter 82">
            <a:extLst>
              <a:ext uri="{FF2B5EF4-FFF2-40B4-BE49-F238E27FC236}">
                <a16:creationId xmlns:a16="http://schemas.microsoft.com/office/drawing/2014/main" id="{A3CF7C4C-2D06-834B-0097-E50437FBA13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1451" y="4552982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25" name="Textplatzhalter 82">
            <a:extLst>
              <a:ext uri="{FF2B5EF4-FFF2-40B4-BE49-F238E27FC236}">
                <a16:creationId xmlns:a16="http://schemas.microsoft.com/office/drawing/2014/main" id="{278693DD-F787-733E-5D35-7AABA7DCA7C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21451" y="4900719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31" name="Textplatzhalter 82">
            <a:extLst>
              <a:ext uri="{FF2B5EF4-FFF2-40B4-BE49-F238E27FC236}">
                <a16:creationId xmlns:a16="http://schemas.microsoft.com/office/drawing/2014/main" id="{BC10C928-3B0D-BE5F-BC7B-3A798FEE7FC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589931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26" name="Textplatzhalter 82">
            <a:extLst>
              <a:ext uri="{FF2B5EF4-FFF2-40B4-BE49-F238E27FC236}">
                <a16:creationId xmlns:a16="http://schemas.microsoft.com/office/drawing/2014/main" id="{7A8A61C0-834B-A46E-EFDB-B74DF2249FC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21451" y="5533905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27" name="Textplatzhalter 82">
            <a:extLst>
              <a:ext uri="{FF2B5EF4-FFF2-40B4-BE49-F238E27FC236}">
                <a16:creationId xmlns:a16="http://schemas.microsoft.com/office/drawing/2014/main" id="{8BE5AC7C-2B17-31FD-5B69-480959E9592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21451" y="5881642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7" name="Textplatzhalter 82">
            <a:extLst>
              <a:ext uri="{FF2B5EF4-FFF2-40B4-BE49-F238E27FC236}">
                <a16:creationId xmlns:a16="http://schemas.microsoft.com/office/drawing/2014/main" id="{11923B8F-1A6C-A061-D257-A30202B3892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812495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05</a:t>
            </a:r>
            <a:endParaRPr lang="en-CA"/>
          </a:p>
        </p:txBody>
      </p:sp>
      <p:sp>
        <p:nvSpPr>
          <p:cNvPr id="9" name="Textplatzhalter 82">
            <a:extLst>
              <a:ext uri="{FF2B5EF4-FFF2-40B4-BE49-F238E27FC236}">
                <a16:creationId xmlns:a16="http://schemas.microsoft.com/office/drawing/2014/main" id="{8F61DB63-4293-941D-9868-E8DB0957586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544015" y="2591136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5</a:t>
            </a:r>
            <a:endParaRPr lang="en-CA"/>
          </a:p>
        </p:txBody>
      </p:sp>
      <p:sp>
        <p:nvSpPr>
          <p:cNvPr id="10" name="Textplatzhalter 82">
            <a:extLst>
              <a:ext uri="{FF2B5EF4-FFF2-40B4-BE49-F238E27FC236}">
                <a16:creationId xmlns:a16="http://schemas.microsoft.com/office/drawing/2014/main" id="{D21BFD28-0246-1174-12E7-0462C5E26BA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544015" y="2938873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8" name="Textplatzhalter 82">
            <a:extLst>
              <a:ext uri="{FF2B5EF4-FFF2-40B4-BE49-F238E27FC236}">
                <a16:creationId xmlns:a16="http://schemas.microsoft.com/office/drawing/2014/main" id="{53B4E863-0A53-060A-9D5D-C351DCC8C70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812495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06</a:t>
            </a:r>
            <a:endParaRPr lang="en-CA"/>
          </a:p>
        </p:txBody>
      </p:sp>
      <p:sp>
        <p:nvSpPr>
          <p:cNvPr id="11" name="Textplatzhalter 82">
            <a:extLst>
              <a:ext uri="{FF2B5EF4-FFF2-40B4-BE49-F238E27FC236}">
                <a16:creationId xmlns:a16="http://schemas.microsoft.com/office/drawing/2014/main" id="{032842A2-E475-A241-1893-1BE40833D54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544015" y="3572059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6</a:t>
            </a:r>
            <a:endParaRPr lang="en-CA"/>
          </a:p>
        </p:txBody>
      </p:sp>
      <p:sp>
        <p:nvSpPr>
          <p:cNvPr id="12" name="Textplatzhalter 82">
            <a:extLst>
              <a:ext uri="{FF2B5EF4-FFF2-40B4-BE49-F238E27FC236}">
                <a16:creationId xmlns:a16="http://schemas.microsoft.com/office/drawing/2014/main" id="{04B2A651-E850-C9F2-383C-0CAE242A0C2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544015" y="3919796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9" name="Textplatzhalter 82">
            <a:extLst>
              <a:ext uri="{FF2B5EF4-FFF2-40B4-BE49-F238E27FC236}">
                <a16:creationId xmlns:a16="http://schemas.microsoft.com/office/drawing/2014/main" id="{BA5F0E68-8370-DD0F-1DB9-FF6FD38C0E5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812495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07</a:t>
            </a:r>
            <a:endParaRPr lang="en-CA"/>
          </a:p>
        </p:txBody>
      </p:sp>
      <p:sp>
        <p:nvSpPr>
          <p:cNvPr id="13" name="Textplatzhalter 82">
            <a:extLst>
              <a:ext uri="{FF2B5EF4-FFF2-40B4-BE49-F238E27FC236}">
                <a16:creationId xmlns:a16="http://schemas.microsoft.com/office/drawing/2014/main" id="{901A478B-77C0-167C-92D6-3DD9E29D76F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544015" y="4552982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7</a:t>
            </a:r>
            <a:endParaRPr lang="en-CA"/>
          </a:p>
        </p:txBody>
      </p:sp>
      <p:sp>
        <p:nvSpPr>
          <p:cNvPr id="14" name="Textplatzhalter 82">
            <a:extLst>
              <a:ext uri="{FF2B5EF4-FFF2-40B4-BE49-F238E27FC236}">
                <a16:creationId xmlns:a16="http://schemas.microsoft.com/office/drawing/2014/main" id="{1D179949-4979-7CC1-C510-BE1B49D7D40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544015" y="4900719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33" name="Textplatzhalter 82">
            <a:extLst>
              <a:ext uri="{FF2B5EF4-FFF2-40B4-BE49-F238E27FC236}">
                <a16:creationId xmlns:a16="http://schemas.microsoft.com/office/drawing/2014/main" id="{E6375F3F-F1FE-A9CA-7486-86802442796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12495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08</a:t>
            </a:r>
            <a:endParaRPr lang="en-CA"/>
          </a:p>
        </p:txBody>
      </p:sp>
      <p:sp>
        <p:nvSpPr>
          <p:cNvPr id="15" name="Textplatzhalter 82">
            <a:extLst>
              <a:ext uri="{FF2B5EF4-FFF2-40B4-BE49-F238E27FC236}">
                <a16:creationId xmlns:a16="http://schemas.microsoft.com/office/drawing/2014/main" id="{48BD02CA-B8AE-7A96-6D52-CFFF41E5FB3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544015" y="5533905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8</a:t>
            </a:r>
            <a:endParaRPr lang="en-CA"/>
          </a:p>
        </p:txBody>
      </p:sp>
      <p:sp>
        <p:nvSpPr>
          <p:cNvPr id="16" name="Textplatzhalter 82">
            <a:extLst>
              <a:ext uri="{FF2B5EF4-FFF2-40B4-BE49-F238E27FC236}">
                <a16:creationId xmlns:a16="http://schemas.microsoft.com/office/drawing/2014/main" id="{8DB559E8-6705-CBF4-55C0-6A6486028ED0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8544015" y="5881642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2625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white_single lin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43">
            <a:extLst>
              <a:ext uri="{FF2B5EF4-FFF2-40B4-BE49-F238E27FC236}">
                <a16:creationId xmlns:a16="http://schemas.microsoft.com/office/drawing/2014/main" id="{B7BB48FE-BBB3-7678-665E-CB658723E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44B8E79-04A7-CD98-8EF6-E212565A1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207657" y="0"/>
            <a:ext cx="89843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9931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Agenda</a:t>
            </a:r>
            <a:endParaRPr lang="en-CA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713B47-FDFD-44F6-B33D-CFB4326DB920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extplatzhalter 82">
            <a:extLst>
              <a:ext uri="{FF2B5EF4-FFF2-40B4-BE49-F238E27FC236}">
                <a16:creationId xmlns:a16="http://schemas.microsoft.com/office/drawing/2014/main" id="{6C169C98-562C-BE4A-D914-3DBD651F62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589931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33" name="Textplatzhalter 82">
            <a:extLst>
              <a:ext uri="{FF2B5EF4-FFF2-40B4-BE49-F238E27FC236}">
                <a16:creationId xmlns:a16="http://schemas.microsoft.com/office/drawing/2014/main" id="{A97F140C-BFE8-963B-D19E-1EFD85B099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1451" y="266790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9" name="Textplatzhalter 82">
            <a:extLst>
              <a:ext uri="{FF2B5EF4-FFF2-40B4-BE49-F238E27FC236}">
                <a16:creationId xmlns:a16="http://schemas.microsoft.com/office/drawing/2014/main" id="{3AF97E2C-0C21-B3E3-CBCF-8BCB7DCBCF0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589931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39" name="Textplatzhalter 82">
            <a:extLst>
              <a:ext uri="{FF2B5EF4-FFF2-40B4-BE49-F238E27FC236}">
                <a16:creationId xmlns:a16="http://schemas.microsoft.com/office/drawing/2014/main" id="{205C866F-DD78-4586-9BC6-8FFF566CFA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1451" y="364002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10" name="Textplatzhalter 82">
            <a:extLst>
              <a:ext uri="{FF2B5EF4-FFF2-40B4-BE49-F238E27FC236}">
                <a16:creationId xmlns:a16="http://schemas.microsoft.com/office/drawing/2014/main" id="{C3991D1F-6706-8532-4483-4C4E11B48C9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589931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41" name="Textplatzhalter 82">
            <a:extLst>
              <a:ext uri="{FF2B5EF4-FFF2-40B4-BE49-F238E27FC236}">
                <a16:creationId xmlns:a16="http://schemas.microsoft.com/office/drawing/2014/main" id="{C4A254AA-CF8F-1BE8-1407-8542795AD69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21451" y="461214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12" name="Textplatzhalter 82">
            <a:extLst>
              <a:ext uri="{FF2B5EF4-FFF2-40B4-BE49-F238E27FC236}">
                <a16:creationId xmlns:a16="http://schemas.microsoft.com/office/drawing/2014/main" id="{76AFC6C0-5369-D2B2-49E0-BCCFE580441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589931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43" name="Textplatzhalter 82">
            <a:extLst>
              <a:ext uri="{FF2B5EF4-FFF2-40B4-BE49-F238E27FC236}">
                <a16:creationId xmlns:a16="http://schemas.microsoft.com/office/drawing/2014/main" id="{8BAD9667-9CFE-1A27-BEC6-CECC733A4B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21451" y="5584262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13" name="Textplatzhalter 82">
            <a:extLst>
              <a:ext uri="{FF2B5EF4-FFF2-40B4-BE49-F238E27FC236}">
                <a16:creationId xmlns:a16="http://schemas.microsoft.com/office/drawing/2014/main" id="{53264C9A-91D5-95C9-318C-CBFFB4D2996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812495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05</a:t>
            </a:r>
            <a:endParaRPr lang="en-CA"/>
          </a:p>
        </p:txBody>
      </p:sp>
      <p:sp>
        <p:nvSpPr>
          <p:cNvPr id="59" name="Textplatzhalter 82">
            <a:extLst>
              <a:ext uri="{FF2B5EF4-FFF2-40B4-BE49-F238E27FC236}">
                <a16:creationId xmlns:a16="http://schemas.microsoft.com/office/drawing/2014/main" id="{2DF00482-BFD1-5AA4-69CE-F92494809A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44013" y="266790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14" name="Textplatzhalter 82">
            <a:extLst>
              <a:ext uri="{FF2B5EF4-FFF2-40B4-BE49-F238E27FC236}">
                <a16:creationId xmlns:a16="http://schemas.microsoft.com/office/drawing/2014/main" id="{6E29A329-596D-CFC1-6E9D-F4157DBD627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812495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06</a:t>
            </a:r>
            <a:endParaRPr lang="en-CA"/>
          </a:p>
        </p:txBody>
      </p:sp>
      <p:sp>
        <p:nvSpPr>
          <p:cNvPr id="65" name="Textplatzhalter 82">
            <a:extLst>
              <a:ext uri="{FF2B5EF4-FFF2-40B4-BE49-F238E27FC236}">
                <a16:creationId xmlns:a16="http://schemas.microsoft.com/office/drawing/2014/main" id="{FB2B30A6-A551-2225-6488-47598A8226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544013" y="364002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15" name="Textplatzhalter 82">
            <a:extLst>
              <a:ext uri="{FF2B5EF4-FFF2-40B4-BE49-F238E27FC236}">
                <a16:creationId xmlns:a16="http://schemas.microsoft.com/office/drawing/2014/main" id="{34D4295A-2E02-F26A-B8E5-F5C8A74A985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812495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07</a:t>
            </a:r>
            <a:endParaRPr lang="en-CA"/>
          </a:p>
        </p:txBody>
      </p:sp>
      <p:sp>
        <p:nvSpPr>
          <p:cNvPr id="67" name="Textplatzhalter 82">
            <a:extLst>
              <a:ext uri="{FF2B5EF4-FFF2-40B4-BE49-F238E27FC236}">
                <a16:creationId xmlns:a16="http://schemas.microsoft.com/office/drawing/2014/main" id="{70CF5577-6A0E-ACB5-FA18-BBB0D692827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544013" y="461214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16" name="Textplatzhalter 82">
            <a:extLst>
              <a:ext uri="{FF2B5EF4-FFF2-40B4-BE49-F238E27FC236}">
                <a16:creationId xmlns:a16="http://schemas.microsoft.com/office/drawing/2014/main" id="{38AC0C47-F256-BAA5-0CF3-CF7601F68F84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12495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08</a:t>
            </a:r>
            <a:endParaRPr lang="en-CA"/>
          </a:p>
        </p:txBody>
      </p:sp>
      <p:sp>
        <p:nvSpPr>
          <p:cNvPr id="69" name="Textplatzhalter 82">
            <a:extLst>
              <a:ext uri="{FF2B5EF4-FFF2-40B4-BE49-F238E27FC236}">
                <a16:creationId xmlns:a16="http://schemas.microsoft.com/office/drawing/2014/main" id="{BCFC2250-FCD1-4E95-AFA5-42B1E071F7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44013" y="5584262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7B7157D-CC1E-049E-3121-300A4FAD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4" name="Rechteck 6">
            <a:extLst>
              <a:ext uri="{FF2B5EF4-FFF2-40B4-BE49-F238E27FC236}">
                <a16:creationId xmlns:a16="http://schemas.microsoft.com/office/drawing/2014/main" id="{84D281E3-2D83-A5AC-F035-AB31EF1F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0" y="0"/>
            <a:ext cx="320765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grpSp>
        <p:nvGrpSpPr>
          <p:cNvPr id="46" name="Gruppieren 14">
            <a:extLst>
              <a:ext uri="{FF2B5EF4-FFF2-40B4-BE49-F238E27FC236}">
                <a16:creationId xmlns:a16="http://schemas.microsoft.com/office/drawing/2014/main" id="{7A5B37BE-600D-3858-D0E2-A4203BCF9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7DB3670A-33D2-894A-4B00-D950267C9F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Rectangle 8">
              <a:extLst>
                <a:ext uri="{FF2B5EF4-FFF2-40B4-BE49-F238E27FC236}">
                  <a16:creationId xmlns:a16="http://schemas.microsoft.com/office/drawing/2014/main" id="{7865F3BA-0941-D8BC-2A7B-21214ACF110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Rectangle 9">
              <a:extLst>
                <a:ext uri="{FF2B5EF4-FFF2-40B4-BE49-F238E27FC236}">
                  <a16:creationId xmlns:a16="http://schemas.microsoft.com/office/drawing/2014/main" id="{F523ACFC-8CFC-25B5-37FF-2A969606C24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BE0B506B-4FF4-7B54-DBD7-53CDE15739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48EAF0F2-E5D5-AADA-E277-CD4C508492C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734144E7-7CCD-4721-ABA3-6BD158F3A9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E4F8A630-AF88-BA09-E472-D1B1A642DF5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4BD79CE0-7F1C-1049-8CF0-C93FF255D45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4F256713-518F-1111-4567-1EBEB3F671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80A26254-8B70-96E9-4EDE-A123C852B6B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DC0BE9A8-330E-11E2-7A03-2EE9D76883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3A619DF-556C-E520-9EBC-BEA5CD9C10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1" name="Freeform 19">
              <a:extLst>
                <a:ext uri="{FF2B5EF4-FFF2-40B4-BE49-F238E27FC236}">
                  <a16:creationId xmlns:a16="http://schemas.microsoft.com/office/drawing/2014/main" id="{04A6238B-53EF-20F4-6F92-A4AD1C1F478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2" name="Freeform 20">
              <a:extLst>
                <a:ext uri="{FF2B5EF4-FFF2-40B4-BE49-F238E27FC236}">
                  <a16:creationId xmlns:a16="http://schemas.microsoft.com/office/drawing/2014/main" id="{0AE07604-C9A3-8D85-5510-310FF2B60B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00CAAC1A-E736-44C3-159D-7028B1293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4" name="Freeform 22">
              <a:extLst>
                <a:ext uri="{FF2B5EF4-FFF2-40B4-BE49-F238E27FC236}">
                  <a16:creationId xmlns:a16="http://schemas.microsoft.com/office/drawing/2014/main" id="{A0412C8B-DCD2-9615-D934-1C209C37762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5" name="Freeform 23">
              <a:extLst>
                <a:ext uri="{FF2B5EF4-FFF2-40B4-BE49-F238E27FC236}">
                  <a16:creationId xmlns:a16="http://schemas.microsoft.com/office/drawing/2014/main" id="{27077822-9118-0B56-348F-69C4FD9258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6" name="Freeform 24">
              <a:extLst>
                <a:ext uri="{FF2B5EF4-FFF2-40B4-BE49-F238E27FC236}">
                  <a16:creationId xmlns:a16="http://schemas.microsoft.com/office/drawing/2014/main" id="{B3B46281-6925-9B09-7ADC-29BB65CE32C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7" name="Freeform 25">
              <a:extLst>
                <a:ext uri="{FF2B5EF4-FFF2-40B4-BE49-F238E27FC236}">
                  <a16:creationId xmlns:a16="http://schemas.microsoft.com/office/drawing/2014/main" id="{402FB823-A8B7-CFC4-A2B5-DF9D0DD0B5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8" name="Freeform 26">
              <a:extLst>
                <a:ext uri="{FF2B5EF4-FFF2-40B4-BE49-F238E27FC236}">
                  <a16:creationId xmlns:a16="http://schemas.microsoft.com/office/drawing/2014/main" id="{E9C9D7F8-1DD6-BCA4-F839-DB3CCABF39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9" name="Freeform 27">
              <a:extLst>
                <a:ext uri="{FF2B5EF4-FFF2-40B4-BE49-F238E27FC236}">
                  <a16:creationId xmlns:a16="http://schemas.microsoft.com/office/drawing/2014/main" id="{DF5D362F-28BC-D5AD-3803-2582A001A0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0" name="Freeform 28">
              <a:extLst>
                <a:ext uri="{FF2B5EF4-FFF2-40B4-BE49-F238E27FC236}">
                  <a16:creationId xmlns:a16="http://schemas.microsoft.com/office/drawing/2014/main" id="{B0196EBB-AF4D-3A2B-C92D-D305FFC2DD4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1" name="Freeform 29">
              <a:extLst>
                <a:ext uri="{FF2B5EF4-FFF2-40B4-BE49-F238E27FC236}">
                  <a16:creationId xmlns:a16="http://schemas.microsoft.com/office/drawing/2014/main" id="{69CD51E5-7846-0702-F251-E73A1662C2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375198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_2 lines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hteck 56">
            <a:extLst>
              <a:ext uri="{FF2B5EF4-FFF2-40B4-BE49-F238E27FC236}">
                <a16:creationId xmlns:a16="http://schemas.microsoft.com/office/drawing/2014/main" id="{9DAC3153-1126-FD5E-A137-BD36F495A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226954-6933-4634-9F99-3CCD2EC48874}" type="datetime1">
              <a:rPr lang="de-DE" smtClean="0"/>
              <a:t>19.10.26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1" name="Textplatzhalter 82">
            <a:extLst>
              <a:ext uri="{FF2B5EF4-FFF2-40B4-BE49-F238E27FC236}">
                <a16:creationId xmlns:a16="http://schemas.microsoft.com/office/drawing/2014/main" id="{BE53B255-9784-6976-A89D-292B3101F4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55820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83" name="Textplatzhalter 82">
            <a:extLst>
              <a:ext uri="{FF2B5EF4-FFF2-40B4-BE49-F238E27FC236}">
                <a16:creationId xmlns:a16="http://schemas.microsoft.com/office/drawing/2014/main" id="{C9B30888-BB4F-08DD-5BD9-E0F0321083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340" y="2591136"/>
            <a:ext cx="6401434" cy="276999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6" name="Textplatzhalter 82">
            <a:extLst>
              <a:ext uri="{FF2B5EF4-FFF2-40B4-BE49-F238E27FC236}">
                <a16:creationId xmlns:a16="http://schemas.microsoft.com/office/drawing/2014/main" id="{EF8223E1-9936-304C-4CB9-D510DBC0C0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87340" y="2938873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52" name="Textplatzhalter 82">
            <a:extLst>
              <a:ext uri="{FF2B5EF4-FFF2-40B4-BE49-F238E27FC236}">
                <a16:creationId xmlns:a16="http://schemas.microsoft.com/office/drawing/2014/main" id="{8877AF34-7067-7170-8749-70201B6973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5820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39" name="Textplatzhalter 82">
            <a:extLst>
              <a:ext uri="{FF2B5EF4-FFF2-40B4-BE49-F238E27FC236}">
                <a16:creationId xmlns:a16="http://schemas.microsoft.com/office/drawing/2014/main" id="{50D8EC94-3F63-4CD2-C31D-45A30FC7CC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87340" y="3572059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41" name="Textplatzhalter 82">
            <a:extLst>
              <a:ext uri="{FF2B5EF4-FFF2-40B4-BE49-F238E27FC236}">
                <a16:creationId xmlns:a16="http://schemas.microsoft.com/office/drawing/2014/main" id="{E45A2D58-EC62-9FE5-9CB3-3577802B84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7340" y="3919796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25DCB38-902E-EE78-B52B-9EEC1591F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685F7EC6-761E-9091-5226-75E891B9A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8C40418-470C-695E-CE28-8EAA1AFD1D3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BD8EE377-874F-40FB-50FC-3A3C6BE1CDE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8E699557-D411-E4F4-82DB-99B13F9C59E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5A714ACC-7294-0D6B-83CE-DF8472C6C3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E817C57-FEF3-A4FF-DA61-1C75606ECE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6D5471A-00FD-CF0A-D257-EE6B53ACDCE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FB02AB8C-3C4C-777A-9769-5C0E0446D6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1B81C870-15D4-3DB4-D2BE-E20BE69533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F244D6F1-908D-D906-BB01-6BCF9F29709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0A683624-B8F9-E5CB-93ED-AE8586C6603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D549863-3DC0-D4EE-419C-53106CDFD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6DBD3012-A05F-0B4F-EAF4-83054B080F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9E16190B-7A20-A31E-1459-565E612533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046C572D-2763-176C-92C4-9E9D4D9AE2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E9FCA2DE-1CA7-ECC2-6728-1B2B39BEEE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58F38A2F-CA94-C6E4-6FFD-7548335D1CC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825808C-7ADC-9B84-FC30-C072FCF923D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0CB8E670-F1FB-F481-EDF5-A10B2F9A3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037692C-43F0-595A-E122-E15E280D58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2DF48E09-42C3-3658-28A3-EE53029E38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E36F4521-8D3C-B0EB-7797-B1B0E713DC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1CB68D60-3CBD-E200-0D62-B62A6F9F2D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D3317844-324A-126B-15DD-68289FC98B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3" name="Textplatzhalter 82">
            <a:extLst>
              <a:ext uri="{FF2B5EF4-FFF2-40B4-BE49-F238E27FC236}">
                <a16:creationId xmlns:a16="http://schemas.microsoft.com/office/drawing/2014/main" id="{2CCEEAD5-2398-3A79-4A0C-A6C51604E8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5820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43" name="Textplatzhalter 82">
            <a:extLst>
              <a:ext uri="{FF2B5EF4-FFF2-40B4-BE49-F238E27FC236}">
                <a16:creationId xmlns:a16="http://schemas.microsoft.com/office/drawing/2014/main" id="{862E9F33-1FD5-E8E9-D9D2-89A8480FEF7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87340" y="4552982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45" name="Textplatzhalter 82">
            <a:extLst>
              <a:ext uri="{FF2B5EF4-FFF2-40B4-BE49-F238E27FC236}">
                <a16:creationId xmlns:a16="http://schemas.microsoft.com/office/drawing/2014/main" id="{47206873-1CB3-D5C6-C11D-EFD6FFE1607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87340" y="4900719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54" name="Textplatzhalter 82">
            <a:extLst>
              <a:ext uri="{FF2B5EF4-FFF2-40B4-BE49-F238E27FC236}">
                <a16:creationId xmlns:a16="http://schemas.microsoft.com/office/drawing/2014/main" id="{36E3DDE5-5444-9D85-7089-BE4CF0E6ED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5820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47" name="Textplatzhalter 82">
            <a:extLst>
              <a:ext uri="{FF2B5EF4-FFF2-40B4-BE49-F238E27FC236}">
                <a16:creationId xmlns:a16="http://schemas.microsoft.com/office/drawing/2014/main" id="{7BB4B8B0-3E4E-5B80-90D0-7555BC6C8E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87340" y="5533905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49" name="Textplatzhalter 82">
            <a:extLst>
              <a:ext uri="{FF2B5EF4-FFF2-40B4-BE49-F238E27FC236}">
                <a16:creationId xmlns:a16="http://schemas.microsoft.com/office/drawing/2014/main" id="{DD04D40F-8CFD-8FED-C714-CBBCEB94D8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87340" y="5881642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9766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_single lin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hteck 56">
            <a:extLst>
              <a:ext uri="{FF2B5EF4-FFF2-40B4-BE49-F238E27FC236}">
                <a16:creationId xmlns:a16="http://schemas.microsoft.com/office/drawing/2014/main" id="{9DAC3153-1126-FD5E-A137-BD36F495A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86" name="Textplatzhalter 82">
            <a:extLst>
              <a:ext uri="{FF2B5EF4-FFF2-40B4-BE49-F238E27FC236}">
                <a16:creationId xmlns:a16="http://schemas.microsoft.com/office/drawing/2014/main" id="{787E3241-82A8-6151-6002-00B9C4A3F6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55820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83" name="Textplatzhalter 82">
            <a:extLst>
              <a:ext uri="{FF2B5EF4-FFF2-40B4-BE49-F238E27FC236}">
                <a16:creationId xmlns:a16="http://schemas.microsoft.com/office/drawing/2014/main" id="{C9B30888-BB4F-08DD-5BD9-E0F0321083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340" y="2661076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226954-6933-4634-9F99-3CCD2EC48874}" type="datetime1">
              <a:rPr lang="de-DE" smtClean="0"/>
              <a:t>19.10.26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4" name="Textplatzhalter 82">
            <a:extLst>
              <a:ext uri="{FF2B5EF4-FFF2-40B4-BE49-F238E27FC236}">
                <a16:creationId xmlns:a16="http://schemas.microsoft.com/office/drawing/2014/main" id="{ECA94DBB-538B-92B7-7A4D-C9C002F7CC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5820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17" name="Textplatzhalter 82">
            <a:extLst>
              <a:ext uri="{FF2B5EF4-FFF2-40B4-BE49-F238E27FC236}">
                <a16:creationId xmlns:a16="http://schemas.microsoft.com/office/drawing/2014/main" id="{B73FC471-5010-6E94-CBD7-6FCCFC202C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87340" y="3633805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96" name="Textplatzhalter 82">
            <a:extLst>
              <a:ext uri="{FF2B5EF4-FFF2-40B4-BE49-F238E27FC236}">
                <a16:creationId xmlns:a16="http://schemas.microsoft.com/office/drawing/2014/main" id="{42176A46-DB68-B860-E47A-6E4818597B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5820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19" name="Textplatzhalter 82">
            <a:extLst>
              <a:ext uri="{FF2B5EF4-FFF2-40B4-BE49-F238E27FC236}">
                <a16:creationId xmlns:a16="http://schemas.microsoft.com/office/drawing/2014/main" id="{8516744C-7034-D554-D31D-33427B6FF1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7340" y="4606534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98" name="Textplatzhalter 82">
            <a:extLst>
              <a:ext uri="{FF2B5EF4-FFF2-40B4-BE49-F238E27FC236}">
                <a16:creationId xmlns:a16="http://schemas.microsoft.com/office/drawing/2014/main" id="{3B1610DE-D48A-69B9-B63E-783B685A78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5820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21" name="Textplatzhalter 82">
            <a:extLst>
              <a:ext uri="{FF2B5EF4-FFF2-40B4-BE49-F238E27FC236}">
                <a16:creationId xmlns:a16="http://schemas.microsoft.com/office/drawing/2014/main" id="{C8AE1010-44C7-DC2B-A0A8-92C461FAC6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87340" y="5579263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25DCB38-902E-EE78-B52B-9EEC1591F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685F7EC6-761E-9091-5226-75E891B9A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8C40418-470C-695E-CE28-8EAA1AFD1D3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BD8EE377-874F-40FB-50FC-3A3C6BE1CDE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8E699557-D411-E4F4-82DB-99B13F9C59E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5A714ACC-7294-0D6B-83CE-DF8472C6C3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E817C57-FEF3-A4FF-DA61-1C75606ECE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6D5471A-00FD-CF0A-D257-EE6B53ACDCE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FB02AB8C-3C4C-777A-9769-5C0E0446D6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1B81C870-15D4-3DB4-D2BE-E20BE69533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F244D6F1-908D-D906-BB01-6BCF9F29709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0A683624-B8F9-E5CB-93ED-AE8586C6603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D549863-3DC0-D4EE-419C-53106CDFD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6DBD3012-A05F-0B4F-EAF4-83054B080F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9E16190B-7A20-A31E-1459-565E612533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046C572D-2763-176C-92C4-9E9D4D9AE2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E9FCA2DE-1CA7-ECC2-6728-1B2B39BEEE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58F38A2F-CA94-C6E4-6FFD-7548335D1CC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825808C-7ADC-9B84-FC30-C072FCF923D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0CB8E670-F1FB-F481-EDF5-A10B2F9A3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037692C-43F0-595A-E122-E15E280D58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2DF48E09-42C3-3658-28A3-EE53029E38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E36F4521-8D3C-B0EB-7797-B1B0E713DC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1CB68D60-3CBD-E200-0D62-B62A6F9F2D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D3317844-324A-126B-15DD-68289FC98B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116374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&amp; imag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ildplatzhalter 39">
            <a:extLst>
              <a:ext uri="{FF2B5EF4-FFF2-40B4-BE49-F238E27FC236}">
                <a16:creationId xmlns:a16="http://schemas.microsoft.com/office/drawing/2014/main" id="{9BDF8D81-914C-696F-172A-8DF5F0EB26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267200" cy="6858000"/>
          </a:xfr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5820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E2C01-1C5C-08E3-B4AE-9045ECD03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5819" y="3004537"/>
            <a:ext cx="7128193" cy="738664"/>
          </a:xfrm>
        </p:spPr>
        <p:txBody>
          <a:bodyPr vert="horz" anchor="ctr"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681C405-DE08-DE98-A6D6-0EBBDF4F9C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6138" y="4218995"/>
            <a:ext cx="7127875" cy="276999"/>
          </a:xfr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35CBF7A-EE0B-4631-A87E-2CBB37A3E089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A948BC8-97AB-CC70-6689-96432FD79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7" y="6597650"/>
            <a:ext cx="3306762" cy="15388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© </a:t>
            </a:r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MHP Management- und IT-Beratung GmbH</a:t>
            </a:r>
            <a:r>
              <a:rPr lang="de-DE"/>
              <a:t> 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7068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&amp; imag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ildplatzhalter 39">
            <a:extLst>
              <a:ext uri="{FF2B5EF4-FFF2-40B4-BE49-F238E27FC236}">
                <a16:creationId xmlns:a16="http://schemas.microsoft.com/office/drawing/2014/main" id="{9BDF8D81-914C-696F-172A-8DF5F0EB26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267200" cy="6858000"/>
          </a:xfr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5820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E2C01-1C5C-08E3-B4AE-9045ECD03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5819" y="3004537"/>
            <a:ext cx="7128193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33" name="Textplatzhalter 7">
            <a:extLst>
              <a:ext uri="{FF2B5EF4-FFF2-40B4-BE49-F238E27FC236}">
                <a16:creationId xmlns:a16="http://schemas.microsoft.com/office/drawing/2014/main" id="{64398793-9CCF-65BC-B647-7335467C8F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6138" y="4218995"/>
            <a:ext cx="7127875" cy="276999"/>
          </a:xfr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5CBF7A-EE0B-4631-A87E-2CBB37A3E089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A948BC8-97AB-CC70-6689-96432FD79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7" y="6597650"/>
            <a:ext cx="3306762" cy="15388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© </a:t>
            </a:r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MHP Management- und IT-Beratung GmbH</a:t>
            </a:r>
            <a:r>
              <a:rPr lang="de-DE"/>
              <a:t> </a:t>
            </a:r>
            <a:endParaRPr lang="en-CA"/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E2A26C6C-2BE8-B8B7-0271-3C89E7129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66BA37E6-2596-F15F-3BB1-1DDBDD8E10C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649C6C5C-4558-B7A1-EA08-D3B77F14F1B8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A53579CB-02DB-406E-098D-7FAFFD6265E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2552C423-CA58-8260-D3DA-3CDCA798A2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06563947-0226-8A0D-FEAB-53A1F6FA12B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B88821C5-14AA-6E34-3676-E11DEE3EB5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867619AC-8F5F-D82B-AFBC-14150E95AD3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001FB593-0F6F-F3F5-06D3-63DED8DEC8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CAE545EF-5664-2085-AC8E-B3C2014DBB5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E115F5F1-6AC6-DB28-A6B0-94FFEFEEFE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232D2354-B8FB-D56C-EFD1-B5B6B8C6E1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1EBD56AD-850C-862C-F3B2-2B234AD115A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F85F3CC6-0427-D3B4-5080-81474122E79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9FC3DA80-13EA-5294-1DFD-656096D9612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EB5586A6-FE3F-340F-8D97-34808CBEB0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74E24BA-802A-C75A-E05B-5F8DF21FE97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C1873FAC-D6C3-E03D-B6D7-FA2256DEFE1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593F78A4-C7B9-3AF9-F9B4-C64FF40F86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73CA9998-E622-2888-D878-7E7E12A87C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F1687C6F-D24D-D5EF-AF1B-AADD7B707E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CF8C353F-8045-3DA0-34E1-ED91689B44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8452796D-492E-A581-B284-75D40C92595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BD6B8539-489D-A866-CC83-0C59B63A53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899062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arrow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824A1AC-1D2D-B704-8766-CAFAC24AFE72}"/>
              </a:ext>
            </a:extLst>
          </p:cNvPr>
          <p:cNvGrpSpPr>
            <a:grpSpLocks/>
          </p:cNvGrpSpPr>
          <p:nvPr userDrawn="1"/>
        </p:nvGrpSpPr>
        <p:grpSpPr>
          <a:xfrm>
            <a:off x="302079" y="0"/>
            <a:ext cx="11587842" cy="6854780"/>
            <a:chOff x="2376487" y="1228725"/>
            <a:chExt cx="7439025" cy="4400550"/>
          </a:xfrm>
        </p:grpSpPr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1A6D7CF4-E51F-14F3-72A7-79FB2B863B35}"/>
                </a:ext>
              </a:extLst>
            </p:cNvPr>
            <p:cNvSpPr/>
            <p:nvPr/>
          </p:nvSpPr>
          <p:spPr>
            <a:xfrm>
              <a:off x="23764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A063EB6B-D50A-23BA-AAA3-6061AEF15940}"/>
                </a:ext>
              </a:extLst>
            </p:cNvPr>
            <p:cNvSpPr/>
            <p:nvPr/>
          </p:nvSpPr>
          <p:spPr>
            <a:xfrm>
              <a:off x="48148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0450DAD6-2626-0227-E840-EC186EFE644B}"/>
                </a:ext>
              </a:extLst>
            </p:cNvPr>
            <p:cNvSpPr/>
            <p:nvPr/>
          </p:nvSpPr>
          <p:spPr>
            <a:xfrm>
              <a:off x="72532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56" name="Titel 1">
            <a:extLst>
              <a:ext uri="{FF2B5EF4-FFF2-40B4-BE49-F238E27FC236}">
                <a16:creationId xmlns:a16="http://schemas.microsoft.com/office/drawing/2014/main" id="{BB5090ED-C01C-CFF0-F53C-C02277DEC9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004537"/>
            <a:ext cx="7740650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57" name="Textplatzhalter 7">
            <a:extLst>
              <a:ext uri="{FF2B5EF4-FFF2-40B4-BE49-F238E27FC236}">
                <a16:creationId xmlns:a16="http://schemas.microsoft.com/office/drawing/2014/main" id="{3B2E38A7-4B3C-A9D5-5118-B774492640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218995"/>
            <a:ext cx="77406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DB484A-FFE6-4ECB-9792-B0EDF5BB6553}" type="datetime1">
              <a:rPr lang="de-DE" smtClean="0"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340403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image">
    <p:bg>
      <p:bgPr>
        <a:gradFill>
          <a:gsLst>
            <a:gs pos="0">
              <a:schemeClr val="accent1"/>
            </a:gs>
            <a:gs pos="100000">
              <a:srgbClr val="3264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C8D19AB6-4E30-E846-4ADA-73417F541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E2C01-1C5C-08E3-B4AE-9045ECD03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004537"/>
            <a:ext cx="7740650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2F2C78A-F17F-D69F-DE65-3AAA5B985B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218995"/>
            <a:ext cx="77406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DB484A-FFE6-4ECB-9792-B0EDF5BB6553}" type="datetime1">
              <a:rPr lang="de-DE" smtClean="0"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87595425-72BB-6467-CBAA-0E4D5B4F9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FF41A7C1-B4E6-E293-F6E1-B7039722361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390EC050-BC38-98A8-F380-7DA1762F56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47571E74-E8F0-142E-79C0-B3894C3D86F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49526A01-918F-C967-AE05-063633B3F3E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249F4816-53B1-9D3E-5B54-DD8AFF1F5E2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5C94EA22-F7CA-03B2-78C5-C1D0E395EB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3">
              <a:extLst>
                <a:ext uri="{FF2B5EF4-FFF2-40B4-BE49-F238E27FC236}">
                  <a16:creationId xmlns:a16="http://schemas.microsoft.com/office/drawing/2014/main" id="{4945CF0D-0E6B-FD99-79A2-E5F9E764C8A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4">
              <a:extLst>
                <a:ext uri="{FF2B5EF4-FFF2-40B4-BE49-F238E27FC236}">
                  <a16:creationId xmlns:a16="http://schemas.microsoft.com/office/drawing/2014/main" id="{EA40B853-111B-016E-D2BC-2D74504603F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5">
              <a:extLst>
                <a:ext uri="{FF2B5EF4-FFF2-40B4-BE49-F238E27FC236}">
                  <a16:creationId xmlns:a16="http://schemas.microsoft.com/office/drawing/2014/main" id="{50F8BC85-9386-4C98-F25D-0C81B96E186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1C72DFA5-34E2-04C4-8A68-008663B1B2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7">
              <a:extLst>
                <a:ext uri="{FF2B5EF4-FFF2-40B4-BE49-F238E27FC236}">
                  <a16:creationId xmlns:a16="http://schemas.microsoft.com/office/drawing/2014/main" id="{6F640F1E-02AE-CA05-7A59-D1BD5CA2049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8">
              <a:extLst>
                <a:ext uri="{FF2B5EF4-FFF2-40B4-BE49-F238E27FC236}">
                  <a16:creationId xmlns:a16="http://schemas.microsoft.com/office/drawing/2014/main" id="{27E57EE8-C21D-8233-3717-E313B2BBE3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9">
              <a:extLst>
                <a:ext uri="{FF2B5EF4-FFF2-40B4-BE49-F238E27FC236}">
                  <a16:creationId xmlns:a16="http://schemas.microsoft.com/office/drawing/2014/main" id="{C3248C9F-E3F5-4749-12E6-1D3980B98C3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0">
              <a:extLst>
                <a:ext uri="{FF2B5EF4-FFF2-40B4-BE49-F238E27FC236}">
                  <a16:creationId xmlns:a16="http://schemas.microsoft.com/office/drawing/2014/main" id="{5B3B8D41-491A-4742-43E8-127761AF0A9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4671FA6B-FCEA-917D-E1F8-657E61BAC6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2">
              <a:extLst>
                <a:ext uri="{FF2B5EF4-FFF2-40B4-BE49-F238E27FC236}">
                  <a16:creationId xmlns:a16="http://schemas.microsoft.com/office/drawing/2014/main" id="{9B1A39B2-893D-8EA2-B210-924E8F9F719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3">
              <a:extLst>
                <a:ext uri="{FF2B5EF4-FFF2-40B4-BE49-F238E27FC236}">
                  <a16:creationId xmlns:a16="http://schemas.microsoft.com/office/drawing/2014/main" id="{9EC34EC2-AC10-279B-5B2A-540F78C3F75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4">
              <a:extLst>
                <a:ext uri="{FF2B5EF4-FFF2-40B4-BE49-F238E27FC236}">
                  <a16:creationId xmlns:a16="http://schemas.microsoft.com/office/drawing/2014/main" id="{E6773A52-56F3-308C-DB75-2117F33358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5">
              <a:extLst>
                <a:ext uri="{FF2B5EF4-FFF2-40B4-BE49-F238E27FC236}">
                  <a16:creationId xmlns:a16="http://schemas.microsoft.com/office/drawing/2014/main" id="{9B20E507-D2CD-4B85-5373-51304547A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6">
              <a:extLst>
                <a:ext uri="{FF2B5EF4-FFF2-40B4-BE49-F238E27FC236}">
                  <a16:creationId xmlns:a16="http://schemas.microsoft.com/office/drawing/2014/main" id="{6592A82F-A22F-1610-BDB9-FBB435A721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7">
              <a:extLst>
                <a:ext uri="{FF2B5EF4-FFF2-40B4-BE49-F238E27FC236}">
                  <a16:creationId xmlns:a16="http://schemas.microsoft.com/office/drawing/2014/main" id="{E162A311-62A8-F041-C959-48C3298CE1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8">
              <a:extLst>
                <a:ext uri="{FF2B5EF4-FFF2-40B4-BE49-F238E27FC236}">
                  <a16:creationId xmlns:a16="http://schemas.microsoft.com/office/drawing/2014/main" id="{12F1658C-9E86-1872-CE7E-0C729E7D02C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9">
              <a:extLst>
                <a:ext uri="{FF2B5EF4-FFF2-40B4-BE49-F238E27FC236}">
                  <a16:creationId xmlns:a16="http://schemas.microsoft.com/office/drawing/2014/main" id="{413830A0-E8F4-0717-089F-8AF0490329F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746510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F064-BD39-4FE4-B9A2-7344DA85858F}" type="datetime1">
              <a:rPr lang="de-DE" smtClean="0"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2450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Content blue">
    <p:bg bwMode="auto"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07F064-BD39-4FE4-B9A2-7344DA85858F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33D7364D-EF57-DDDB-03C6-B961279C7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0" name="Gruppieren 14">
            <a:extLst>
              <a:ext uri="{FF2B5EF4-FFF2-40B4-BE49-F238E27FC236}">
                <a16:creationId xmlns:a16="http://schemas.microsoft.com/office/drawing/2014/main" id="{C09E1D46-46A5-3D54-C019-1C63E6C66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2FA0E3D7-083C-5A86-E1D4-A3CC49886A4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8">
              <a:extLst>
                <a:ext uri="{FF2B5EF4-FFF2-40B4-BE49-F238E27FC236}">
                  <a16:creationId xmlns:a16="http://schemas.microsoft.com/office/drawing/2014/main" id="{88421A0A-3E02-6EE0-0E74-C55C717D0F8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Rectangle 9">
              <a:extLst>
                <a:ext uri="{FF2B5EF4-FFF2-40B4-BE49-F238E27FC236}">
                  <a16:creationId xmlns:a16="http://schemas.microsoft.com/office/drawing/2014/main" id="{5D8BFC8E-2D61-ADAE-B788-75B469936DF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726D2CDF-E5F1-ACDA-EBD5-D00B741B98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2B0E86E7-CA94-596F-01BF-9D769FB33EF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59A5C195-1D50-165E-5C4D-F0B7018BDA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E3DA5DCA-40B0-0578-A7C0-F3F58106F68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B5CDFBB6-0167-AA88-8BE3-13CED893409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0C4A6E9B-74DB-E305-2605-D6E95DA617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CBF6EBE3-5056-A4E4-5E03-527D3498C9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DBB6060D-2010-CEB7-F15B-3AB2A6079DE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96BB1169-D283-9375-2569-63CC93DFE7B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4D80081A-4145-B59C-BA42-D24924FDBD5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0254C092-9AFD-83AB-CE41-0F53E02F5A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434E1F29-1E11-6A88-CEC5-4C5E914EA50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051E2526-4EF8-1999-B7F1-FBE64E412C9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931F73B9-BB0B-08FC-1071-86DBE89528D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BA9E7FAE-F16C-28CE-2F24-AEAC209DAF5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0F6A27B1-C7CF-9384-C6E9-C4C639E11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C2F1F720-F4B8-46F4-7C53-01BC9D5C77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2063B4AC-7FEB-1C83-9823-A8B310194E7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89CE564A-9B5F-9D40-6E23-7AF9A722AD1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01D54C5F-7A46-C805-282D-DFE07D8A3E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672909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9479C4F-FDCA-30FF-709F-81A00CD7238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83563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87" y="1484312"/>
            <a:ext cx="7488238" cy="4897438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1999-4726-4600-8B88-4A7F5C00CB35}" type="datetime1">
              <a:rPr lang="de-DE" smtClean="0"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0794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image righ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87" y="1484312"/>
            <a:ext cx="7488238" cy="4897438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2C0C633A-6EA5-DF36-9AE4-EA89978EDF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83563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D844E581-8234-D94E-9F93-04E4CDDFA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1E9B220-D7B8-FBBA-02F6-FDB0D7BBC4E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95AB0A1C-9628-7E43-A11A-89D7DDE07585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1F278A97-E83F-B840-CB43-5BDE07285B1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F2779BD5-2117-6D4E-94D2-EFCA970C362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79F8543C-7777-9CE2-3CCA-9CE476E4F7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13ACF91D-0022-393C-9E23-D4AE78AE395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4334FDFC-4F3D-8BFB-284F-7C0A4585734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83D8E13A-1372-B620-6DC9-D345BF1395A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581DBF55-3F76-0F5D-8069-ADDB8F9F7BF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DE9FAA88-967B-3AD6-D32D-B9308E9AF9D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0A32DBEB-6048-F95C-7B47-54213791FB4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AEB26AC3-78E7-DF40-4B34-58409D24F2D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177172D7-60F9-5D62-4771-5D606FF7A19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5A0B2F9-52DE-3655-96B6-9D7B22E559D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C027D7F8-708C-9A9A-1DEC-8EB36C0522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C4A7AE66-891D-7CCB-2E8C-AC0DA3682FA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E86A748D-A07F-9320-0559-09C2252BDCA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93062AD5-1708-C2A9-1B18-45E877EECF3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57D71934-A725-1ECC-F245-AE423CC23F9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F6B0E021-D000-1236-A575-A760B9B32C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0E690994-13B0-3077-B0D1-C90640DC2C3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C7FCDEE5-C799-86E6-2F4C-DCE74526AA4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F5F09C05-A3B1-4C26-E95D-15AC7D783B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570187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lef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9479C4F-FDCA-30FF-709F-81A00CD7238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91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5771" y="1484312"/>
            <a:ext cx="7488238" cy="4897438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1999-4726-4600-8B88-4A7F5C00CB35}" type="datetime1">
              <a:rPr lang="de-DE" smtClean="0"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4285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image left blue">
    <p:bg>
      <p:bgPr>
        <a:gradFill>
          <a:gsLst>
            <a:gs pos="0">
              <a:schemeClr val="accent1"/>
            </a:gs>
            <a:gs pos="100000">
              <a:srgbClr val="3264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2C0C633A-6EA5-DF36-9AE4-EA89978EDF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2758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5775" y="1484312"/>
            <a:ext cx="7488238" cy="4897438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91B323F1-4715-CFC3-807E-239EE926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2D97ED-F73E-1186-9798-C3CF27D7A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E6F5F1F3-EE93-DDAA-CBBA-6269AE7D82D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0D26AEB2-3A52-AA11-5E7F-74B5C33CA63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D48FF9E-F4D7-10DB-E523-5306B72CC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5DB7D4C-B37F-5DDB-541C-A999CB8A37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19C98EF-E86D-4796-0EC8-51FAFAB749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17DDF5D-C814-6DF2-D434-3FAFA595382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5F7A2C3A-68AA-62B4-7238-597768583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C81D452-0084-23ED-8650-369F1F68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F101A09B-BEF2-8225-C637-5A41059E161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99DA4316-8E12-8903-2B1F-4451D777E5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EBE6D0E7-C69D-C3CF-D0C7-BAB2BECC23C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90AC8359-138F-956E-7FA2-B6C7B8A7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317DFFE-CAB6-D753-96E5-119BA656B3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96BBCB4E-5B7C-A313-5835-F441F43B77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F3EA0D5-01ED-7015-6A74-728EBDEACA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64BB21C-9235-2148-BD14-551485E50C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260BEC4F-F089-FF3D-88A7-EF5FE0FA8F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7464F79-E667-E917-0ADF-73287F4940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E3E7007D-70DC-23F0-CE9F-93CD9E17A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33995CED-F315-0E08-4DC8-4EF412A1D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F7DA2BD-3335-61F5-B63F-3B7240CF25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0DC7AC69-5AA5-DE03-8BBA-729AF85BB7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7557627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07987" y="1484314"/>
            <a:ext cx="5543547" cy="4897436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BE8AC1E-D077-8096-E2FE-BF266A43AF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0463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2898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image righ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07987" y="1484314"/>
            <a:ext cx="5543551" cy="4897436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02F5428E-2F1A-8EB2-DA5B-8AFEAE2D96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0463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9C993E6-920F-E52C-98EC-CB30E5FDD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3A99825E-7B6A-E0FD-2901-88FF3E638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95E7989-B8C9-8878-4FAA-ED720035DA4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FD298B1C-A085-7174-B5E3-9D42111FD3E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B87B0C27-82AA-5941-9BE5-0B771C65D3F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BBD12B44-732C-73DA-2BFD-644B5D8D9D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8DED87BF-964E-352D-8C8A-B8B04B1396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6CEA28DC-EC43-BB8A-1C9F-D1A1A2DCD45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DD9C1921-D721-920C-6F61-8774A285A2A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C38FEF6D-8648-5A42-ECD9-CED574B6B8E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C45DE98A-55DE-8680-C428-971A58F739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C761EBE5-3D53-FBE3-F57B-58342E93D21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FEEFA2AB-6AD6-4B7E-8886-8A029B2862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C92ABC53-E825-EC78-AD45-91A339AE37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A83C0B1D-C043-014C-E3E6-DEA1A4F938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C0D170F1-417D-4BCE-EDBD-EA90DCEE094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CDBC70D8-700C-EA9F-BC57-948F06A3F95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11E1FE9D-9352-7299-E61E-67061F0CC1A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59EDD030-9510-39DB-2CA0-FF2121BBFE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CD22982E-9E8A-F39F-D743-2236EE9A533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F05673D-CF4F-CDFE-4BB4-294DA2ECB16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2233C9E5-6CC8-63D4-B576-81CCFC0498F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8FD80DE1-6CC0-665C-3677-2AD96C61B18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5B8A2B13-D1E7-A8F7-3173-2A2872C9A4F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C3AA5AC8-C3DB-6F7A-21A2-44E2F15CC22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4444881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lef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BE8AC1E-D077-8096-E2FE-BF266A43AF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91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40466" y="1484314"/>
            <a:ext cx="5543547" cy="4897436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0455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02F5428E-2F1A-8EB2-DA5B-8AFEAE2D96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87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40463" y="1484314"/>
            <a:ext cx="5543551" cy="4897436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9C993E6-920F-E52C-98EC-CB30E5FDD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795C6BFF-722A-74D6-7B84-2BEF68C3C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5BF5E3A5-DCE5-6650-5224-7EA0F14E26A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461ECB9E-3043-248A-4C5E-2C626538CDB1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46103400-4824-4DF6-465A-21DC6D35235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3052C0C6-D6FE-6AC5-79E7-4595EFDB38A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A9AAB9A6-BA17-3494-3DEF-01A16AC9F0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D8DE8513-B9FF-A49C-CE83-E59F609ADCF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4A806682-AD4A-F985-B90A-D80C2B0CA36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F8E02874-DA87-220A-94FF-4E93A021D3B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5BD77A8E-325F-7B59-86CC-0E480C8A358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E36AEC08-6965-57A9-B875-5625CA602A3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3668CB48-4122-7A08-F8F9-B39770FBE9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46665557-048E-C33C-02E8-5E99392E708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1677B803-DF15-849B-589D-91C7936D7D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9D0030B6-EAB8-96F6-CA54-0FC2F61200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FB4AD1F2-3A6C-F71D-0319-453B50EF3A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8995A21D-BF56-0037-2D56-248FFD1BF36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2D8C8D7-0B5C-1DA5-6942-7E0CEB7F205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AB83D7F9-CE40-A980-9881-6AF1D9E2B45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9BBF1F35-7D2E-D854-5452-B513B9B9CA6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4A339E82-3B4A-445E-5520-B989141D032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8D32922B-394E-7E8B-537C-77BCD90438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26BC213-6A06-E393-8B65-F5C90500DA7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3FF3EB89-D2A9-FFE5-6DDE-0F0A2245671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7679210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9196C7-E992-43AB-8F76-578993D9CEAE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72854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F4836234-3D1D-3182-9BB0-5BBD9B6A42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CBC7D96-82C2-1A0A-F46E-E381D1FE70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28FCC8D-7929-4B59-8390-04C6C197848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FFBA01F-4E9D-52E6-DAED-6F52770EA47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2558CD2-52FA-4D7C-A86C-723F48EB75AD}" type="datetime1">
              <a:rPr lang="de-DE" smtClean="0"/>
              <a:t>19.10.26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593F718-02FC-50D6-2400-9821D489B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F0187871-FC33-2F6E-B121-23C036450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524C6AA-7F91-22E2-AD88-83204D97D80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94B59A-FCB5-FA4C-8869-9497ECC03D4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EC3A73C-E553-D421-F245-087E0ED8A861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C5591742-09C3-1D5A-E5BD-F2F6802496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B11E7538-36F3-3999-A5F3-B8018DF0932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09D5614F-7EA7-CB89-DCEF-F18FE98A608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D14B0289-5021-35FB-FC47-56DD511945F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74C76FA-4195-990F-18E3-9775F5299C0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B72BA532-08B4-3070-8811-3713D323AD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5BE85C07-5696-C90C-90EA-495C664263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08A46122-5969-5217-24B7-CCDE04315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8412F5AF-EE66-8457-7C2D-BEE8202535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F1118D8C-84EA-E459-99AC-CC0315A9848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FA9AD4CF-03CA-7191-142C-E865FCDE9A5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EE5B62F2-3903-37E9-2658-20B5761DCB7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CD938BCE-BCAE-4E5D-8331-AA226685E17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C333672F-D4D8-E2A5-87CD-6D556049DC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BF3BF6D9-578F-4DFA-3B49-5FBAA23130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09EB08AD-9074-B5E0-99F2-A5B93CC7622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A20544A3-5F14-7CAD-E53F-D8A4E6B1823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20761339-87FE-7A54-9CA4-37DA63E498F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8190A420-6CA0-16E0-5D45-8F120C2C9A6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08AA097B-3A20-6FED-ECFC-B6D228AB01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6494361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with subhead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4" name="Textplatzhalter 52">
            <a:extLst>
              <a:ext uri="{FF2B5EF4-FFF2-40B4-BE49-F238E27FC236}">
                <a16:creationId xmlns:a16="http://schemas.microsoft.com/office/drawing/2014/main" id="{D09A9ACB-20C1-8ADC-6CE5-9A102D9160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6307"/>
            <a:ext cx="5538788" cy="44554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5" name="Textplatzhalter 52">
            <a:extLst>
              <a:ext uri="{FF2B5EF4-FFF2-40B4-BE49-F238E27FC236}">
                <a16:creationId xmlns:a16="http://schemas.microsoft.com/office/drawing/2014/main" id="{169E8F25-A699-ECFC-4807-B28AACA215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5226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5226" y="1926306"/>
            <a:ext cx="5538788" cy="44554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3555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orient="horz" pos="106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with subheadlin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3" name="Textplatzhalter 52">
            <a:extLst>
              <a:ext uri="{FF2B5EF4-FFF2-40B4-BE49-F238E27FC236}">
                <a16:creationId xmlns:a16="http://schemas.microsoft.com/office/drawing/2014/main" id="{715122E0-A9D9-0BC6-443E-21ADD401CF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B21F7B3-A9F4-5A4B-0A04-CB915A4A726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6307"/>
            <a:ext cx="5538788" cy="44554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9" name="Textplatzhalter 52">
            <a:extLst>
              <a:ext uri="{FF2B5EF4-FFF2-40B4-BE49-F238E27FC236}">
                <a16:creationId xmlns:a16="http://schemas.microsoft.com/office/drawing/2014/main" id="{16457A01-0A6D-2AAC-AA75-C86F26A046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0463" y="1485415"/>
            <a:ext cx="5543549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0CF17633-EDA9-9B94-E0CD-422DCA0657B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0464" y="1926306"/>
            <a:ext cx="5543550" cy="44554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1ED029C-FBA2-7F25-4159-04687CD57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742EC5A9-E8AE-E9B9-AE98-B56E2078D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7D736AF-581A-ACD7-1540-1660EB27AA0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8">
              <a:extLst>
                <a:ext uri="{FF2B5EF4-FFF2-40B4-BE49-F238E27FC236}">
                  <a16:creationId xmlns:a16="http://schemas.microsoft.com/office/drawing/2014/main" id="{34872B78-4DC7-3C82-CC80-8617065935A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Rectangle 9">
              <a:extLst>
                <a:ext uri="{FF2B5EF4-FFF2-40B4-BE49-F238E27FC236}">
                  <a16:creationId xmlns:a16="http://schemas.microsoft.com/office/drawing/2014/main" id="{61FDB7F7-F854-9144-DDE6-C637CDE2DAA1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CEA6CAF6-84A7-62A1-EC63-7CDB2D3BB0F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A0121064-4BA1-A0D5-F98B-4C9C65B15E1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AE627AAF-C69B-CDD8-CD2D-68562445716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0E7F2C9D-9BBF-7BBA-0761-FACB842A37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E092EE9-4F3B-FA6C-C063-772671594A9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2F3B1EF8-8E45-4B2B-DF3C-FF4808FEDF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39A3E306-C368-0276-5CC8-3585326059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D00233EA-51CB-7CD0-7B2F-39D0AEF2F5B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55ED8B77-CA49-4CC0-E2F1-F3A58D83A9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54B082B0-C060-D012-8873-4142D06C1D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A61C8E3A-46A5-5B6F-4BF3-3EF69EA56D8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14E87872-A95B-FA41-368A-4A7892473E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BA7B12D6-FCE5-CEED-3CCF-1D8BAFEBA16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1A24FA47-114E-B1D4-29F3-CE5824495F9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A3D35E6A-9D19-0680-DBF1-E425356405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63352FAC-8A8F-CFF3-4339-685E1425426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726394E4-0E43-D26C-A794-785497CDE0F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A2C50C21-AD30-37B7-ADF1-F4C410125B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200D7173-B94D-5B9D-E106-55F0A774E41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532AF3E2-18E0-DA7D-2853-F1DF0FD9529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08315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 contents + picture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43">
            <a:extLst>
              <a:ext uri="{FF2B5EF4-FFF2-40B4-BE49-F238E27FC236}">
                <a16:creationId xmlns:a16="http://schemas.microsoft.com/office/drawing/2014/main" id="{BE2945CA-0C03-6ACD-8F41-8C62E88F5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36576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3657600"/>
            <a:ext cx="12192000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A89F6A-0E67-4481-8AD9-D887712E51A9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84313"/>
            <a:ext cx="10050812" cy="553998"/>
          </a:xfrm>
        </p:spPr>
        <p:txBody>
          <a:bodyPr vert="horz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753FD64C-7EAD-C2C7-3E96-AA2C42B2A2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3849561"/>
            <a:ext cx="36004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 baseline="0">
                <a:solidFill>
                  <a:srgbClr val="3264FF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From</a:t>
            </a:r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138C8AE-BB46-7FCF-347A-020346113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4298156"/>
            <a:ext cx="3600450" cy="208359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" name="Textplatzhalter 52">
            <a:extLst>
              <a:ext uri="{FF2B5EF4-FFF2-40B4-BE49-F238E27FC236}">
                <a16:creationId xmlns:a16="http://schemas.microsoft.com/office/drawing/2014/main" id="{9F54C9DF-FEFB-9882-DC94-F458A7BFE8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5" y="3849561"/>
            <a:ext cx="3600043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 baseline="0">
                <a:solidFill>
                  <a:srgbClr val="3264FF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err="1"/>
              <a:t>To</a:t>
            </a:r>
            <a:endParaRPr lang="en-CA"/>
          </a:p>
        </p:txBody>
      </p:sp>
      <p:sp>
        <p:nvSpPr>
          <p:cNvPr id="42" name="Inhaltsplatzhalter 39">
            <a:extLst>
              <a:ext uri="{FF2B5EF4-FFF2-40B4-BE49-F238E27FC236}">
                <a16:creationId xmlns:a16="http://schemas.microsoft.com/office/drawing/2014/main" id="{EFA9BF1A-794A-38D8-7EA1-630D6673BF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96175" y="4298156"/>
            <a:ext cx="3600450" cy="208359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952FCD7C-7953-4A29-5C6B-C702161DC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4360" y="3849561"/>
            <a:ext cx="3600044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 baseline="0">
                <a:solidFill>
                  <a:srgbClr val="3264FF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Details</a:t>
            </a:r>
          </a:p>
        </p:txBody>
      </p:sp>
      <p:sp>
        <p:nvSpPr>
          <p:cNvPr id="43" name="Inhaltsplatzhalter 39">
            <a:extLst>
              <a:ext uri="{FF2B5EF4-FFF2-40B4-BE49-F238E27FC236}">
                <a16:creationId xmlns:a16="http://schemas.microsoft.com/office/drawing/2014/main" id="{63DC239F-DFEF-CF00-F79A-451EBEA6AC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84362" y="4298156"/>
            <a:ext cx="3600450" cy="208359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15783D-F67B-F14B-07FE-776E59095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9942189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white/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C58FF99E-B033-1E9A-D9A0-7173F20D6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5399999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399999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7" y="1484312"/>
            <a:ext cx="5400000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84013" y="1484312"/>
            <a:ext cx="5400000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E64BB44E-8903-4313-BBED-09991CD8D6D8}" type="datetime1">
              <a:rPr lang="de-DE" smtClean="0"/>
              <a:t>19.10.26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9BA5284-5EA8-1D2F-70DA-D49FAD913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CA0558D-F7C6-BE8A-D229-4B51AF7209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8">
              <a:extLst>
                <a:ext uri="{FF2B5EF4-FFF2-40B4-BE49-F238E27FC236}">
                  <a16:creationId xmlns:a16="http://schemas.microsoft.com/office/drawing/2014/main" id="{D1716B33-B073-4B6B-64CC-A73C6015B65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B438069A-7F7B-4DAC-CD15-CCC27C332BE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AC41980B-0A57-2FC8-8EC4-AEB64DAE38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708168E3-1E88-F88A-4B03-8F03A71F9A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296800DF-3A29-6377-40AE-0628B62527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A43D4361-FD86-C134-84F5-E4943F064B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C4832E7-4291-3207-717C-F56CE7197C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B6B12DBF-E0C7-EC98-F9A1-C1E47C168C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64F1DDAD-7F17-BC6E-EFB4-24B6397370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077D64B3-0BF3-38A6-32DD-4223F87B00B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E477F0F8-EAA9-A9D1-57CD-4987C6D52C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28A8FB3-B67C-A486-BD79-E5405D264D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A2406392-8F8A-915F-FEF3-0BAFA50EDC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1665D786-DD80-BAC3-C9A6-DC0A4FF12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17BBBCAB-68A5-3435-A7E5-30FA23B2069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FD4DF712-8836-4E7A-158E-F8EE4D6C971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171B297D-B6FA-8328-F24B-14EB3B689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06F20CE0-BCCB-240F-E857-C83AE13ACA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74DCCC4B-A621-7D35-1092-D1F6D4E9ED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5F74DD2C-5F9C-965C-DFF5-AA191DC16B7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2F5438F7-469A-9728-8B2F-754932E0DFB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74593DD3-BF43-1349-435D-BF65BBBE690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7471903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blue/whit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5400010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400010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6" y="1484312"/>
            <a:ext cx="5400012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84000" y="1484312"/>
            <a:ext cx="5400014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608B994-E8E7-CC4B-F3DA-E7C9AC62C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CA" sz="1400">
              <a:solidFill>
                <a:schemeClr val="bg1"/>
              </a:solidFill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E64BB44E-8903-4313-BBED-09991CD8D6D8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D49654F4-E410-A64A-B03E-E4CB55C7F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72BA295B-8D5E-F078-487D-D5784D0615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453B17FB-8D37-9226-46B1-BB48A47D352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8557A2B3-7D11-DF2C-97DB-BDA0A088E9D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0A2B06EB-BD7F-DBEF-9CED-0860E08B97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E2B3E1B0-05B3-B3EE-6BCA-F5911ECC023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1F8BFBC1-09A1-8CD2-185F-21AFB667D78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10D10360-DB83-D8B8-3CE8-D5A29185005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56D4095D-3CCD-7CFB-644B-4DED959574D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51545F2D-4124-DFF3-9D53-FE9D06513F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B44B0B63-D547-1390-533D-E75642BD9B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B54E0C9A-732A-2438-F2D3-04940F6E9F4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1442E0FA-1320-6E0E-616E-9D3D72ED56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360FB0B-CBBC-CF0F-7300-92D7A1699B6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7B6E57CD-5802-A363-7377-EC1FFE5666B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69AA4E1A-9AD8-4E43-110A-165F7921AB2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A136447D-827D-90C2-B237-1FDD6CDC31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9B558324-1A77-AFDF-727C-9281A8F2122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FB336EE1-85CA-E789-D297-F55947A7F26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F68207EB-0DA7-8C72-5071-819912D5E2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C1DC6564-7E1B-D87E-854E-87081FCC771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0F1776EF-9B3F-41AB-EED1-13DE0013C1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3C71A23D-AE97-97F2-AA38-F9A608F7EA2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157B814F-CFC2-A39B-1110-351DD9C4EB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2044207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blue box vertical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B8F842D-9083-B1BD-7D8C-C56B343C4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ltGray">
          <a:xfrm>
            <a:off x="1309630" y="0"/>
            <a:ext cx="108823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99538" y="219691"/>
            <a:ext cx="8859262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538" y="404813"/>
            <a:ext cx="8859262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6" name="Inhaltsplatzhalter 2">
            <a:extLst>
              <a:ext uri="{FF2B5EF4-FFF2-40B4-BE49-F238E27FC236}">
                <a16:creationId xmlns:a16="http://schemas.microsoft.com/office/drawing/2014/main" id="{0235054D-83A6-1FBB-DACA-A0211D645C8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599538" y="1484312"/>
            <a:ext cx="494823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35776" y="1484312"/>
            <a:ext cx="494823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E64BB44E-8903-4313-BBED-09991CD8D6D8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599538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DCE383B-B4CB-D8AA-5C55-D327BB575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1708CD1-5A76-E2DB-806E-0BAD37B53A6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04009-0C96-7E23-3EFA-A798C3A242F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BAAD31-2C49-D204-0DE2-6934CEE5E09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62F645B-E904-D21B-327C-985D7AED36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561A794-66AC-EFDE-4A7F-17CFB93B065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5CC678F-27F6-7AE0-8847-BA3D6BD54A8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CF7ECAA-200A-A95E-EB52-147B9E4877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489C938-8BA4-3B07-5367-EE0552D6C30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212BFEA-B83D-CE02-8141-41BBCB3C7FE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A5D9973-799E-3144-7CA9-06D643FF64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A2E963B-62F9-A78F-756B-9DE1DCEC3D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A0A86D6-9908-EAB3-BF97-BDF51BCC44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2A1CAB6-4449-1418-7391-A03737305A4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0417F03-5C24-A23E-2465-4FA6299C57A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E636C30-2752-3571-DA71-B0674682A85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2F58AFD-B196-E7E8-1CAD-56732E7CE0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AB30FB4-4AD5-2923-0E51-ECCE53A2F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3C54911-B0A4-0978-65D9-BCF7927CCE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DAD8C20-1D2C-46EA-E924-E176B21E5D6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3C09416-1474-540C-D335-18198A1B7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A9D8461-872B-97D8-1926-05C916E208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0036A20-41CF-1407-D4BE-A954ED74E51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09F7526-61EF-7A8C-5F7D-23E3A866CE6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8349028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blue box horizontal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783439-F52C-AE18-FE39-E1543F8B9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196975"/>
            <a:ext cx="12192000" cy="5661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de-DE" sz="1400">
              <a:solidFill>
                <a:schemeClr val="bg1"/>
              </a:solidFill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9196C7-E992-43AB-8F76-578993D9CEAE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15FADC2A-0248-BC04-C899-8C8D2B2FD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77B321C3-9BD6-DFE7-1CF9-1B40C58CB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701A74C-0BC0-A9C3-CAB1-7757415B9C3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79B88625-616B-52F8-0788-1697C72D19A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BEC4A765-B41D-4677-65B0-9CC4AEF68D1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9A627078-E318-D566-E882-7676B67D887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14E39FC5-9364-4851-4440-84A1A2A7F4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2">
              <a:extLst>
                <a:ext uri="{FF2B5EF4-FFF2-40B4-BE49-F238E27FC236}">
                  <a16:creationId xmlns:a16="http://schemas.microsoft.com/office/drawing/2014/main" id="{FF37A86C-5679-D69F-3DE4-DFD29DA40C6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3">
              <a:extLst>
                <a:ext uri="{FF2B5EF4-FFF2-40B4-BE49-F238E27FC236}">
                  <a16:creationId xmlns:a16="http://schemas.microsoft.com/office/drawing/2014/main" id="{8C00B8A9-128D-57B7-787A-D3E2DBCF0F0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4">
              <a:extLst>
                <a:ext uri="{FF2B5EF4-FFF2-40B4-BE49-F238E27FC236}">
                  <a16:creationId xmlns:a16="http://schemas.microsoft.com/office/drawing/2014/main" id="{EA9E68ED-6D10-7DDC-131C-56BE099817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5">
              <a:extLst>
                <a:ext uri="{FF2B5EF4-FFF2-40B4-BE49-F238E27FC236}">
                  <a16:creationId xmlns:a16="http://schemas.microsoft.com/office/drawing/2014/main" id="{3761A6B5-94E8-8DCF-26B5-3EEA85DD44C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C5BD8C65-CC2A-B31B-EB65-C36C9704A8D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ABA33F1F-67C7-3053-F65E-802FF80401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64291D3E-DB43-5F66-9E25-9F5E09FB5EA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6CD66ACA-0EE3-802A-91CC-51FDCCA108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83C8DABB-E795-7CFB-656C-63021F346BE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1">
              <a:extLst>
                <a:ext uri="{FF2B5EF4-FFF2-40B4-BE49-F238E27FC236}">
                  <a16:creationId xmlns:a16="http://schemas.microsoft.com/office/drawing/2014/main" id="{4F92A343-7B58-F07F-4899-47FA54EC0FE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2">
              <a:extLst>
                <a:ext uri="{FF2B5EF4-FFF2-40B4-BE49-F238E27FC236}">
                  <a16:creationId xmlns:a16="http://schemas.microsoft.com/office/drawing/2014/main" id="{8525A0CC-AE00-93D9-CBFE-8613965485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2455F48E-CB54-B038-E8B7-6FD611A3C23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82E26569-2724-4E28-4A34-F90ABADEE5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5">
              <a:extLst>
                <a:ext uri="{FF2B5EF4-FFF2-40B4-BE49-F238E27FC236}">
                  <a16:creationId xmlns:a16="http://schemas.microsoft.com/office/drawing/2014/main" id="{C59C723D-2F3C-2BD9-9CEB-5DB197F041A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9B6135F3-11EB-417D-4A67-1329143E191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29C875C6-BAC2-F2EF-9167-B8A227DB7CB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F0E24565-5F70-75B6-1EA3-E5CF0990A7A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3DA0BF09-69B9-AAA5-EE6C-B845D8C2C30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85BF7B10-9805-6E3A-2774-88ACC12450B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9AA1EA01-6BF9-A3F2-3C73-FA4A2297264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96157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3600451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1484312"/>
            <a:ext cx="3600450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196C7-E992-43AB-8F76-578993D9CEAE}" type="datetime1">
              <a:rPr lang="de-DE" smtClean="0"/>
              <a:t>19.10.26</a:t>
            </a:fld>
            <a:endParaRPr lang="en-CA"/>
          </a:p>
        </p:txBody>
      </p:sp>
      <p:sp>
        <p:nvSpPr>
          <p:cNvPr id="6" name="Inhaltsplatzhalter 3">
            <a:extLst>
              <a:ext uri="{FF2B5EF4-FFF2-40B4-BE49-F238E27FC236}">
                <a16:creationId xmlns:a16="http://schemas.microsoft.com/office/drawing/2014/main" id="{00FA3DA0-5170-5E85-18A4-A320A5432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184362" y="1484312"/>
            <a:ext cx="3600450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99524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F4836234-3D1D-3182-9BB0-5BBD9B6A42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CBC7D96-82C2-1A0A-F46E-E381D1FE70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FFBA01F-4E9D-52E6-DAED-6F52770EA47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296175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28FCC8D-7929-4B59-8390-04C6C197848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7D044B1B-0DBE-7215-5F15-794DC75F38C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84362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2558CD2-52FA-4D7C-A86C-723F48EB75AD}" type="datetime1">
              <a:rPr lang="de-DE" smtClean="0"/>
              <a:t>19.10.26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593F718-02FC-50D6-2400-9821D489B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3241A203-F8B6-A071-8FAF-FED6AC7EF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9D7AF90-0BF3-F25D-6355-E5E9FD934C8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059D6E6A-8F93-6745-3D30-2450C2C1C92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FB24098F-945D-038C-8A5D-DBB9332A492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F873B85-700B-CDFF-48C5-5396AC3A5DA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97A0A947-C36A-6771-B3EC-EA98F3C4FB4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46E0E8C4-13CA-51BB-B4CA-5CC5DD4442D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2EAA93E4-6855-41DC-E56A-86B0A140C4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3335B7FA-9CDF-3AA8-AA41-9E9E1A9744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39D99385-87DF-874A-F0CC-4850ABA12F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A1BF721F-D8E6-7F2E-9E96-5CD5427562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112EAB18-A203-BB2F-7BC7-00DFB7292FC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42626489-0C8C-3BB6-B26F-37A9ECCB21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FB39C404-6CB3-C7F3-BE99-1A46CAF3D7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D3D19B17-28AF-4EE8-1A39-B787BE301A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2E9F2C8B-B248-66F4-9F75-4314B0825E9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9E954A22-B70B-6726-7EEF-7BB200BCB40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30E23B53-6948-974D-0838-6A541764A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C1220D96-9651-CDDA-7162-0B370E660A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CB599C0F-B910-8F62-6CDB-D36F76272A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26F2B42C-2EE5-FFC9-C47F-D950B78E1C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A56C4280-66FD-C405-604C-5BBB6D8E79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9D6E23D5-DFB2-1A6C-812E-11EAB777A1A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2D818BA4-1D4D-8BF8-4CBD-98E591156FB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1460987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s with subhead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7" name="Textplatzhalter 52">
            <a:extLst>
              <a:ext uri="{FF2B5EF4-FFF2-40B4-BE49-F238E27FC236}">
                <a16:creationId xmlns:a16="http://schemas.microsoft.com/office/drawing/2014/main" id="{FA0E36AF-4FE3-C8C5-F3B9-E584738B5E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7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9407"/>
            <a:ext cx="3600451" cy="44523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8" name="Textplatzhalter 52">
            <a:extLst>
              <a:ext uri="{FF2B5EF4-FFF2-40B4-BE49-F238E27FC236}">
                <a16:creationId xmlns:a16="http://schemas.microsoft.com/office/drawing/2014/main" id="{302E9586-5BDD-CE1C-6BFE-01752EFEC1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5776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1929406"/>
            <a:ext cx="3600451" cy="44523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9" name="Textplatzhalter 52">
            <a:extLst>
              <a:ext uri="{FF2B5EF4-FFF2-40B4-BE49-F238E27FC236}">
                <a16:creationId xmlns:a16="http://schemas.microsoft.com/office/drawing/2014/main" id="{91703F42-CB19-EBDD-102A-0B57DA448E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5855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6" name="Inhaltsplatzhalter 3">
            <a:extLst>
              <a:ext uri="{FF2B5EF4-FFF2-40B4-BE49-F238E27FC236}">
                <a16:creationId xmlns:a16="http://schemas.microsoft.com/office/drawing/2014/main" id="{E050860B-2365-0AD8-FF5C-360F00F16FC3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184362" y="1929406"/>
            <a:ext cx="3600451" cy="44523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52433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 with subheadlin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20" name="Textplatzhalter 52">
            <a:extLst>
              <a:ext uri="{FF2B5EF4-FFF2-40B4-BE49-F238E27FC236}">
                <a16:creationId xmlns:a16="http://schemas.microsoft.com/office/drawing/2014/main" id="{7EACA34B-27A8-E7EE-BA52-0EF8629EB5A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7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26127C24-2878-FC2B-6458-4329AF6EE7D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9407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1" name="Textplatzhalter 52">
            <a:extLst>
              <a:ext uri="{FF2B5EF4-FFF2-40B4-BE49-F238E27FC236}">
                <a16:creationId xmlns:a16="http://schemas.microsoft.com/office/drawing/2014/main" id="{605C2477-D8DD-BDFB-9B6E-0CE7BEA7CC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5776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6" name="Inhaltsplatzhalter 3">
            <a:extLst>
              <a:ext uri="{FF2B5EF4-FFF2-40B4-BE49-F238E27FC236}">
                <a16:creationId xmlns:a16="http://schemas.microsoft.com/office/drawing/2014/main" id="{7B0B68E2-0306-AAD3-A551-FCD33C24D24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1929406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2" name="Textplatzhalter 52">
            <a:extLst>
              <a:ext uri="{FF2B5EF4-FFF2-40B4-BE49-F238E27FC236}">
                <a16:creationId xmlns:a16="http://schemas.microsoft.com/office/drawing/2014/main" id="{B11EA38F-CC73-4B9F-1E84-5EDEC6B757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5855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9" name="Inhaltsplatzhalter 3">
            <a:extLst>
              <a:ext uri="{FF2B5EF4-FFF2-40B4-BE49-F238E27FC236}">
                <a16:creationId xmlns:a16="http://schemas.microsoft.com/office/drawing/2014/main" id="{571688CB-87B8-0ACA-B66B-E9829225935D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184362" y="1929406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1ED029C-FBA2-7F25-4159-04687CD57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38" name="Gruppieren 14">
            <a:extLst>
              <a:ext uri="{FF2B5EF4-FFF2-40B4-BE49-F238E27FC236}">
                <a16:creationId xmlns:a16="http://schemas.microsoft.com/office/drawing/2014/main" id="{8F0CA4CF-3E14-7B5F-B13B-A855C275A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3641281C-6B4B-655B-138C-8EA8627277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Rectangle 8">
              <a:extLst>
                <a:ext uri="{FF2B5EF4-FFF2-40B4-BE49-F238E27FC236}">
                  <a16:creationId xmlns:a16="http://schemas.microsoft.com/office/drawing/2014/main" id="{40493CE6-9DAF-2E6C-993A-6FFE115BF52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Rectangle 9">
              <a:extLst>
                <a:ext uri="{FF2B5EF4-FFF2-40B4-BE49-F238E27FC236}">
                  <a16:creationId xmlns:a16="http://schemas.microsoft.com/office/drawing/2014/main" id="{AAA54B1A-F5E8-7D63-23B2-574A8D92635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9D724106-E5E8-4BB5-0106-9FEFDAB8A5E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62960151-D61C-63B5-FC3B-FA73948D449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85574F71-D595-1F8C-209D-43CEAC1BAEC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4662524B-BD1A-A76A-8CAB-4720E4A236A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91E89827-D635-E330-2423-9D59BBAC7E9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D4D51FB7-2507-6A29-54BC-78DE24E9C1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5AF447D4-379E-76D6-9BC4-BC96D675E9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8C2B831C-079C-679F-08FC-A4CB3CE08E3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C1D15072-5EAE-8516-A8BB-B1A386E736A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51F569E0-CE8C-9B01-FC4C-5FD14827EC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30369072-3425-CC0C-8291-B3C0E7BA8F8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6F9886B5-63E1-62E7-8EDB-97E05ED1A0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724C68BE-EEE2-3C15-ECB3-6CD2D23ADB3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3">
              <a:extLst>
                <a:ext uri="{FF2B5EF4-FFF2-40B4-BE49-F238E27FC236}">
                  <a16:creationId xmlns:a16="http://schemas.microsoft.com/office/drawing/2014/main" id="{58F674D2-A04F-60CC-4D12-48BD9BF8EFF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F000F07D-66E5-68C4-94AF-1D444365971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6C49C3C2-F0C6-4EE9-8EBD-069E69D299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2CF6FC69-94C7-16FE-C1E7-D85FB3DB5EC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72972B26-84F9-E3B6-09F0-EABD624D26A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6F1B9ADF-DBA3-79A8-41D4-5A3266B6080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9">
              <a:extLst>
                <a:ext uri="{FF2B5EF4-FFF2-40B4-BE49-F238E27FC236}">
                  <a16:creationId xmlns:a16="http://schemas.microsoft.com/office/drawing/2014/main" id="{33C86D5C-E89A-ED3C-A3B3-1A741ED9CD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1834020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 contents_partially blue_icons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9B0BB0C3-8B14-D7A0-22C8-9E1360E9013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58180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B0BB0C3-8B14-D7A0-22C8-9E1360E901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F1FC4F1B-E9C6-966B-920C-3061CEEC48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2705100"/>
            <a:ext cx="12192000" cy="415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6" name="Textplatzhalter 52">
            <a:extLst>
              <a:ext uri="{FF2B5EF4-FFF2-40B4-BE49-F238E27FC236}">
                <a16:creationId xmlns:a16="http://schemas.microsoft.com/office/drawing/2014/main" id="{1F73B022-5CA7-2F60-B118-DD9DDDE9D1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2894921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81B0F78-288A-1D3F-EB23-2284535B406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3337060"/>
            <a:ext cx="3600451" cy="304468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7" name="Textplatzhalter 52">
            <a:extLst>
              <a:ext uri="{FF2B5EF4-FFF2-40B4-BE49-F238E27FC236}">
                <a16:creationId xmlns:a16="http://schemas.microsoft.com/office/drawing/2014/main" id="{87EFD4B6-004A-D04B-5D26-2E20B51344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5" y="2894921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0F28BA33-3194-E68F-6877-7BA7B190E92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3337060"/>
            <a:ext cx="3600451" cy="304468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8" name="Textplatzhalter 52">
            <a:extLst>
              <a:ext uri="{FF2B5EF4-FFF2-40B4-BE49-F238E27FC236}">
                <a16:creationId xmlns:a16="http://schemas.microsoft.com/office/drawing/2014/main" id="{66F59C08-1EC8-173B-ABAB-6F9A850C54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4362" y="2894921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5" name="Inhaltsplatzhalter 3">
            <a:extLst>
              <a:ext uri="{FF2B5EF4-FFF2-40B4-BE49-F238E27FC236}">
                <a16:creationId xmlns:a16="http://schemas.microsoft.com/office/drawing/2014/main" id="{FC1F66D6-EE5F-AFA8-FB77-459578498BA8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184362" y="3337060"/>
            <a:ext cx="3600451" cy="304468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7C3858E-79E9-BC76-2ADC-439FDC02A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42012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22297CB-0F10-F289-CFB9-75B631EA7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29800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D9ABE77-A864-5333-5FAB-2DB96F059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17588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A89F6A-0E67-4481-8AD9-D887712E51A9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15783D-F67B-F14B-07FE-776E59095DBB}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62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_partially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2F5CEF6D-1B6B-2A68-3496-9F8C15E878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35536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5CEF6D-1B6B-2A68-3496-9F8C15E878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F1FC4F1B-E9C6-966B-920C-3061CEEC48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2705100"/>
            <a:ext cx="12192000" cy="415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753FD64C-7EAD-C2C7-3E96-AA2C42B2A2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138C8AE-BB46-7FCF-347A-020346113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2900105"/>
            <a:ext cx="3600450" cy="348164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" name="Textplatzhalter 52">
            <a:extLst>
              <a:ext uri="{FF2B5EF4-FFF2-40B4-BE49-F238E27FC236}">
                <a16:creationId xmlns:a16="http://schemas.microsoft.com/office/drawing/2014/main" id="{9F54C9DF-FEFB-9882-DC94-F458A7BFE8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4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2" name="Inhaltsplatzhalter 39">
            <a:extLst>
              <a:ext uri="{FF2B5EF4-FFF2-40B4-BE49-F238E27FC236}">
                <a16:creationId xmlns:a16="http://schemas.microsoft.com/office/drawing/2014/main" id="{EFA9BF1A-794A-38D8-7EA1-630D6673BF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96175" y="2900105"/>
            <a:ext cx="3600450" cy="348164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952FCD7C-7953-4A29-5C6B-C702161DC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4360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3" name="Inhaltsplatzhalter 39">
            <a:extLst>
              <a:ext uri="{FF2B5EF4-FFF2-40B4-BE49-F238E27FC236}">
                <a16:creationId xmlns:a16="http://schemas.microsoft.com/office/drawing/2014/main" id="{63DC239F-DFEF-CF00-F79A-451EBEA6AC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84362" y="2900105"/>
            <a:ext cx="3600450" cy="348164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A89F6A-0E67-4481-8AD9-D887712E51A9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15783D-F67B-F14B-07FE-776E59095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1117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 + picture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F1FC4F1B-E9C6-966B-920C-3061CEEC48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3657600"/>
            <a:ext cx="12192000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753FD64C-7EAD-C2C7-3E96-AA2C42B2A2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138C8AE-BB46-7FCF-347A-020346113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4298157"/>
            <a:ext cx="3600450" cy="207645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" name="Textplatzhalter 52">
            <a:extLst>
              <a:ext uri="{FF2B5EF4-FFF2-40B4-BE49-F238E27FC236}">
                <a16:creationId xmlns:a16="http://schemas.microsoft.com/office/drawing/2014/main" id="{9F54C9DF-FEFB-9882-DC94-F458A7BFE8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4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2" name="Inhaltsplatzhalter 39">
            <a:extLst>
              <a:ext uri="{FF2B5EF4-FFF2-40B4-BE49-F238E27FC236}">
                <a16:creationId xmlns:a16="http://schemas.microsoft.com/office/drawing/2014/main" id="{EFA9BF1A-794A-38D8-7EA1-630D6673BF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96175" y="4298157"/>
            <a:ext cx="3600450" cy="207645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952FCD7C-7953-4A29-5C6B-C702161DC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4360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3" name="Inhaltsplatzhalter 39">
            <a:extLst>
              <a:ext uri="{FF2B5EF4-FFF2-40B4-BE49-F238E27FC236}">
                <a16:creationId xmlns:a16="http://schemas.microsoft.com/office/drawing/2014/main" id="{63DC239F-DFEF-CF00-F79A-451EBEA6AC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84362" y="4298157"/>
            <a:ext cx="3600450" cy="207645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632DF3B-FF32-2FD4-7DEF-DAD5320390D0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55E70D4B-E00F-4E3D-9749-2A3BEC2D17A1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A44B38B-F89A-804F-680A-7C157CEBE01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3" name="Textfeld 6">
            <a:extLst>
              <a:ext uri="{FF2B5EF4-FFF2-40B4-BE49-F238E27FC236}">
                <a16:creationId xmlns:a16="http://schemas.microsoft.com/office/drawing/2014/main" id="{F2F1DA49-FAA1-9A8B-757E-FA1DCE65CDE9}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0295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34023C7A-8E4B-FCFC-5284-21D503F90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D6F78B-BEEC-1FB7-2E69-FE49143D2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40536B-1835-EBC4-9FE6-D7BE052AA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3108A-4CEC-450F-9F79-7958F0401B7E}" type="datetime1">
              <a:rPr lang="de-DE" smtClean="0"/>
              <a:t>19.10.26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1CF425-A9D3-7D88-070F-44D48BB89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extplatzhalter 52">
            <a:extLst>
              <a:ext uri="{FF2B5EF4-FFF2-40B4-BE49-F238E27FC236}">
                <a16:creationId xmlns:a16="http://schemas.microsoft.com/office/drawing/2014/main" id="{F3F8D6D2-0834-19D5-57E4-AEFF09C7D8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3D1A143C-ECA9-2E5A-7B7F-5017BAEBBBE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7988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82CECA90-2BF7-8A85-C603-5D505B93B66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4891314"/>
            <a:ext cx="3600451" cy="149043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4" name="Textplatzhalter 52">
            <a:extLst>
              <a:ext uri="{FF2B5EF4-FFF2-40B4-BE49-F238E27FC236}">
                <a16:creationId xmlns:a16="http://schemas.microsoft.com/office/drawing/2014/main" id="{EED001E8-B423-58CD-5037-02D950D18B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6175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BDF3AAB4-A998-053F-511B-9D538D906AA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96175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370026F-7DED-2D84-8EA8-5C16F470CA1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296175" y="4891314"/>
            <a:ext cx="3600449" cy="149043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6" name="Textplatzhalter 52">
            <a:extLst>
              <a:ext uri="{FF2B5EF4-FFF2-40B4-BE49-F238E27FC236}">
                <a16:creationId xmlns:a16="http://schemas.microsoft.com/office/drawing/2014/main" id="{8D222BAA-0ABD-6C65-7ED9-7F0B2E524D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84362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A7DBC71C-581E-1931-849E-FFAC51337EB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84362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7FACBBCF-213E-7C50-9000-454C3E748B57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184362" y="4891314"/>
            <a:ext cx="3600447" cy="149043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3033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image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34023C7A-8E4B-FCFC-5284-21D503F90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D6F78B-BEEC-1FB7-2E69-FE49143D2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40536B-1835-EBC4-9FE6-D7BE052AA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43108A-4CEC-450F-9F79-7958F0401B7E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1CF425-A9D3-7D88-070F-44D48BB89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74EC707-E6FC-67A5-B9A0-3CB0530AB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6BE5F923-7209-2714-C5A8-0CD182C8B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15F14E8A-B426-7B40-D7D2-6764FCBAE1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47AF82EE-3D48-1966-74B1-D83DECB0805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CAE1C3AA-EC47-1DF1-B903-39912C5A0D55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C0F5DBEF-AED4-B25E-81A6-FFC44C29D2E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83D9E7DC-2985-6842-DA56-F678B0053E0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709FEFE8-A816-EB8A-8106-3EE3FE448C7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A6A71ED2-128E-8F04-66D3-1470B42E08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94A1FCE3-3F68-04E4-E7CE-D27C9DCB0C3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5">
              <a:extLst>
                <a:ext uri="{FF2B5EF4-FFF2-40B4-BE49-F238E27FC236}">
                  <a16:creationId xmlns:a16="http://schemas.microsoft.com/office/drawing/2014/main" id="{81BFE46D-5AE2-710E-0340-15E7B1DAF1C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E0A7A468-5E40-D87C-3B36-C7C88994894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7">
              <a:extLst>
                <a:ext uri="{FF2B5EF4-FFF2-40B4-BE49-F238E27FC236}">
                  <a16:creationId xmlns:a16="http://schemas.microsoft.com/office/drawing/2014/main" id="{4C9D2C2D-3029-8C60-DBBF-DDC49DDB34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8">
              <a:extLst>
                <a:ext uri="{FF2B5EF4-FFF2-40B4-BE49-F238E27FC236}">
                  <a16:creationId xmlns:a16="http://schemas.microsoft.com/office/drawing/2014/main" id="{AA3D1E87-1AA4-070B-4704-4F6852DD3F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9">
              <a:extLst>
                <a:ext uri="{FF2B5EF4-FFF2-40B4-BE49-F238E27FC236}">
                  <a16:creationId xmlns:a16="http://schemas.microsoft.com/office/drawing/2014/main" id="{CBFE9AD8-2B49-E8CC-1511-5C7955F847C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0">
              <a:extLst>
                <a:ext uri="{FF2B5EF4-FFF2-40B4-BE49-F238E27FC236}">
                  <a16:creationId xmlns:a16="http://schemas.microsoft.com/office/drawing/2014/main" id="{E49801C7-3BA7-BEA3-6052-F0F1504F18B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1">
              <a:extLst>
                <a:ext uri="{FF2B5EF4-FFF2-40B4-BE49-F238E27FC236}">
                  <a16:creationId xmlns:a16="http://schemas.microsoft.com/office/drawing/2014/main" id="{3B431545-57E3-F956-83ED-05058B52C0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2">
              <a:extLst>
                <a:ext uri="{FF2B5EF4-FFF2-40B4-BE49-F238E27FC236}">
                  <a16:creationId xmlns:a16="http://schemas.microsoft.com/office/drawing/2014/main" id="{06B9B3C2-FD4D-D291-3EDC-4EC97F13DD2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3">
              <a:extLst>
                <a:ext uri="{FF2B5EF4-FFF2-40B4-BE49-F238E27FC236}">
                  <a16:creationId xmlns:a16="http://schemas.microsoft.com/office/drawing/2014/main" id="{66AAD2DD-E000-75E6-EA5F-E23B29B9DA3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4">
              <a:extLst>
                <a:ext uri="{FF2B5EF4-FFF2-40B4-BE49-F238E27FC236}">
                  <a16:creationId xmlns:a16="http://schemas.microsoft.com/office/drawing/2014/main" id="{A8370DF1-0C78-1A51-D18C-E52B0C77BE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5">
              <a:extLst>
                <a:ext uri="{FF2B5EF4-FFF2-40B4-BE49-F238E27FC236}">
                  <a16:creationId xmlns:a16="http://schemas.microsoft.com/office/drawing/2014/main" id="{B981BBCE-7DBA-9155-10CE-DCCB0101CDA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4C50B18A-38F8-0126-E683-FC7604FFFEA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7">
              <a:extLst>
                <a:ext uri="{FF2B5EF4-FFF2-40B4-BE49-F238E27FC236}">
                  <a16:creationId xmlns:a16="http://schemas.microsoft.com/office/drawing/2014/main" id="{DEB55550-5864-FF87-E699-FB49E620928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8999F6B9-86C3-5CAF-DA3D-AF328201C37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29">
              <a:extLst>
                <a:ext uri="{FF2B5EF4-FFF2-40B4-BE49-F238E27FC236}">
                  <a16:creationId xmlns:a16="http://schemas.microsoft.com/office/drawing/2014/main" id="{179F2E42-446A-266F-5881-7121CE623A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3" name="Textplatzhalter 52">
            <a:extLst>
              <a:ext uri="{FF2B5EF4-FFF2-40B4-BE49-F238E27FC236}">
                <a16:creationId xmlns:a16="http://schemas.microsoft.com/office/drawing/2014/main" id="{84E2AD3C-8285-106A-1850-B4421F361B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7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9" name="Textplatzhalter 52">
            <a:extLst>
              <a:ext uri="{FF2B5EF4-FFF2-40B4-BE49-F238E27FC236}">
                <a16:creationId xmlns:a16="http://schemas.microsoft.com/office/drawing/2014/main" id="{6EF9980A-92BD-3A10-110C-956FA8EDC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5771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20" name="Textplatzhalter 52">
            <a:extLst>
              <a:ext uri="{FF2B5EF4-FFF2-40B4-BE49-F238E27FC236}">
                <a16:creationId xmlns:a16="http://schemas.microsoft.com/office/drawing/2014/main" id="{F8C5AA99-150C-F910-C80D-617DF468D9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83563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9" name="Bildplatzhalter 9">
            <a:extLst>
              <a:ext uri="{FF2B5EF4-FFF2-40B4-BE49-F238E27FC236}">
                <a16:creationId xmlns:a16="http://schemas.microsoft.com/office/drawing/2014/main" id="{CAEF0431-B939-D32B-2BCE-8E17034F208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7988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12F5BC89-EE53-C4E2-1443-9257D2F7536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96175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5" name="Bildplatzhalter 11">
            <a:extLst>
              <a:ext uri="{FF2B5EF4-FFF2-40B4-BE49-F238E27FC236}">
                <a16:creationId xmlns:a16="http://schemas.microsoft.com/office/drawing/2014/main" id="{6729AFB4-C0EB-2180-9D56-DCF1110177A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84362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2D7CDC8E-EB7B-4581-F00B-A87189C3E48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4891314"/>
            <a:ext cx="3600451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519ACF63-8F01-7714-C238-903353A7209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296175" y="4891314"/>
            <a:ext cx="3600449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54545AC7-5FC5-58AB-B510-D5898B400FA2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184362" y="4891314"/>
            <a:ext cx="3600447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042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3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2C0C633A-6EA5-DF36-9AE4-EA89978EDF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2758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91B323F1-4715-CFC3-807E-239EE926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2D97ED-F73E-1186-9798-C3CF27D7A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E6F5F1F3-EE93-DDAA-CBBA-6269AE7D82D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0D26AEB2-3A52-AA11-5E7F-74B5C33CA63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D48FF9E-F4D7-10DB-E523-5306B72CC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5DB7D4C-B37F-5DDB-541C-A999CB8A37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19C98EF-E86D-4796-0EC8-51FAFAB749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17DDF5D-C814-6DF2-D434-3FAFA595382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5F7A2C3A-68AA-62B4-7238-597768583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C81D452-0084-23ED-8650-369F1F68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F101A09B-BEF2-8225-C637-5A41059E161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99DA4316-8E12-8903-2B1F-4451D777E5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EBE6D0E7-C69D-C3CF-D0C7-BAB2BECC23C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90AC8359-138F-956E-7FA2-B6C7B8A7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317DFFE-CAB6-D753-96E5-119BA656B3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96BBCB4E-5B7C-A313-5835-F441F43B77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F3EA0D5-01ED-7015-6A74-728EBDEACA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64BB21C-9235-2148-BD14-551485E50C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260BEC4F-F089-FF3D-88A7-EF5FE0FA8F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7464F79-E667-E917-0ADF-73287F4940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E3E7007D-70DC-23F0-CE9F-93CD9E17A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33995CED-F315-0E08-4DC8-4EF412A1D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F7DA2BD-3335-61F5-B63F-3B7240CF25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0DC7AC69-5AA5-DE03-8BBA-729AF85BB7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29" name="Textplatzhalter 52">
            <a:extLst>
              <a:ext uri="{FF2B5EF4-FFF2-40B4-BE49-F238E27FC236}">
                <a16:creationId xmlns:a16="http://schemas.microsoft.com/office/drawing/2014/main" id="{8AF95120-A81F-52DB-76D2-83E371AA3F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21194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E5616DD-E8CA-5A37-D6C1-47DE66E16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21194" y="2335213"/>
            <a:ext cx="1819270" cy="1065212"/>
          </a:xfrm>
        </p:spPr>
        <p:txBody>
          <a:bodyPr wrap="square"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3" name="Text Placeholder 32">
            <a:extLst>
              <a:ext uri="{FF2B5EF4-FFF2-40B4-BE49-F238E27FC236}">
                <a16:creationId xmlns:a16="http://schemas.microsoft.com/office/drawing/2014/main" id="{8A423DAC-F37D-0A5A-431E-9740BF548E0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21194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0" name="Text Placeholder 32">
            <a:extLst>
              <a:ext uri="{FF2B5EF4-FFF2-40B4-BE49-F238E27FC236}">
                <a16:creationId xmlns:a16="http://schemas.microsoft.com/office/drawing/2014/main" id="{82B2C481-4D77-35DE-32DF-B033FCE9D02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21194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30" name="Textplatzhalter 52">
            <a:extLst>
              <a:ext uri="{FF2B5EF4-FFF2-40B4-BE49-F238E27FC236}">
                <a16:creationId xmlns:a16="http://schemas.microsoft.com/office/drawing/2014/main" id="{910B3119-DD41-8385-45D3-A5F424A4F8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93342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58" name="Text Placeholder 32">
            <a:extLst>
              <a:ext uri="{FF2B5EF4-FFF2-40B4-BE49-F238E27FC236}">
                <a16:creationId xmlns:a16="http://schemas.microsoft.com/office/drawing/2014/main" id="{2342786F-4F0A-9819-3EEA-13C41AF4D0B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93343" y="233521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4" name="Text Placeholder 32">
            <a:extLst>
              <a:ext uri="{FF2B5EF4-FFF2-40B4-BE49-F238E27FC236}">
                <a16:creationId xmlns:a16="http://schemas.microsoft.com/office/drawing/2014/main" id="{9A5EE817-73A5-DDD9-FF5C-8961DD27DCC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93343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1" name="Text Placeholder 32">
            <a:extLst>
              <a:ext uri="{FF2B5EF4-FFF2-40B4-BE49-F238E27FC236}">
                <a16:creationId xmlns:a16="http://schemas.microsoft.com/office/drawing/2014/main" id="{8920D266-893E-D904-740A-D7F80F75E28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93343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31" name="Textplatzhalter 52">
            <a:extLst>
              <a:ext uri="{FF2B5EF4-FFF2-40B4-BE49-F238E27FC236}">
                <a16:creationId xmlns:a16="http://schemas.microsoft.com/office/drawing/2014/main" id="{F4E5564A-1BDE-1084-6E5C-76EE9CA79E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65491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59" name="Text Placeholder 32">
            <a:extLst>
              <a:ext uri="{FF2B5EF4-FFF2-40B4-BE49-F238E27FC236}">
                <a16:creationId xmlns:a16="http://schemas.microsoft.com/office/drawing/2014/main" id="{807A570B-B857-BDCF-C257-087323B683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65491" y="233521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5" name="Text Placeholder 32">
            <a:extLst>
              <a:ext uri="{FF2B5EF4-FFF2-40B4-BE49-F238E27FC236}">
                <a16:creationId xmlns:a16="http://schemas.microsoft.com/office/drawing/2014/main" id="{C29147A8-C043-065C-2940-2A9D20C7E64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65491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2" name="Text Placeholder 32">
            <a:extLst>
              <a:ext uri="{FF2B5EF4-FFF2-40B4-BE49-F238E27FC236}">
                <a16:creationId xmlns:a16="http://schemas.microsoft.com/office/drawing/2014/main" id="{C22C92A7-5EFE-6DAD-1867-703F8CFF163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65491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</p:spTree>
    <p:extLst>
      <p:ext uri="{BB962C8B-B14F-4D97-AF65-F5344CB8AC3E}">
        <p14:creationId xmlns:p14="http://schemas.microsoft.com/office/powerpoint/2010/main" val="35125529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ntents with subhead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606B146-9972-C424-94F7-E4E3B230C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539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D1D6DE4-C8BF-1FDB-A815-63AE1753C6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963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B2E06887-1F52-6D50-EF99-A987A0C497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99214" y="2138170"/>
            <a:ext cx="2993571" cy="246221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Second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15CA158E-5136-1378-763E-7E5903D4B9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99781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567A0CF0-8627-FC62-C638-2A05434447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8246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Third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0485FAA-A283-BF00-4745-8EB56A1C09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3033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69190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1/3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91B323F1-4715-CFC3-807E-239EE926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2D97ED-F73E-1186-9798-C3CF27D7A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E6F5F1F3-EE93-DDAA-CBBA-6269AE7D82D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0D26AEB2-3A52-AA11-5E7F-74B5C33CA63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D48FF9E-F4D7-10DB-E523-5306B72CC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5DB7D4C-B37F-5DDB-541C-A999CB8A37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19C98EF-E86D-4796-0EC8-51FAFAB749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17DDF5D-C814-6DF2-D434-3FAFA595382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5F7A2C3A-68AA-62B4-7238-597768583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C81D452-0084-23ED-8650-369F1F68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F101A09B-BEF2-8225-C637-5A41059E161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99DA4316-8E12-8903-2B1F-4451D777E5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EBE6D0E7-C69D-C3CF-D0C7-BAB2BECC23C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90AC8359-138F-956E-7FA2-B6C7B8A7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317DFFE-CAB6-D753-96E5-119BA656B3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96BBCB4E-5B7C-A313-5835-F441F43B77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F3EA0D5-01ED-7015-6A74-728EBDEACA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64BB21C-9235-2148-BD14-551485E50C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260BEC4F-F089-FF3D-88A7-EF5FE0FA8F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7464F79-E667-E917-0ADF-73287F4940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E3E7007D-70DC-23F0-CE9F-93CD9E17A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33995CED-F315-0E08-4DC8-4EF412A1D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F7DA2BD-3335-61F5-B63F-3B7240CF25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0DC7AC69-5AA5-DE03-8BBA-729AF85BB7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3F04BA93-4DF6-4FCB-A716-F9304A1BF9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539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744AB99B-B1CD-E8CD-42AF-77572D5E37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963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5E7B662B-E00E-F13B-2859-596AD16B32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99214" y="2138170"/>
            <a:ext cx="2993571" cy="246221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Second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90305AD1-521C-5A2F-7182-E7E8DBD546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99781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F8A3AD0-9B8B-306B-3452-9455F1EFCA2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8246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Third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514B5B65-D6F6-78B3-AF29-D0C863BA50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3033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3269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rrow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2E3B4D43-43FE-17A1-1964-B212F5E25508}"/>
              </a:ext>
            </a:extLst>
          </p:cNvPr>
          <p:cNvGrpSpPr/>
          <p:nvPr userDrawn="1"/>
        </p:nvGrpSpPr>
        <p:grpSpPr>
          <a:xfrm>
            <a:off x="302079" y="0"/>
            <a:ext cx="11587842" cy="6854780"/>
            <a:chOff x="2376487" y="1228725"/>
            <a:chExt cx="7439025" cy="4400550"/>
          </a:xfrm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8C5A8997-C405-0328-3242-5E8ACDEA597A}"/>
                </a:ext>
              </a:extLst>
            </p:cNvPr>
            <p:cNvSpPr/>
            <p:nvPr/>
          </p:nvSpPr>
          <p:spPr>
            <a:xfrm>
              <a:off x="23764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4902B52E-649D-E62A-E715-6082927D276F}"/>
                </a:ext>
              </a:extLst>
            </p:cNvPr>
            <p:cNvSpPr/>
            <p:nvPr/>
          </p:nvSpPr>
          <p:spPr>
            <a:xfrm>
              <a:off x="48148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44FC983C-8545-BA5E-024C-C6A00C138627}"/>
                </a:ext>
              </a:extLst>
            </p:cNvPr>
            <p:cNvSpPr/>
            <p:nvPr/>
          </p:nvSpPr>
          <p:spPr>
            <a:xfrm>
              <a:off x="72532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196975"/>
            <a:ext cx="845390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Closing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6" name="Titel 1">
            <a:extLst>
              <a:ext uri="{FF2B5EF4-FFF2-40B4-BE49-F238E27FC236}">
                <a16:creationId xmlns:a16="http://schemas.microsoft.com/office/drawing/2014/main" id="{BB5090ED-C01C-CFF0-F53C-C02277DEC9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070163"/>
            <a:ext cx="5538787" cy="2111312"/>
          </a:xfrm>
        </p:spPr>
        <p:txBody>
          <a:bodyPr vert="horz"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Enabling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shape</a:t>
            </a:r>
            <a:r>
              <a:rPr lang="de-DE"/>
              <a:t> a </a:t>
            </a:r>
            <a:r>
              <a:rPr lang="de-DE" err="1"/>
              <a:t>better</a:t>
            </a:r>
            <a:r>
              <a:rPr lang="de-DE"/>
              <a:t> </a:t>
            </a:r>
            <a:r>
              <a:rPr lang="de-DE" err="1"/>
              <a:t>tomorrow</a:t>
            </a:r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924A48-BBBD-C395-CAC0-DB64DA72C549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06452" y="4545128"/>
            <a:ext cx="11377507" cy="158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t"/>
          <a:lstStyle/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MHP Management- und IT-</a:t>
            </a:r>
            <a:r>
              <a:rPr lang="en-US" sz="1400" b="1" noProof="0" err="1">
                <a:solidFill>
                  <a:schemeClr val="bg1"/>
                </a:solidFill>
                <a:latin typeface="+mn-lt"/>
                <a:cs typeface="Segoe UI"/>
              </a:rPr>
              <a:t>Beratung</a:t>
            </a: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 GmbH</a:t>
            </a:r>
            <a:b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</a:br>
            <a:b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</a:b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Film- und </a:t>
            </a: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</a:rPr>
              <a:t>Medienzentrum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 l Königsallee 49 l D-71638 Ludwigsburg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Telefon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 +49 (0)7141 7856-0 l Fax +49 (0)7141 7856-199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E-Mail info@mhp.com l Internet www.mhp.com</a:t>
            </a:r>
          </a:p>
        </p:txBody>
      </p:sp>
    </p:spTree>
    <p:extLst>
      <p:ext uri="{BB962C8B-B14F-4D97-AF65-F5344CB8AC3E}">
        <p14:creationId xmlns:p14="http://schemas.microsoft.com/office/powerpoint/2010/main" val="308064676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43">
            <a:extLst>
              <a:ext uri="{FF2B5EF4-FFF2-40B4-BE49-F238E27FC236}">
                <a16:creationId xmlns:a16="http://schemas.microsoft.com/office/drawing/2014/main" id="{E076C8B9-B697-985C-9F2C-666948479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264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196975"/>
            <a:ext cx="845390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Closing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6" name="Titel 1">
            <a:extLst>
              <a:ext uri="{FF2B5EF4-FFF2-40B4-BE49-F238E27FC236}">
                <a16:creationId xmlns:a16="http://schemas.microsoft.com/office/drawing/2014/main" id="{BB5090ED-C01C-CFF0-F53C-C02277DEC9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070163"/>
            <a:ext cx="6776583" cy="2082737"/>
          </a:xfrm>
        </p:spPr>
        <p:txBody>
          <a:bodyPr vert="horz"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create</a:t>
            </a:r>
            <a:r>
              <a:rPr lang="de-DE"/>
              <a:t> digital </a:t>
            </a:r>
            <a:r>
              <a:rPr lang="de-DE" err="1"/>
              <a:t>futures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sustainable</a:t>
            </a:r>
            <a:r>
              <a:rPr lang="de-DE"/>
              <a:t> </a:t>
            </a:r>
            <a:r>
              <a:rPr lang="de-DE" err="1"/>
              <a:t>impact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world</a:t>
            </a:r>
            <a:r>
              <a:rPr lang="de-DE"/>
              <a:t>.</a:t>
            </a:r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924A48-BBBD-C395-CAC0-DB64DA72C5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06452" y="4545128"/>
            <a:ext cx="11377507" cy="158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t"/>
          <a:lstStyle/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MHP Management- und IT-</a:t>
            </a:r>
            <a:r>
              <a:rPr lang="en-US" sz="1400" b="1" noProof="0" err="1">
                <a:solidFill>
                  <a:schemeClr val="bg1"/>
                </a:solidFill>
                <a:latin typeface="+mn-lt"/>
                <a:cs typeface="Segoe UI"/>
              </a:rPr>
              <a:t>Beratung</a:t>
            </a: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 GmbH</a:t>
            </a:r>
            <a:b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</a:br>
            <a:b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</a:b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Film- und </a:t>
            </a: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</a:rPr>
              <a:t>Medienzentrum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 l Königsallee 49 l D-71638 Ludwigsburg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Telefon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 +49 (0)7141 7856-0 l Fax +49 (0)7141 7856-199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E-Mail info@mhp.com l Internet www.mhp.com</a:t>
            </a:r>
          </a:p>
        </p:txBody>
      </p:sp>
    </p:spTree>
    <p:extLst>
      <p:ext uri="{BB962C8B-B14F-4D97-AF65-F5344CB8AC3E}">
        <p14:creationId xmlns:p14="http://schemas.microsoft.com/office/powerpoint/2010/main" val="258471413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ckup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B8F842D-9083-B1BD-7D8C-C56B343C4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ltGray">
          <a:xfrm>
            <a:off x="1309630" y="0"/>
            <a:ext cx="108823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99538" y="219691"/>
            <a:ext cx="8859262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538" y="404813"/>
            <a:ext cx="8859262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E64BB44E-8903-4313-BBED-09991CD8D6D8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599538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DCE383B-B4CB-D8AA-5C55-D327BB575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1708CD1-5A76-E2DB-806E-0BAD37B53A6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04009-0C96-7E23-3EFA-A798C3A242F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BAAD31-2C49-D204-0DE2-6934CEE5E09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62F645B-E904-D21B-327C-985D7AED36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561A794-66AC-EFDE-4A7F-17CFB93B065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5CC678F-27F6-7AE0-8847-BA3D6BD54A8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CF7ECAA-200A-A95E-EB52-147B9E4877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489C938-8BA4-3B07-5367-EE0552D6C30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212BFEA-B83D-CE02-8141-41BBCB3C7FE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A5D9973-799E-3144-7CA9-06D643FF64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A2E963B-62F9-A78F-756B-9DE1DCEC3D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A0A86D6-9908-EAB3-BF97-BDF51BCC44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2A1CAB6-4449-1418-7391-A03737305A4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0417F03-5C24-A23E-2465-4FA6299C57A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E636C30-2752-3571-DA71-B0674682A85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2F58AFD-B196-E7E8-1CAD-56732E7CE0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AB30FB4-4AD5-2923-0E51-ECCE53A2F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3C54911-B0A4-0978-65D9-BCF7927CCE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DAD8C20-1D2C-46EA-E924-E176B21E5D6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3C09416-1474-540C-D335-18198A1B7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A9D8461-872B-97D8-1926-05C916E208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0036A20-41CF-1407-D4BE-A954ED74E51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09F7526-61EF-7A8C-5F7D-23E3A866CE6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98174665-FCC3-C9CA-E15E-4D9FD042A68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37101" y="1484313"/>
            <a:ext cx="5644874" cy="228295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Picture Placeholder 68">
            <a:extLst>
              <a:ext uri="{FF2B5EF4-FFF2-40B4-BE49-F238E27FC236}">
                <a16:creationId xmlns:a16="http://schemas.microsoft.com/office/drawing/2014/main" id="{679F76BB-3934-B326-E04A-BD665DF1C72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2620736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3" name="Textplatzhalter 52">
            <a:extLst>
              <a:ext uri="{FF2B5EF4-FFF2-40B4-BE49-F238E27FC236}">
                <a16:creationId xmlns:a16="http://schemas.microsoft.com/office/drawing/2014/main" id="{C2E65DBB-1B91-D658-C51E-5AEB43184D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37102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endParaRPr lang="en-CA"/>
          </a:p>
        </p:txBody>
      </p:sp>
      <p:sp>
        <p:nvSpPr>
          <p:cNvPr id="32" name="Text Placeholder 60">
            <a:extLst>
              <a:ext uri="{FF2B5EF4-FFF2-40B4-BE49-F238E27FC236}">
                <a16:creationId xmlns:a16="http://schemas.microsoft.com/office/drawing/2014/main" id="{0D0390FA-F3C6-50BF-BA23-A70DDC5CD6B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2537101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2" name="Picture Placeholder 68">
            <a:extLst>
              <a:ext uri="{FF2B5EF4-FFF2-40B4-BE49-F238E27FC236}">
                <a16:creationId xmlns:a16="http://schemas.microsoft.com/office/drawing/2014/main" id="{FA39E7D7-A690-5733-1347-C8D6142D2E9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792546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67E8A32B-DB76-A46F-1D4E-614BDE62398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96088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endParaRPr lang="en-CA"/>
          </a:p>
        </p:txBody>
      </p:sp>
      <p:sp>
        <p:nvSpPr>
          <p:cNvPr id="36" name="Text Placeholder 60">
            <a:extLst>
              <a:ext uri="{FF2B5EF4-FFF2-40B4-BE49-F238E27FC236}">
                <a16:creationId xmlns:a16="http://schemas.microsoft.com/office/drawing/2014/main" id="{3603C341-4C82-045D-3CFB-4E80000771E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96087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</a:t>
            </a:r>
          </a:p>
        </p:txBody>
      </p:sp>
      <p:pic>
        <p:nvPicPr>
          <p:cNvPr id="64" name="Grafik 58">
            <a:extLst>
              <a:ext uri="{FF2B5EF4-FFF2-40B4-BE49-F238E27FC236}">
                <a16:creationId xmlns:a16="http://schemas.microsoft.com/office/drawing/2014/main" id="{DC60D63F-C251-9360-1F6C-E38A18370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746" t="10016" r="9733" b="12094"/>
          <a:stretch/>
        </p:blipFill>
        <p:spPr>
          <a:xfrm>
            <a:off x="2162175" y="2085974"/>
            <a:ext cx="2749240" cy="3012657"/>
          </a:xfrm>
          <a:prstGeom prst="rect">
            <a:avLst/>
          </a:prstGeom>
        </p:spPr>
      </p:pic>
      <p:pic>
        <p:nvPicPr>
          <p:cNvPr id="73" name="Grafik 58">
            <a:extLst>
              <a:ext uri="{FF2B5EF4-FFF2-40B4-BE49-F238E27FC236}">
                <a16:creationId xmlns:a16="http://schemas.microsoft.com/office/drawing/2014/main" id="{78045078-2D0D-151A-92E2-874FAD24E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499" t="10016" r="12236" b="13019"/>
          <a:stretch/>
        </p:blipFill>
        <p:spPr>
          <a:xfrm>
            <a:off x="5427993" y="2085974"/>
            <a:ext cx="2569778" cy="2976880"/>
          </a:xfrm>
          <a:prstGeom prst="rect">
            <a:avLst/>
          </a:prstGeom>
        </p:spPr>
      </p:pic>
      <p:sp>
        <p:nvSpPr>
          <p:cNvPr id="74" name="Picture Placeholder 68">
            <a:extLst>
              <a:ext uri="{FF2B5EF4-FFF2-40B4-BE49-F238E27FC236}">
                <a16:creationId xmlns:a16="http://schemas.microsoft.com/office/drawing/2014/main" id="{51C12959-3214-035C-E914-CF251D2E74B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38770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31" name="Textplatzhalter 52">
            <a:extLst>
              <a:ext uri="{FF2B5EF4-FFF2-40B4-BE49-F238E27FC236}">
                <a16:creationId xmlns:a16="http://schemas.microsoft.com/office/drawing/2014/main" id="{D6437E68-9F6F-183B-425B-3612F5C478A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54066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endParaRPr lang="en-CA"/>
          </a:p>
        </p:txBody>
      </p:sp>
      <p:sp>
        <p:nvSpPr>
          <p:cNvPr id="37" name="Text Placeholder 60">
            <a:extLst>
              <a:ext uri="{FF2B5EF4-FFF2-40B4-BE49-F238E27FC236}">
                <a16:creationId xmlns:a16="http://schemas.microsoft.com/office/drawing/2014/main" id="{CB4E9C1A-78FF-7B50-DFF4-19FC8747252D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857280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</a:t>
            </a:r>
          </a:p>
        </p:txBody>
      </p:sp>
      <p:pic>
        <p:nvPicPr>
          <p:cNvPr id="75" name="Grafik 58">
            <a:extLst>
              <a:ext uri="{FF2B5EF4-FFF2-40B4-BE49-F238E27FC236}">
                <a16:creationId xmlns:a16="http://schemas.microsoft.com/office/drawing/2014/main" id="{E35B035C-EFF2-40C3-9828-8C16D944B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811" t="9091" r="6231" b="13019"/>
          <a:stretch/>
        </p:blipFill>
        <p:spPr>
          <a:xfrm>
            <a:off x="8584850" y="2050196"/>
            <a:ext cx="2764146" cy="301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73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05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5832476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7E0BF23C-788A-C0F6-0F5F-FAE1BEAA72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69300" y="1587245"/>
            <a:ext cx="2162283" cy="4684974"/>
          </a:xfrm>
          <a:prstGeom prst="roundRect">
            <a:avLst>
              <a:gd name="adj" fmla="val 9527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1F9E3-B2D8-0F8D-B256-0ADEBB03E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935" y="1425008"/>
            <a:ext cx="3574615" cy="5625797"/>
          </a:xfrm>
          <a:prstGeom prst="rect">
            <a:avLst/>
          </a:prstGeom>
        </p:spPr>
      </p:pic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51792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5832476" cy="4897437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7E0BF23C-788A-C0F6-0F5F-FAE1BEAA72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69300" y="1587245"/>
            <a:ext cx="2162283" cy="4684974"/>
          </a:xfrm>
          <a:prstGeom prst="roundRect">
            <a:avLst>
              <a:gd name="adj" fmla="val 9527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1F9E3-B2D8-0F8D-B256-0ADEBB03E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935" y="1425008"/>
            <a:ext cx="3574615" cy="5625797"/>
          </a:xfrm>
          <a:prstGeom prst="rect">
            <a:avLst/>
          </a:prstGeom>
        </p:spPr>
      </p:pic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FC420329-DCAA-8421-EAF7-164ECDCE61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E24DDCE8-3617-85AC-02B4-FC8C933F1D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8A8E41-8065-9690-F4F1-825DD1C9F8B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39FA78-7298-1B4F-DA4E-A41879174F3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23B13956-CE69-6918-D1F7-80FF5BC1CB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0EF8E941-617C-A1F3-5D74-A02D1740816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B4F927CA-B7B2-509C-C5D9-3D04D0AC3C4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54A6493F-BB8C-F071-A97A-799E6AD1EE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2D84269C-1683-E06F-4CDB-E7800E5129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DA1E169F-0228-D5D8-B7B4-F13EB2E1B5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75F5CEB5-F4BC-856C-710D-F2C4F5BFB0B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0473723-F962-18D8-73DE-303F8968F6D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A0E50E9B-E534-E453-6719-67E2B74C0EE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B42C1050-F1CF-F10B-3122-BE9CD7BC54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88EE4E2F-D3CF-E3CB-02CB-758085FD5AC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DB32BAD2-53D2-4994-165E-F136DA71B07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832AB545-6DA6-0333-F51D-ACF0323374D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B08D574-C6DF-EE3F-F68E-2CD332C08A0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EDF93916-25CF-9543-9337-B35DA30CCE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83DA72D2-1421-53ED-F1E4-E251B165C6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DB8BBFBC-1C8A-E1C2-146C-6048D3BEE7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C4953B43-C951-5ECB-3B89-09BAF1118E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BC977B98-F816-B34F-A5F7-81BD272629A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66858941-620B-1685-889D-54E8A6145B0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42087207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5B6EF35A-BC8C-36EF-8113-93A21C7469B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53B892B6-98A2-8F8F-1564-9C8BB90052E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7" y="325434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55C9223E-32BF-3983-5E9C-2FFF298D49C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07987" y="502437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1A00CD3-3A79-0975-BD7A-6E6BAA310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677" y="1365373"/>
            <a:ext cx="7259979" cy="5463134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80389" y="1660574"/>
            <a:ext cx="6005761" cy="4517976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A26A7C-E6C1-332A-FCA4-D7706F34E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2878283"/>
            <a:ext cx="3903080" cy="0"/>
          </a:xfrm>
          <a:prstGeom prst="line">
            <a:avLst/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5F5FC8-3452-AD47-7777-10A5179C9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4648313"/>
            <a:ext cx="3903080" cy="0"/>
          </a:xfrm>
          <a:prstGeom prst="line">
            <a:avLst/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30480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A00CD3-3A79-0975-BD7A-6E6BAA310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677" y="1365373"/>
            <a:ext cx="7259979" cy="5463134"/>
          </a:xfrm>
          <a:prstGeom prst="rect">
            <a:avLst/>
          </a:prstGeom>
        </p:spPr>
      </p:pic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5B6EF35A-BC8C-36EF-8113-93A21C7469B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53B892B6-98A2-8F8F-1564-9C8BB90052E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7" y="325434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55C9223E-32BF-3983-5E9C-2FFF298D49C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07987" y="502437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80389" y="1660574"/>
            <a:ext cx="6005761" cy="4517976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A26A7C-E6C1-332A-FCA4-D7706F34E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2878283"/>
            <a:ext cx="3903080" cy="0"/>
          </a:xfrm>
          <a:prstGeom prst="line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5F5FC8-3452-AD47-7777-10A5179C9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4648313"/>
            <a:ext cx="3903080" cy="0"/>
          </a:xfrm>
          <a:prstGeom prst="line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A1ADCB0D-E987-9BD2-8F72-9A8B8D272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5B95A1CC-62B7-0D05-3EEB-3FDB435C37E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BA48456-EE59-6314-6769-C4AD2FDF89C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559A7E0-78FB-6A4B-2759-919BDD3E3D7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F1B20C79-4B71-48D1-0878-299B267BCAF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5A745886-FB26-ECC3-2562-99D7CDF5EDF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AAC1023E-7065-67AB-FA77-C84257693C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D4CB867E-6E50-7D54-52A8-13FEF8EA49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id="{70E9E0B7-0960-3CBD-A8A7-2C72F46C35D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15">
              <a:extLst>
                <a:ext uri="{FF2B5EF4-FFF2-40B4-BE49-F238E27FC236}">
                  <a16:creationId xmlns:a16="http://schemas.microsoft.com/office/drawing/2014/main" id="{7172BE78-D9DF-EA4D-6242-01E4681B62D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3CB5D193-4B3B-D3A9-B758-5EAC1E241D9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17">
              <a:extLst>
                <a:ext uri="{FF2B5EF4-FFF2-40B4-BE49-F238E27FC236}">
                  <a16:creationId xmlns:a16="http://schemas.microsoft.com/office/drawing/2014/main" id="{9104682E-FA90-01FB-9DD0-0E8EABDB1F1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23D10B33-D88E-69A9-6F27-EA69156FB1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id="{EEB0B6C7-E3F2-9AE6-701B-44911AA340D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0">
              <a:extLst>
                <a:ext uri="{FF2B5EF4-FFF2-40B4-BE49-F238E27FC236}">
                  <a16:creationId xmlns:a16="http://schemas.microsoft.com/office/drawing/2014/main" id="{904A9D67-5887-7EC2-5C46-3B7BBC1A750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D5A578D-F051-E12E-5CD0-9321100DF05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489B747B-062A-E40D-AD74-915331FED5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75D027F0-B559-A3A4-7FAE-D7FFC7A595C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4">
              <a:extLst>
                <a:ext uri="{FF2B5EF4-FFF2-40B4-BE49-F238E27FC236}">
                  <a16:creationId xmlns:a16="http://schemas.microsoft.com/office/drawing/2014/main" id="{1E4742C6-102F-6E65-DB1D-C4D7954826B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5">
              <a:extLst>
                <a:ext uri="{FF2B5EF4-FFF2-40B4-BE49-F238E27FC236}">
                  <a16:creationId xmlns:a16="http://schemas.microsoft.com/office/drawing/2014/main" id="{CEB3BADB-A3F5-781B-359C-1F6E6292EAE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307C1B5C-D160-6035-0D35-144F967D53F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7">
              <a:extLst>
                <a:ext uri="{FF2B5EF4-FFF2-40B4-BE49-F238E27FC236}">
                  <a16:creationId xmlns:a16="http://schemas.microsoft.com/office/drawing/2014/main" id="{92F83589-CC5F-FEC5-5C54-1A256FCA63A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4FC24CB5-6F49-E00A-BA66-83680EE9867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29">
              <a:extLst>
                <a:ext uri="{FF2B5EF4-FFF2-40B4-BE49-F238E27FC236}">
                  <a16:creationId xmlns:a16="http://schemas.microsoft.com/office/drawing/2014/main" id="{92630830-A21E-BFC8-0E78-EF108468631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0084009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3600451" cy="4897437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23" name="Picture Placeholder 24">
            <a:extLst>
              <a:ext uri="{FF2B5EF4-FFF2-40B4-BE49-F238E27FC236}">
                <a16:creationId xmlns:a16="http://schemas.microsoft.com/office/drawing/2014/main" id="{A09BCFC0-0F84-34A0-AD8B-6321349C9D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27869" y="1569050"/>
            <a:ext cx="5389694" cy="3031703"/>
          </a:xfrm>
          <a:custGeom>
            <a:avLst/>
            <a:gdLst>
              <a:gd name="connsiteX0" fmla="*/ 0 w 5389694"/>
              <a:gd name="connsiteY0" fmla="*/ 0 h 3031703"/>
              <a:gd name="connsiteX1" fmla="*/ 5389694 w 5389694"/>
              <a:gd name="connsiteY1" fmla="*/ 0 h 3031703"/>
              <a:gd name="connsiteX2" fmla="*/ 5389694 w 5389694"/>
              <a:gd name="connsiteY2" fmla="*/ 3031703 h 3031703"/>
              <a:gd name="connsiteX3" fmla="*/ 1352550 w 5389694"/>
              <a:gd name="connsiteY3" fmla="*/ 3031703 h 3031703"/>
              <a:gd name="connsiteX4" fmla="*/ 303411 w 5389694"/>
              <a:gd name="connsiteY4" fmla="*/ 3031703 h 3031703"/>
              <a:gd name="connsiteX5" fmla="*/ 303411 w 5389694"/>
              <a:gd name="connsiteY5" fmla="*/ 2452577 h 3031703"/>
              <a:gd name="connsiteX6" fmla="*/ 305990 w 5389694"/>
              <a:gd name="connsiteY6" fmla="*/ 2452577 h 3031703"/>
              <a:gd name="connsiteX7" fmla="*/ 313728 w 5389694"/>
              <a:gd name="connsiteY7" fmla="*/ 2447419 h 3031703"/>
              <a:gd name="connsiteX8" fmla="*/ 313728 w 5389694"/>
              <a:gd name="connsiteY8" fmla="*/ 2073418 h 3031703"/>
              <a:gd name="connsiteX9" fmla="*/ 305990 w 5389694"/>
              <a:gd name="connsiteY9" fmla="*/ 2068259 h 3031703"/>
              <a:gd name="connsiteX10" fmla="*/ 303411 w 5389694"/>
              <a:gd name="connsiteY10" fmla="*/ 2068259 h 3031703"/>
              <a:gd name="connsiteX11" fmla="*/ 303411 w 5389694"/>
              <a:gd name="connsiteY11" fmla="*/ 1511128 h 3031703"/>
              <a:gd name="connsiteX12" fmla="*/ 226032 w 5389694"/>
              <a:gd name="connsiteY12" fmla="*/ 1315100 h 3031703"/>
              <a:gd name="connsiteX13" fmla="*/ 37742 w 5389694"/>
              <a:gd name="connsiteY13" fmla="*/ 1245458 h 3031703"/>
              <a:gd name="connsiteX14" fmla="*/ 0 w 5389694"/>
              <a:gd name="connsiteY14" fmla="*/ 1245458 h 3031703"/>
              <a:gd name="connsiteX15" fmla="*/ 0 w 5389694"/>
              <a:gd name="connsiteY15" fmla="*/ 1056853 h 303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89694" h="3031703">
                <a:moveTo>
                  <a:pt x="0" y="0"/>
                </a:moveTo>
                <a:lnTo>
                  <a:pt x="5389694" y="0"/>
                </a:lnTo>
                <a:lnTo>
                  <a:pt x="5389694" y="3031703"/>
                </a:lnTo>
                <a:lnTo>
                  <a:pt x="1352550" y="3031703"/>
                </a:lnTo>
                <a:lnTo>
                  <a:pt x="303411" y="3031703"/>
                </a:lnTo>
                <a:lnTo>
                  <a:pt x="303411" y="2452577"/>
                </a:lnTo>
                <a:lnTo>
                  <a:pt x="305990" y="2452577"/>
                </a:lnTo>
                <a:lnTo>
                  <a:pt x="313728" y="2447419"/>
                </a:lnTo>
                <a:lnTo>
                  <a:pt x="313728" y="2073418"/>
                </a:lnTo>
                <a:lnTo>
                  <a:pt x="305990" y="2068259"/>
                </a:lnTo>
                <a:lnTo>
                  <a:pt x="303411" y="2068259"/>
                </a:lnTo>
                <a:lnTo>
                  <a:pt x="303411" y="1511128"/>
                </a:lnTo>
                <a:cubicBezTo>
                  <a:pt x="303411" y="1511128"/>
                  <a:pt x="302336" y="1385924"/>
                  <a:pt x="226032" y="1315100"/>
                </a:cubicBezTo>
                <a:cubicBezTo>
                  <a:pt x="150909" y="1245351"/>
                  <a:pt x="37742" y="1245458"/>
                  <a:pt x="37742" y="1245458"/>
                </a:cubicBezTo>
                <a:lnTo>
                  <a:pt x="0" y="1245458"/>
                </a:lnTo>
                <a:lnTo>
                  <a:pt x="0" y="105685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pic>
        <p:nvPicPr>
          <p:cNvPr id="22" name="Grafik 15">
            <a:extLst>
              <a:ext uri="{FF2B5EF4-FFF2-40B4-BE49-F238E27FC236}">
                <a16:creationId xmlns:a16="http://schemas.microsoft.com/office/drawing/2014/main" id="{B6468952-CF4F-798C-A2F4-C7F5AA9E7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692" y="1371870"/>
            <a:ext cx="5776048" cy="520482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C9BD4D2-4E2A-A0AF-6AAC-022038E51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59" y="2754636"/>
            <a:ext cx="2620583" cy="4124324"/>
          </a:xfrm>
          <a:prstGeom prst="rect">
            <a:avLst/>
          </a:prstGeom>
        </p:spPr>
      </p:pic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840AC07D-7406-F2AA-3F03-C74E178895E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760119" y="2900918"/>
            <a:ext cx="1578769" cy="3404161"/>
          </a:xfrm>
          <a:custGeom>
            <a:avLst/>
            <a:gdLst>
              <a:gd name="connsiteX0" fmla="*/ 219387 w 2231231"/>
              <a:gd name="connsiteY0" fmla="*/ 40 h 4833612"/>
              <a:gd name="connsiteX1" fmla="*/ 223489 w 2231231"/>
              <a:gd name="connsiteY1" fmla="*/ 207 h 4833612"/>
              <a:gd name="connsiteX2" fmla="*/ 520254 w 2231231"/>
              <a:gd name="connsiteY2" fmla="*/ 207 h 4833612"/>
              <a:gd name="connsiteX3" fmla="*/ 545900 w 2231231"/>
              <a:gd name="connsiteY3" fmla="*/ 11198 h 4833612"/>
              <a:gd name="connsiteX4" fmla="*/ 553228 w 2231231"/>
              <a:gd name="connsiteY4" fmla="*/ 29517 h 4833612"/>
              <a:gd name="connsiteX5" fmla="*/ 553228 w 2231231"/>
              <a:gd name="connsiteY5" fmla="*/ 58827 h 4833612"/>
              <a:gd name="connsiteX6" fmla="*/ 589866 w 2231231"/>
              <a:gd name="connsiteY6" fmla="*/ 128439 h 4833612"/>
              <a:gd name="connsiteX7" fmla="*/ 659477 w 2231231"/>
              <a:gd name="connsiteY7" fmla="*/ 161412 h 4833612"/>
              <a:gd name="connsiteX8" fmla="*/ 1571754 w 2231231"/>
              <a:gd name="connsiteY8" fmla="*/ 161412 h 4833612"/>
              <a:gd name="connsiteX9" fmla="*/ 1637702 w 2231231"/>
              <a:gd name="connsiteY9" fmla="*/ 121111 h 4833612"/>
              <a:gd name="connsiteX10" fmla="*/ 1667012 w 2231231"/>
              <a:gd name="connsiteY10" fmla="*/ 25853 h 4833612"/>
              <a:gd name="connsiteX11" fmla="*/ 1678003 w 2231231"/>
              <a:gd name="connsiteY11" fmla="*/ 7534 h 4833612"/>
              <a:gd name="connsiteX12" fmla="*/ 1699986 w 2231231"/>
              <a:gd name="connsiteY12" fmla="*/ 207 h 4833612"/>
              <a:gd name="connsiteX13" fmla="*/ 1985759 w 2231231"/>
              <a:gd name="connsiteY13" fmla="*/ 207 h 4833612"/>
              <a:gd name="connsiteX14" fmla="*/ 2168947 w 2231231"/>
              <a:gd name="connsiteY14" fmla="*/ 69818 h 4833612"/>
              <a:gd name="connsiteX15" fmla="*/ 2231231 w 2231231"/>
              <a:gd name="connsiteY15" fmla="*/ 227360 h 4833612"/>
              <a:gd name="connsiteX16" fmla="*/ 2231231 w 2231231"/>
              <a:gd name="connsiteY16" fmla="*/ 4612883 h 4833612"/>
              <a:gd name="connsiteX17" fmla="*/ 2183602 w 2231231"/>
              <a:gd name="connsiteY17" fmla="*/ 4759434 h 4833612"/>
              <a:gd name="connsiteX18" fmla="*/ 2044379 w 2231231"/>
              <a:gd name="connsiteY18" fmla="*/ 4832709 h 4833612"/>
              <a:gd name="connsiteX19" fmla="*/ 1674339 w 2231231"/>
              <a:gd name="connsiteY19" fmla="*/ 4832709 h 4833612"/>
              <a:gd name="connsiteX20" fmla="*/ 227153 w 2231231"/>
              <a:gd name="connsiteY20" fmla="*/ 4832709 h 4833612"/>
              <a:gd name="connsiteX21" fmla="*/ 51293 w 2231231"/>
              <a:gd name="connsiteY21" fmla="*/ 4766761 h 4833612"/>
              <a:gd name="connsiteX22" fmla="*/ 0 w 2231231"/>
              <a:gd name="connsiteY22" fmla="*/ 4612883 h 4833612"/>
              <a:gd name="connsiteX23" fmla="*/ 0 w 2231231"/>
              <a:gd name="connsiteY23" fmla="*/ 209041 h 4833612"/>
              <a:gd name="connsiteX24" fmla="*/ 65948 w 2231231"/>
              <a:gd name="connsiteY24" fmla="*/ 58827 h 4833612"/>
              <a:gd name="connsiteX25" fmla="*/ 219387 w 2231231"/>
              <a:gd name="connsiteY25" fmla="*/ 40 h 483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231231" h="4833612">
                <a:moveTo>
                  <a:pt x="219387" y="40"/>
                </a:moveTo>
                <a:cubicBezTo>
                  <a:pt x="222044" y="100"/>
                  <a:pt x="223489" y="207"/>
                  <a:pt x="223489" y="207"/>
                </a:cubicBezTo>
                <a:lnTo>
                  <a:pt x="520254" y="207"/>
                </a:lnTo>
                <a:cubicBezTo>
                  <a:pt x="520254" y="207"/>
                  <a:pt x="532925" y="-1777"/>
                  <a:pt x="545900" y="11198"/>
                </a:cubicBezTo>
                <a:cubicBezTo>
                  <a:pt x="553228" y="18526"/>
                  <a:pt x="553228" y="29517"/>
                  <a:pt x="553228" y="29517"/>
                </a:cubicBezTo>
                <a:lnTo>
                  <a:pt x="553228" y="58827"/>
                </a:lnTo>
                <a:cubicBezTo>
                  <a:pt x="553228" y="58827"/>
                  <a:pt x="559487" y="102029"/>
                  <a:pt x="589866" y="128439"/>
                </a:cubicBezTo>
                <a:cubicBezTo>
                  <a:pt x="625893" y="159733"/>
                  <a:pt x="659477" y="161412"/>
                  <a:pt x="659477" y="161412"/>
                </a:cubicBezTo>
                <a:lnTo>
                  <a:pt x="1571754" y="161412"/>
                </a:lnTo>
                <a:cubicBezTo>
                  <a:pt x="1571754" y="161412"/>
                  <a:pt x="1610071" y="156069"/>
                  <a:pt x="1637702" y="121111"/>
                </a:cubicBezTo>
                <a:cubicBezTo>
                  <a:pt x="1668691" y="82031"/>
                  <a:pt x="1667012" y="25853"/>
                  <a:pt x="1667012" y="25853"/>
                </a:cubicBezTo>
                <a:cubicBezTo>
                  <a:pt x="1667012" y="25853"/>
                  <a:pt x="1670523" y="14251"/>
                  <a:pt x="1678003" y="7534"/>
                </a:cubicBezTo>
                <a:cubicBezTo>
                  <a:pt x="1687315" y="-710"/>
                  <a:pt x="1699986" y="207"/>
                  <a:pt x="1699986" y="207"/>
                </a:cubicBezTo>
                <a:lnTo>
                  <a:pt x="1985759" y="207"/>
                </a:lnTo>
                <a:cubicBezTo>
                  <a:pt x="1985759" y="207"/>
                  <a:pt x="2103458" y="-1014"/>
                  <a:pt x="2168947" y="69818"/>
                </a:cubicBezTo>
                <a:cubicBezTo>
                  <a:pt x="2231231" y="137292"/>
                  <a:pt x="2231231" y="227360"/>
                  <a:pt x="2231231" y="227360"/>
                </a:cubicBezTo>
                <a:lnTo>
                  <a:pt x="2231231" y="4612883"/>
                </a:lnTo>
                <a:cubicBezTo>
                  <a:pt x="2231231" y="4612883"/>
                  <a:pt x="2228484" y="4699286"/>
                  <a:pt x="2183602" y="4759434"/>
                </a:cubicBezTo>
                <a:cubicBezTo>
                  <a:pt x="2128341" y="4833472"/>
                  <a:pt x="2044379" y="4832709"/>
                  <a:pt x="2044379" y="4832709"/>
                </a:cubicBezTo>
                <a:lnTo>
                  <a:pt x="1674339" y="4832709"/>
                </a:lnTo>
                <a:lnTo>
                  <a:pt x="227153" y="4832709"/>
                </a:lnTo>
                <a:cubicBezTo>
                  <a:pt x="227153" y="4832709"/>
                  <a:pt x="125789" y="4846449"/>
                  <a:pt x="51293" y="4766761"/>
                </a:cubicBezTo>
                <a:cubicBezTo>
                  <a:pt x="3359" y="4715469"/>
                  <a:pt x="0" y="4612883"/>
                  <a:pt x="0" y="4612883"/>
                </a:cubicBezTo>
                <a:lnTo>
                  <a:pt x="0" y="209041"/>
                </a:lnTo>
                <a:cubicBezTo>
                  <a:pt x="0" y="209041"/>
                  <a:pt x="4581" y="120653"/>
                  <a:pt x="65948" y="58827"/>
                </a:cubicBezTo>
                <a:cubicBezTo>
                  <a:pt x="122851" y="1524"/>
                  <a:pt x="200791" y="-380"/>
                  <a:pt x="219387" y="4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 Picture</a:t>
            </a: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CF0C3A87-E3F5-87AF-2B8D-843F70F35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982324" y="6270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55FB99D7-95D6-3749-7C1E-5CBAE737291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2443F3-43BD-035E-0EDA-06106349976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0D5DEE-4DFB-EB03-9221-7041B4C1AD9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38AA74E-CC77-E11E-721D-D63E1577B6C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4ABA5EB6-6CC8-1D31-BC61-AB014273434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21D6699-F4E7-C506-358D-7F3A2B5090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3AF3BA5-73EE-D50D-BF9C-9C1446B971A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8FD6B84A-6CC3-72DC-1301-979FA3619A5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6855035-4BD0-2106-A140-3E65735FFF6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1E9CD821-9BDD-6690-4FE2-7BC52EF492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963FB983-8A80-2594-EF22-9878CB5DF4B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0EA3A062-DA07-E5D7-FF65-CF07B35CAA1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C6477813-D615-DF19-4A21-DB5FAA81AC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0923692F-3D2C-AF99-DAF4-C86D74742B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01A6DE30-21CD-2938-C970-6519929706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F1731203-7F2A-61B3-8DE9-8D5A3F00E68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8E44528A-F110-57F7-3E90-5AB5E1A5F4F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4A9D8F72-4761-0FFB-395F-76D91A38CA8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0D22E4C9-90D0-3B5C-0755-5DAC76CEC5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66E5988B-CA20-84D2-CD68-259CD1C80F9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7">
              <a:extLst>
                <a:ext uri="{FF2B5EF4-FFF2-40B4-BE49-F238E27FC236}">
                  <a16:creationId xmlns:a16="http://schemas.microsoft.com/office/drawing/2014/main" id="{D4282360-8A90-7054-BDBD-5E6836DD1C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8">
              <a:extLst>
                <a:ext uri="{FF2B5EF4-FFF2-40B4-BE49-F238E27FC236}">
                  <a16:creationId xmlns:a16="http://schemas.microsoft.com/office/drawing/2014/main" id="{1B776756-7D46-AA7B-B0EA-911EC99D06D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D1EC9A03-8370-7E2F-3CA7-9E4FEC9857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0867368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22" name="Grafik 15">
            <a:extLst>
              <a:ext uri="{FF2B5EF4-FFF2-40B4-BE49-F238E27FC236}">
                <a16:creationId xmlns:a16="http://schemas.microsoft.com/office/drawing/2014/main" id="{B6468952-CF4F-798C-A2F4-C7F5AA9E7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692" y="1371870"/>
            <a:ext cx="5776048" cy="5204824"/>
          </a:xfrm>
          <a:prstGeom prst="rect">
            <a:avLst/>
          </a:prstGeom>
        </p:spPr>
      </p:pic>
      <p:sp>
        <p:nvSpPr>
          <p:cNvPr id="23" name="Picture Placeholder 24">
            <a:extLst>
              <a:ext uri="{FF2B5EF4-FFF2-40B4-BE49-F238E27FC236}">
                <a16:creationId xmlns:a16="http://schemas.microsoft.com/office/drawing/2014/main" id="{A09BCFC0-0F84-34A0-AD8B-6321349C9D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27869" y="1569050"/>
            <a:ext cx="5389694" cy="3031703"/>
          </a:xfrm>
          <a:custGeom>
            <a:avLst/>
            <a:gdLst>
              <a:gd name="connsiteX0" fmla="*/ 0 w 5389694"/>
              <a:gd name="connsiteY0" fmla="*/ 0 h 3031703"/>
              <a:gd name="connsiteX1" fmla="*/ 5389694 w 5389694"/>
              <a:gd name="connsiteY1" fmla="*/ 0 h 3031703"/>
              <a:gd name="connsiteX2" fmla="*/ 5389694 w 5389694"/>
              <a:gd name="connsiteY2" fmla="*/ 3031703 h 3031703"/>
              <a:gd name="connsiteX3" fmla="*/ 1352550 w 5389694"/>
              <a:gd name="connsiteY3" fmla="*/ 3031703 h 3031703"/>
              <a:gd name="connsiteX4" fmla="*/ 303411 w 5389694"/>
              <a:gd name="connsiteY4" fmla="*/ 3031703 h 3031703"/>
              <a:gd name="connsiteX5" fmla="*/ 303411 w 5389694"/>
              <a:gd name="connsiteY5" fmla="*/ 2452577 h 3031703"/>
              <a:gd name="connsiteX6" fmla="*/ 305990 w 5389694"/>
              <a:gd name="connsiteY6" fmla="*/ 2452577 h 3031703"/>
              <a:gd name="connsiteX7" fmla="*/ 313728 w 5389694"/>
              <a:gd name="connsiteY7" fmla="*/ 2447419 h 3031703"/>
              <a:gd name="connsiteX8" fmla="*/ 313728 w 5389694"/>
              <a:gd name="connsiteY8" fmla="*/ 2073418 h 3031703"/>
              <a:gd name="connsiteX9" fmla="*/ 305990 w 5389694"/>
              <a:gd name="connsiteY9" fmla="*/ 2068259 h 3031703"/>
              <a:gd name="connsiteX10" fmla="*/ 303411 w 5389694"/>
              <a:gd name="connsiteY10" fmla="*/ 2068259 h 3031703"/>
              <a:gd name="connsiteX11" fmla="*/ 303411 w 5389694"/>
              <a:gd name="connsiteY11" fmla="*/ 1511128 h 3031703"/>
              <a:gd name="connsiteX12" fmla="*/ 226032 w 5389694"/>
              <a:gd name="connsiteY12" fmla="*/ 1315100 h 3031703"/>
              <a:gd name="connsiteX13" fmla="*/ 37742 w 5389694"/>
              <a:gd name="connsiteY13" fmla="*/ 1245458 h 3031703"/>
              <a:gd name="connsiteX14" fmla="*/ 0 w 5389694"/>
              <a:gd name="connsiteY14" fmla="*/ 1245458 h 3031703"/>
              <a:gd name="connsiteX15" fmla="*/ 0 w 5389694"/>
              <a:gd name="connsiteY15" fmla="*/ 1056853 h 303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89694" h="3031703">
                <a:moveTo>
                  <a:pt x="0" y="0"/>
                </a:moveTo>
                <a:lnTo>
                  <a:pt x="5389694" y="0"/>
                </a:lnTo>
                <a:lnTo>
                  <a:pt x="5389694" y="3031703"/>
                </a:lnTo>
                <a:lnTo>
                  <a:pt x="1352550" y="3031703"/>
                </a:lnTo>
                <a:lnTo>
                  <a:pt x="303411" y="3031703"/>
                </a:lnTo>
                <a:lnTo>
                  <a:pt x="303411" y="2452577"/>
                </a:lnTo>
                <a:lnTo>
                  <a:pt x="305990" y="2452577"/>
                </a:lnTo>
                <a:lnTo>
                  <a:pt x="313728" y="2447419"/>
                </a:lnTo>
                <a:lnTo>
                  <a:pt x="313728" y="2073418"/>
                </a:lnTo>
                <a:lnTo>
                  <a:pt x="305990" y="2068259"/>
                </a:lnTo>
                <a:lnTo>
                  <a:pt x="303411" y="2068259"/>
                </a:lnTo>
                <a:lnTo>
                  <a:pt x="303411" y="1511128"/>
                </a:lnTo>
                <a:cubicBezTo>
                  <a:pt x="303411" y="1511128"/>
                  <a:pt x="302336" y="1385924"/>
                  <a:pt x="226032" y="1315100"/>
                </a:cubicBezTo>
                <a:cubicBezTo>
                  <a:pt x="150909" y="1245351"/>
                  <a:pt x="37742" y="1245458"/>
                  <a:pt x="37742" y="1245458"/>
                </a:cubicBezTo>
                <a:lnTo>
                  <a:pt x="0" y="1245458"/>
                </a:lnTo>
                <a:lnTo>
                  <a:pt x="0" y="105685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Picture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C9BD4D2-4E2A-A0AF-6AAC-022038E51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59" y="2754636"/>
            <a:ext cx="2620583" cy="4124324"/>
          </a:xfrm>
          <a:prstGeom prst="rect">
            <a:avLst/>
          </a:prstGeom>
        </p:spPr>
      </p:pic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840AC07D-7406-F2AA-3F03-C74E178895E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760119" y="2900918"/>
            <a:ext cx="1578769" cy="3404161"/>
          </a:xfrm>
          <a:custGeom>
            <a:avLst/>
            <a:gdLst>
              <a:gd name="connsiteX0" fmla="*/ 219387 w 2231231"/>
              <a:gd name="connsiteY0" fmla="*/ 40 h 4833612"/>
              <a:gd name="connsiteX1" fmla="*/ 223489 w 2231231"/>
              <a:gd name="connsiteY1" fmla="*/ 207 h 4833612"/>
              <a:gd name="connsiteX2" fmla="*/ 520254 w 2231231"/>
              <a:gd name="connsiteY2" fmla="*/ 207 h 4833612"/>
              <a:gd name="connsiteX3" fmla="*/ 545900 w 2231231"/>
              <a:gd name="connsiteY3" fmla="*/ 11198 h 4833612"/>
              <a:gd name="connsiteX4" fmla="*/ 553228 w 2231231"/>
              <a:gd name="connsiteY4" fmla="*/ 29517 h 4833612"/>
              <a:gd name="connsiteX5" fmla="*/ 553228 w 2231231"/>
              <a:gd name="connsiteY5" fmla="*/ 58827 h 4833612"/>
              <a:gd name="connsiteX6" fmla="*/ 589866 w 2231231"/>
              <a:gd name="connsiteY6" fmla="*/ 128439 h 4833612"/>
              <a:gd name="connsiteX7" fmla="*/ 659477 w 2231231"/>
              <a:gd name="connsiteY7" fmla="*/ 161412 h 4833612"/>
              <a:gd name="connsiteX8" fmla="*/ 1571754 w 2231231"/>
              <a:gd name="connsiteY8" fmla="*/ 161412 h 4833612"/>
              <a:gd name="connsiteX9" fmla="*/ 1637702 w 2231231"/>
              <a:gd name="connsiteY9" fmla="*/ 121111 h 4833612"/>
              <a:gd name="connsiteX10" fmla="*/ 1667012 w 2231231"/>
              <a:gd name="connsiteY10" fmla="*/ 25853 h 4833612"/>
              <a:gd name="connsiteX11" fmla="*/ 1678003 w 2231231"/>
              <a:gd name="connsiteY11" fmla="*/ 7534 h 4833612"/>
              <a:gd name="connsiteX12" fmla="*/ 1699986 w 2231231"/>
              <a:gd name="connsiteY12" fmla="*/ 207 h 4833612"/>
              <a:gd name="connsiteX13" fmla="*/ 1985759 w 2231231"/>
              <a:gd name="connsiteY13" fmla="*/ 207 h 4833612"/>
              <a:gd name="connsiteX14" fmla="*/ 2168947 w 2231231"/>
              <a:gd name="connsiteY14" fmla="*/ 69818 h 4833612"/>
              <a:gd name="connsiteX15" fmla="*/ 2231231 w 2231231"/>
              <a:gd name="connsiteY15" fmla="*/ 227360 h 4833612"/>
              <a:gd name="connsiteX16" fmla="*/ 2231231 w 2231231"/>
              <a:gd name="connsiteY16" fmla="*/ 4612883 h 4833612"/>
              <a:gd name="connsiteX17" fmla="*/ 2183602 w 2231231"/>
              <a:gd name="connsiteY17" fmla="*/ 4759434 h 4833612"/>
              <a:gd name="connsiteX18" fmla="*/ 2044379 w 2231231"/>
              <a:gd name="connsiteY18" fmla="*/ 4832709 h 4833612"/>
              <a:gd name="connsiteX19" fmla="*/ 1674339 w 2231231"/>
              <a:gd name="connsiteY19" fmla="*/ 4832709 h 4833612"/>
              <a:gd name="connsiteX20" fmla="*/ 227153 w 2231231"/>
              <a:gd name="connsiteY20" fmla="*/ 4832709 h 4833612"/>
              <a:gd name="connsiteX21" fmla="*/ 51293 w 2231231"/>
              <a:gd name="connsiteY21" fmla="*/ 4766761 h 4833612"/>
              <a:gd name="connsiteX22" fmla="*/ 0 w 2231231"/>
              <a:gd name="connsiteY22" fmla="*/ 4612883 h 4833612"/>
              <a:gd name="connsiteX23" fmla="*/ 0 w 2231231"/>
              <a:gd name="connsiteY23" fmla="*/ 209041 h 4833612"/>
              <a:gd name="connsiteX24" fmla="*/ 65948 w 2231231"/>
              <a:gd name="connsiteY24" fmla="*/ 58827 h 4833612"/>
              <a:gd name="connsiteX25" fmla="*/ 219387 w 2231231"/>
              <a:gd name="connsiteY25" fmla="*/ 40 h 483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231231" h="4833612">
                <a:moveTo>
                  <a:pt x="219387" y="40"/>
                </a:moveTo>
                <a:cubicBezTo>
                  <a:pt x="222044" y="100"/>
                  <a:pt x="223489" y="207"/>
                  <a:pt x="223489" y="207"/>
                </a:cubicBezTo>
                <a:lnTo>
                  <a:pt x="520254" y="207"/>
                </a:lnTo>
                <a:cubicBezTo>
                  <a:pt x="520254" y="207"/>
                  <a:pt x="532925" y="-1777"/>
                  <a:pt x="545900" y="11198"/>
                </a:cubicBezTo>
                <a:cubicBezTo>
                  <a:pt x="553228" y="18526"/>
                  <a:pt x="553228" y="29517"/>
                  <a:pt x="553228" y="29517"/>
                </a:cubicBezTo>
                <a:lnTo>
                  <a:pt x="553228" y="58827"/>
                </a:lnTo>
                <a:cubicBezTo>
                  <a:pt x="553228" y="58827"/>
                  <a:pt x="559487" y="102029"/>
                  <a:pt x="589866" y="128439"/>
                </a:cubicBezTo>
                <a:cubicBezTo>
                  <a:pt x="625893" y="159733"/>
                  <a:pt x="659477" y="161412"/>
                  <a:pt x="659477" y="161412"/>
                </a:cubicBezTo>
                <a:lnTo>
                  <a:pt x="1571754" y="161412"/>
                </a:lnTo>
                <a:cubicBezTo>
                  <a:pt x="1571754" y="161412"/>
                  <a:pt x="1610071" y="156069"/>
                  <a:pt x="1637702" y="121111"/>
                </a:cubicBezTo>
                <a:cubicBezTo>
                  <a:pt x="1668691" y="82031"/>
                  <a:pt x="1667012" y="25853"/>
                  <a:pt x="1667012" y="25853"/>
                </a:cubicBezTo>
                <a:cubicBezTo>
                  <a:pt x="1667012" y="25853"/>
                  <a:pt x="1670523" y="14251"/>
                  <a:pt x="1678003" y="7534"/>
                </a:cubicBezTo>
                <a:cubicBezTo>
                  <a:pt x="1687315" y="-710"/>
                  <a:pt x="1699986" y="207"/>
                  <a:pt x="1699986" y="207"/>
                </a:cubicBezTo>
                <a:lnTo>
                  <a:pt x="1985759" y="207"/>
                </a:lnTo>
                <a:cubicBezTo>
                  <a:pt x="1985759" y="207"/>
                  <a:pt x="2103458" y="-1014"/>
                  <a:pt x="2168947" y="69818"/>
                </a:cubicBezTo>
                <a:cubicBezTo>
                  <a:pt x="2231231" y="137292"/>
                  <a:pt x="2231231" y="227360"/>
                  <a:pt x="2231231" y="227360"/>
                </a:cubicBezTo>
                <a:lnTo>
                  <a:pt x="2231231" y="4612883"/>
                </a:lnTo>
                <a:cubicBezTo>
                  <a:pt x="2231231" y="4612883"/>
                  <a:pt x="2228484" y="4699286"/>
                  <a:pt x="2183602" y="4759434"/>
                </a:cubicBezTo>
                <a:cubicBezTo>
                  <a:pt x="2128341" y="4833472"/>
                  <a:pt x="2044379" y="4832709"/>
                  <a:pt x="2044379" y="4832709"/>
                </a:cubicBezTo>
                <a:lnTo>
                  <a:pt x="1674339" y="4832709"/>
                </a:lnTo>
                <a:lnTo>
                  <a:pt x="227153" y="4832709"/>
                </a:lnTo>
                <a:cubicBezTo>
                  <a:pt x="227153" y="4832709"/>
                  <a:pt x="125789" y="4846449"/>
                  <a:pt x="51293" y="4766761"/>
                </a:cubicBezTo>
                <a:cubicBezTo>
                  <a:pt x="3359" y="4715469"/>
                  <a:pt x="0" y="4612883"/>
                  <a:pt x="0" y="4612883"/>
                </a:cubicBezTo>
                <a:lnTo>
                  <a:pt x="0" y="209041"/>
                </a:lnTo>
                <a:cubicBezTo>
                  <a:pt x="0" y="209041"/>
                  <a:pt x="4581" y="120653"/>
                  <a:pt x="65948" y="58827"/>
                </a:cubicBezTo>
                <a:cubicBezTo>
                  <a:pt x="122851" y="1524"/>
                  <a:pt x="200791" y="-380"/>
                  <a:pt x="219387" y="4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 Picture </a:t>
            </a:r>
          </a:p>
        </p:txBody>
      </p:sp>
    </p:spTree>
    <p:extLst>
      <p:ext uri="{BB962C8B-B14F-4D97-AF65-F5344CB8AC3E}">
        <p14:creationId xmlns:p14="http://schemas.microsoft.com/office/powerpoint/2010/main" val="22388753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13389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7436" y="951235"/>
            <a:ext cx="9757128" cy="560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8677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13389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7436" y="951235"/>
            <a:ext cx="9757128" cy="5600592"/>
          </a:xfrm>
          <a:prstGeom prst="rect">
            <a:avLst/>
          </a:prstGeom>
        </p:spPr>
      </p:pic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D006779B-92AC-B4F2-9F07-D570A80AE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7F487BCE-DAEE-F788-7162-7682761E0B4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98ADAD1-BFDA-0F95-4F3D-938FD173E0F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6441F81-48CD-1968-A77A-5621902B75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648405BD-7955-4A2E-0952-8745D5E8F4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568FC722-D8E1-EA84-1F34-5ED0485A9FC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CA560CBA-BE1E-51B9-121D-381907EBF6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CE5A8107-0567-DD8F-3623-8D90E2674A2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1E4F04DA-3DA0-AEA9-4643-CED9EF71ED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BAB50DBE-1833-A8B3-59F8-C85EF80C5A9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2B95C408-C5B1-7955-FB78-A676817E74E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9FAD9469-0D40-C554-EB6A-E6A682A2533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1580AB6D-12E7-7A23-85D0-13A1363236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D3771191-EDBB-585F-4C2E-9157729D67E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E55F9022-82AB-0475-3529-B44D602C068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29FE8F57-BEEB-2A6F-108E-D03A490C63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B247DAEE-24F5-C9C5-6761-7B60AC32C8F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ED3A6803-99BE-3361-0994-3AA14873408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1ACC6B36-0AD9-B313-32B5-F39DC32FA8A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B652A63-4066-7C7B-4D41-84F6C449560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0BF3A9A7-6FD2-B74A-8BB4-BD945E6142A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8CFC7F1C-5CEB-5A32-03B2-F2754D0B9F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FF9D754D-48E3-7848-E039-3B07722FAC4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F7DA52A5-C1D4-99FB-D5FE-50C36941465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8689834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2" name="Textplatzhalter 52">
            <a:extLst>
              <a:ext uri="{FF2B5EF4-FFF2-40B4-BE49-F238E27FC236}">
                <a16:creationId xmlns:a16="http://schemas.microsoft.com/office/drawing/2014/main" id="{C96548AD-0F47-BB41-3D99-9A87C76089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342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tx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A77F6D93-46E8-6437-B10F-8ED7513562EA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8" y="2103683"/>
            <a:ext cx="2820988" cy="427806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9061" y="951235"/>
            <a:ext cx="9757128" cy="5600592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85014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grpSp>
        <p:nvGrpSpPr>
          <p:cNvPr id="16" name="Gruppieren 14">
            <a:extLst>
              <a:ext uri="{FF2B5EF4-FFF2-40B4-BE49-F238E27FC236}">
                <a16:creationId xmlns:a16="http://schemas.microsoft.com/office/drawing/2014/main" id="{08497CAB-CFF1-EF16-E4FF-1B5390EC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49FFB16D-2E68-816E-361A-ADA054D5C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6F0B5CA-613C-C387-8924-1256495668C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B5E9809-AC81-DC91-3B5C-87C014B9229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4D03567B-82FA-AF09-FF74-BDE9DD8CD5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5171C8A4-6E4B-D077-00D5-EA66AB1B4C6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1B8FAAF6-810A-0854-ED34-CDFA5710D95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47822449-A3F9-7119-4DA1-E834A516BF9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1FDF0F4F-650B-7AE8-E585-BB36001816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5EC0E63A-4D43-703F-A002-5CF560E2C2A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B50D5413-939C-D389-556E-3E959FC35D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24CE35BB-FEC2-0AF2-295F-3D621DEB6F8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0AC3FCA3-C383-C797-77C1-936461E7DA5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38F699E6-41E3-1F26-8C40-4DCCD8BE93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DF752111-4485-D1F9-53AB-01E2ACBECE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D99CC913-6425-4CF0-E77C-74709B91A41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A7E30CFA-7456-6712-91E9-EE3C963E6C7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B351B5A9-9DD1-73EC-E41A-049F0C0DF96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7005A2FC-D717-9DFF-AC9B-483BE5F60FE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DC9E8DE7-456A-149C-4B0C-AEC1BA04F04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3B3AD8D2-8939-0889-4B9C-41485556F4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7">
              <a:extLst>
                <a:ext uri="{FF2B5EF4-FFF2-40B4-BE49-F238E27FC236}">
                  <a16:creationId xmlns:a16="http://schemas.microsoft.com/office/drawing/2014/main" id="{23AC4259-8C79-8BBD-E3CD-E663E5C7CF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8">
              <a:extLst>
                <a:ext uri="{FF2B5EF4-FFF2-40B4-BE49-F238E27FC236}">
                  <a16:creationId xmlns:a16="http://schemas.microsoft.com/office/drawing/2014/main" id="{7E70F20B-88EE-DF40-330A-769F8B10E53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14CF93D7-A5DE-1B84-3AEC-604396570E7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51476836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Textplatzhalter 52">
            <a:extLst>
              <a:ext uri="{FF2B5EF4-FFF2-40B4-BE49-F238E27FC236}">
                <a16:creationId xmlns:a16="http://schemas.microsoft.com/office/drawing/2014/main" id="{95609597-0148-6E4A-4B95-926F306676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342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tx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D7109BBE-71F2-5BA0-0552-9B1E7BFE1ED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8" y="2103683"/>
            <a:ext cx="2820988" cy="427806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9061" y="951235"/>
            <a:ext cx="9757128" cy="5600592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85014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871168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2 contents white/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C58FF99E-B033-1E9A-D9A0-7173F20D6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5399999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399999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E64BB44E-8903-4313-BBED-09991CD8D6D8}" type="datetime1">
              <a:rPr lang="de-DE" smtClean="0"/>
              <a:t>19.10.26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9BA5284-5EA8-1D2F-70DA-D49FAD913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CA0558D-F7C6-BE8A-D229-4B51AF7209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8">
              <a:extLst>
                <a:ext uri="{FF2B5EF4-FFF2-40B4-BE49-F238E27FC236}">
                  <a16:creationId xmlns:a16="http://schemas.microsoft.com/office/drawing/2014/main" id="{D1716B33-B073-4B6B-64CC-A73C6015B65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B438069A-7F7B-4DAC-CD15-CCC27C332BE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AC41980B-0A57-2FC8-8EC4-AEB64DAE38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708168E3-1E88-F88A-4B03-8F03A71F9A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296800DF-3A29-6377-40AE-0628B62527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A43D4361-FD86-C134-84F5-E4943F064B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C4832E7-4291-3207-717C-F56CE7197C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B6B12DBF-E0C7-EC98-F9A1-C1E47C168C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64F1DDAD-7F17-BC6E-EFB4-24B6397370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077D64B3-0BF3-38A6-32DD-4223F87B00B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E477F0F8-EAA9-A9D1-57CD-4987C6D52C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28A8FB3-B67C-A486-BD79-E5405D264D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A2406392-8F8A-915F-FEF3-0BAFA50EDC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1665D786-DD80-BAC3-C9A6-DC0A4FF12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17BBBCAB-68A5-3435-A7E5-30FA23B2069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FD4DF712-8836-4E7A-158E-F8EE4D6C971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171B297D-B6FA-8328-F24B-14EB3B689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06F20CE0-BCCB-240F-E857-C83AE13ACA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74DCCC4B-A621-7D35-1092-D1F6D4E9ED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5F74DD2C-5F9C-965C-DFF5-AA191DC16B7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2F5438F7-469A-9728-8B2F-754932E0DFB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74593DD3-BF43-1349-435D-BF65BBBE690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72D5B7F-AB2E-CD66-8CCC-75CC7F8EB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38688" y="1692275"/>
            <a:ext cx="6643687" cy="4203700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11" name="Textplatzhalter 52">
            <a:extLst>
              <a:ext uri="{FF2B5EF4-FFF2-40B4-BE49-F238E27FC236}">
                <a16:creationId xmlns:a16="http://schemas.microsoft.com/office/drawing/2014/main" id="{A68C9978-4064-0046-A21D-469BF315E35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342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4A462A21-EDA7-03E1-07FD-60BFBFA7F8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7" y="2103683"/>
            <a:ext cx="3600451" cy="165710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pic>
        <p:nvPicPr>
          <p:cNvPr id="9" name="Grafik 10">
            <a:extLst>
              <a:ext uri="{FF2B5EF4-FFF2-40B4-BE49-F238E27FC236}">
                <a16:creationId xmlns:a16="http://schemas.microsoft.com/office/drawing/2014/main" id="{9C3F3E2D-C245-B677-4B04-B166C99B1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7818" y="1034241"/>
            <a:ext cx="9504595" cy="5455638"/>
          </a:xfrm>
          <a:prstGeom prst="rect">
            <a:avLst/>
          </a:prstGeom>
        </p:spPr>
      </p:pic>
      <p:sp>
        <p:nvSpPr>
          <p:cNvPr id="17" name="Textplatzhalter 52">
            <a:extLst>
              <a:ext uri="{FF2B5EF4-FFF2-40B4-BE49-F238E27FC236}">
                <a16:creationId xmlns:a16="http://schemas.microsoft.com/office/drawing/2014/main" id="{4BD40048-B801-DC55-8B94-A0531ACE790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4342" y="4100785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9A85A1CE-87BA-E305-936B-FE86F6737D2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07987" y="4727851"/>
            <a:ext cx="3600451" cy="165710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</p:spTree>
    <p:extLst>
      <p:ext uri="{BB962C8B-B14F-4D97-AF65-F5344CB8AC3E}">
        <p14:creationId xmlns:p14="http://schemas.microsoft.com/office/powerpoint/2010/main" val="11951920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theme" Target="../theme/theme1.xml"/><Relationship Id="rId57" Type="http://schemas.openxmlformats.org/officeDocument/2006/relationships/tags" Target="../tags/tag2.xml"/><Relationship Id="rId58" Type="http://schemas.openxmlformats.org/officeDocument/2006/relationships/oleObject" Target="../embeddings/oleObject1.bin"/><Relationship Id="rId5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4283982-2F78-0C94-043C-E12BD46907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7"/>
            </p:custDataLst>
            <p:extLst>
              <p:ext uri="{D42A27DB-BD31-4B8C-83A1-F6EECF244321}">
                <p14:modId xmlns:p14="http://schemas.microsoft.com/office/powerpoint/2010/main" val="1454399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8" imgW="306" imgH="306" progId="TCLayout.ActiveDocument.1">
                  <p:embed/>
                </p:oleObj>
              </mc:Choice>
              <mc:Fallback>
                <p:oleObj name="think-cell Slide" r:id="rId58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283982-2F78-0C94-043C-E12BD46907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22A8E4D-5CF5-39BA-6D36-C8024C752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404813"/>
            <a:ext cx="10050812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D28772-C5E6-1166-98ED-F51C9A083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484312"/>
            <a:ext cx="11376025" cy="48974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3D3B82-3692-011E-2E2F-FAEB69627F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55E70D4B-E00F-4E3D-9749-2A3BEC2D17A1}" type="datetime1">
              <a:rPr lang="de-DE" smtClean="0"/>
              <a:pPr/>
              <a:t>19.10.26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21E943-A651-71BC-5898-7724105578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  <p:grpSp>
        <p:nvGrpSpPr>
          <p:cNvPr id="45" name="Gruppieren 14">
            <a:extLst>
              <a:ext uri="{FF2B5EF4-FFF2-40B4-BE49-F238E27FC236}">
                <a16:creationId xmlns:a16="http://schemas.microsoft.com/office/drawing/2014/main" id="{6537363E-9FDE-94D4-C3B8-FD12537A0FDD}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EA842D91-4EA7-6658-9396-A367A9081EC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Rectangle 8">
              <a:extLst>
                <a:ext uri="{FF2B5EF4-FFF2-40B4-BE49-F238E27FC236}">
                  <a16:creationId xmlns:a16="http://schemas.microsoft.com/office/drawing/2014/main" id="{154FE1B9-EE43-803F-2BFC-88BD6A10FAB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Rectangle 9">
              <a:extLst>
                <a:ext uri="{FF2B5EF4-FFF2-40B4-BE49-F238E27FC236}">
                  <a16:creationId xmlns:a16="http://schemas.microsoft.com/office/drawing/2014/main" id="{2AC6DD34-D2B6-91FA-DE41-9B0EE45240FF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2DB7CF62-B08A-0A71-5098-015EB60938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2BA87D55-9E2C-912D-A1B1-3783CF874B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7D8CAC10-6292-7A0E-EDD3-8A9F297F6FF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F73D6BE2-A1FF-9FBF-E416-67E2C1F4FA2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4">
              <a:extLst>
                <a:ext uri="{FF2B5EF4-FFF2-40B4-BE49-F238E27FC236}">
                  <a16:creationId xmlns:a16="http://schemas.microsoft.com/office/drawing/2014/main" id="{2971604B-8073-70CD-BA93-8CDD8445DCC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5">
              <a:extLst>
                <a:ext uri="{FF2B5EF4-FFF2-40B4-BE49-F238E27FC236}">
                  <a16:creationId xmlns:a16="http://schemas.microsoft.com/office/drawing/2014/main" id="{8715DF93-9FC0-59C4-6E1F-613F098583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771591B3-DF30-C77B-7FEB-C0657409109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17">
              <a:extLst>
                <a:ext uri="{FF2B5EF4-FFF2-40B4-BE49-F238E27FC236}">
                  <a16:creationId xmlns:a16="http://schemas.microsoft.com/office/drawing/2014/main" id="{073EB010-186D-99C2-1165-CBE9F8CD277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18">
              <a:extLst>
                <a:ext uri="{FF2B5EF4-FFF2-40B4-BE49-F238E27FC236}">
                  <a16:creationId xmlns:a16="http://schemas.microsoft.com/office/drawing/2014/main" id="{4080E9FF-FE81-4B74-DBFE-62A44B80B94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19">
              <a:extLst>
                <a:ext uri="{FF2B5EF4-FFF2-40B4-BE49-F238E27FC236}">
                  <a16:creationId xmlns:a16="http://schemas.microsoft.com/office/drawing/2014/main" id="{7272836A-28AF-0798-6FA3-C68CAA0B9E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0">
              <a:extLst>
                <a:ext uri="{FF2B5EF4-FFF2-40B4-BE49-F238E27FC236}">
                  <a16:creationId xmlns:a16="http://schemas.microsoft.com/office/drawing/2014/main" id="{527B1126-A067-01CE-6776-FDF84610C8D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1">
              <a:extLst>
                <a:ext uri="{FF2B5EF4-FFF2-40B4-BE49-F238E27FC236}">
                  <a16:creationId xmlns:a16="http://schemas.microsoft.com/office/drawing/2014/main" id="{D0B5665C-DEB6-99FA-65E6-00F2DAAA15D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2">
              <a:extLst>
                <a:ext uri="{FF2B5EF4-FFF2-40B4-BE49-F238E27FC236}">
                  <a16:creationId xmlns:a16="http://schemas.microsoft.com/office/drawing/2014/main" id="{4962BE59-5CC4-53E0-CD88-2AB1EBC599B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3">
              <a:extLst>
                <a:ext uri="{FF2B5EF4-FFF2-40B4-BE49-F238E27FC236}">
                  <a16:creationId xmlns:a16="http://schemas.microsoft.com/office/drawing/2014/main" id="{6AB02721-D836-5563-AD16-34A526BB3FD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4">
              <a:extLst>
                <a:ext uri="{FF2B5EF4-FFF2-40B4-BE49-F238E27FC236}">
                  <a16:creationId xmlns:a16="http://schemas.microsoft.com/office/drawing/2014/main" id="{69763F0B-8AD8-86B3-F61C-DBDD4C7B4E6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25">
              <a:extLst>
                <a:ext uri="{FF2B5EF4-FFF2-40B4-BE49-F238E27FC236}">
                  <a16:creationId xmlns:a16="http://schemas.microsoft.com/office/drawing/2014/main" id="{2DDEA143-C965-40EC-CD35-11A7F781F2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26">
              <a:extLst>
                <a:ext uri="{FF2B5EF4-FFF2-40B4-BE49-F238E27FC236}">
                  <a16:creationId xmlns:a16="http://schemas.microsoft.com/office/drawing/2014/main" id="{C27F47BD-C295-2B5C-0B9A-086A6A302E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6" name="Freeform 27">
              <a:extLst>
                <a:ext uri="{FF2B5EF4-FFF2-40B4-BE49-F238E27FC236}">
                  <a16:creationId xmlns:a16="http://schemas.microsoft.com/office/drawing/2014/main" id="{714DC8B3-954D-73DD-B1DB-645ADBD562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7" name="Freeform 28">
              <a:extLst>
                <a:ext uri="{FF2B5EF4-FFF2-40B4-BE49-F238E27FC236}">
                  <a16:creationId xmlns:a16="http://schemas.microsoft.com/office/drawing/2014/main" id="{E36A9D6C-0FD4-1365-339D-7757DD1D5EB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8" name="Freeform 29">
              <a:extLst>
                <a:ext uri="{FF2B5EF4-FFF2-40B4-BE49-F238E27FC236}">
                  <a16:creationId xmlns:a16="http://schemas.microsoft.com/office/drawing/2014/main" id="{0CC577B5-4FED-029F-51CC-734715AFCC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7" name="Textfeld 6">
            <a:extLst>
              <a:ext uri="{FF2B5EF4-FFF2-40B4-BE49-F238E27FC236}">
                <a16:creationId xmlns:a16="http://schemas.microsoft.com/office/drawing/2014/main" id="{D7F6F1B8-152D-564D-87A1-C4BF560DACE2}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26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700" r:id="rId3"/>
    <p:sldLayoutId id="2147483701" r:id="rId4"/>
    <p:sldLayoutId id="2147483698" r:id="rId5"/>
    <p:sldLayoutId id="2147483699" r:id="rId6"/>
    <p:sldLayoutId id="2147483696" r:id="rId7"/>
    <p:sldLayoutId id="2147483697" r:id="rId8"/>
    <p:sldLayoutId id="2147483694" r:id="rId9"/>
    <p:sldLayoutId id="2147483695" r:id="rId10"/>
    <p:sldLayoutId id="2147483692" r:id="rId11"/>
    <p:sldLayoutId id="2147483693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05" r:id="rId21"/>
    <p:sldLayoutId id="2147483706" r:id="rId22"/>
    <p:sldLayoutId id="2147483709" r:id="rId23"/>
    <p:sldLayoutId id="2147483710" r:id="rId24"/>
    <p:sldLayoutId id="2147483729" r:id="rId25"/>
    <p:sldLayoutId id="2147483713" r:id="rId26"/>
    <p:sldLayoutId id="2147483714" r:id="rId27"/>
    <p:sldLayoutId id="2147483715" r:id="rId28"/>
    <p:sldLayoutId id="2147483716" r:id="rId29"/>
    <p:sldLayoutId id="2147483707" r:id="rId30"/>
    <p:sldLayoutId id="2147483708" r:id="rId31"/>
    <p:sldLayoutId id="2147483711" r:id="rId32"/>
    <p:sldLayoutId id="2147483712" r:id="rId33"/>
    <p:sldLayoutId id="2147483704" r:id="rId34"/>
    <p:sldLayoutId id="2147483703" r:id="rId35"/>
    <p:sldLayoutId id="2147483702" r:id="rId36"/>
    <p:sldLayoutId id="2147483717" r:id="rId37"/>
    <p:sldLayoutId id="2147483718" r:id="rId38"/>
    <p:sldLayoutId id="2147483730" r:id="rId39"/>
    <p:sldLayoutId id="2147483733" r:id="rId40"/>
    <p:sldLayoutId id="2147483736" r:id="rId41"/>
    <p:sldLayoutId id="2147483727" r:id="rId42"/>
    <p:sldLayoutId id="2147483728" r:id="rId43"/>
    <p:sldLayoutId id="2147483734" r:id="rId44"/>
    <p:sldLayoutId id="2147483743" r:id="rId45"/>
    <p:sldLayoutId id="2147483745" r:id="rId46"/>
    <p:sldLayoutId id="2147483740" r:id="rId47"/>
    <p:sldLayoutId id="2147483746" r:id="rId48"/>
    <p:sldLayoutId id="2147483747" r:id="rId49"/>
    <p:sldLayoutId id="2147483742" r:id="rId50"/>
    <p:sldLayoutId id="2147483741" r:id="rId51"/>
    <p:sldLayoutId id="2147483748" r:id="rId52"/>
    <p:sldLayoutId id="2147483749" r:id="rId53"/>
    <p:sldLayoutId id="2147483744" r:id="rId54"/>
    <p:sldLayoutId id="2147483739" r:id="rId55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pos="257">
          <p15:clr>
            <a:srgbClr val="F26B43"/>
          </p15:clr>
        </p15:guide>
        <p15:guide id="3" pos="7423">
          <p15:clr>
            <a:srgbClr val="F26B43"/>
          </p15:clr>
        </p15:guide>
        <p15:guide id="4" orient="horz" pos="754">
          <p15:clr>
            <a:srgbClr val="F26B43"/>
          </p15:clr>
        </p15:guide>
        <p15:guide id="5" orient="horz" pos="935">
          <p15:clr>
            <a:srgbClr val="F26B43"/>
          </p15:clr>
        </p15:guide>
        <p15:guide id="6" orient="horz" pos="4156">
          <p15:clr>
            <a:srgbClr val="F26B43"/>
          </p15:clr>
        </p15:guide>
        <p15:guide id="7" orient="horz" pos="4020">
          <p15:clr>
            <a:srgbClr val="F26B43"/>
          </p15:clr>
        </p15:guide>
        <p15:guide id="14" orient="horz" pos="2387">
          <p15:clr>
            <a:srgbClr val="F26B43"/>
          </p15:clr>
        </p15:guide>
        <p15:guide id="15" orient="horz" pos="2568">
          <p15:clr>
            <a:srgbClr val="F26B43"/>
          </p15:clr>
        </p15:guide>
        <p15:guide id="16" orient="horz" pos="300">
          <p15:clr>
            <a:srgbClr val="F26B43"/>
          </p15:clr>
        </p15:guide>
        <p15:guide id="22" pos="2525">
          <p15:clr>
            <a:srgbClr val="F26B43"/>
          </p15:clr>
        </p15:guide>
        <p15:guide id="26" pos="4974">
          <p15:clr>
            <a:srgbClr val="F26B43"/>
          </p15:clr>
        </p15:guide>
        <p15:guide id="28" pos="2706">
          <p15:clr>
            <a:srgbClr val="F26B43"/>
          </p15:clr>
        </p15:guide>
        <p15:guide id="30" pos="3931">
          <p15:clr>
            <a:srgbClr val="F26B43"/>
          </p15:clr>
        </p15:guide>
        <p15:guide id="32" pos="5154">
          <p15:clr>
            <a:srgbClr val="F26B43"/>
          </p15:clr>
        </p15:guide>
        <p15:guide id="33" pos="374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hyperlink" Target="https://huggingface.co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Self-hosted LLMs:</a:t>
            </a:r>
            <a:br/>
            <a:r>
              <a:t>concepts &amp; practice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Darius Florea · Dr. Sergiu Limboi · Traian Suciu  ·  Tudor Mihaita · Paul Titieni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4413504" y="6019840"/>
            <a:ext cx="3364992" cy="361910"/>
          </a:xfrm>
        </p:spPr>
        <p:txBody>
          <a:bodyPr/>
          <a:lstStyle/>
          <a:p>
            <a:r>
              <a:t>MHP CLUJ-NAPOCA · 14.11.2026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2847739"/>
            <a:ext cx="9144000" cy="36576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ctr"/>
            <a:r>
              <a:rPr sz="1400" spc="400">
                <a:solidFill>
                  <a:srgbClr val="CDD6FF"/>
                </a:solidFill>
              </a:rPr>
              <a:t>MHP · UBB — AI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28852" y="2368054"/>
            <a:ext cx="3550408" cy="221873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35" b="1">
                <a:solidFill>
                  <a:srgbClr val="DDEF03"/>
                </a:solidFill>
              </a:rPr>
              <a:t>01</a:t>
            </a:r>
            <a:r>
              <a:rPr sz="1635" b="0">
                <a:solidFill>
                  <a:srgbClr val="FFFFFF"/>
                </a:solidFill>
              </a:rPr>
              <a:t>  Why self-host at all</a:t>
            </a:r>
          </a:p>
          <a:p>
            <a:pPr marL="0" marR="0" algn="l">
              <a:lnSpc>
                <a:spcPts val="2454"/>
              </a:lnSpc>
              <a:spcBef>
                <a:spcPts val="687"/>
              </a:spcBef>
              <a:spcAft>
                <a:spcPts val="0"/>
              </a:spcAft>
              <a:buNone/>
            </a:pPr>
            <a:r>
              <a:rPr sz="1635" b="1">
                <a:solidFill>
                  <a:srgbClr val="DDEF03"/>
                </a:solidFill>
              </a:rPr>
              <a:t>02</a:t>
            </a:r>
            <a:r>
              <a:rPr sz="1635" b="0">
                <a:solidFill>
                  <a:srgbClr val="FFFFFF"/>
                </a:solidFill>
              </a:rPr>
              <a:t>  The five-layer stack</a:t>
            </a:r>
          </a:p>
          <a:p>
            <a:pPr marL="0" marR="0" algn="l">
              <a:lnSpc>
                <a:spcPts val="2454"/>
              </a:lnSpc>
              <a:spcBef>
                <a:spcPts val="687"/>
              </a:spcBef>
              <a:spcAft>
                <a:spcPts val="0"/>
              </a:spcAft>
              <a:buNone/>
            </a:pPr>
            <a:r>
              <a:rPr sz="1635" b="1">
                <a:solidFill>
                  <a:srgbClr val="DDEF03"/>
                </a:solidFill>
              </a:rPr>
              <a:t>03</a:t>
            </a:r>
            <a:r>
              <a:rPr sz="1635" b="0">
                <a:solidFill>
                  <a:srgbClr val="FFFFFF"/>
                </a:solidFill>
              </a:rPr>
              <a:t>  Weights: GGUF, quantisation, licences</a:t>
            </a:r>
          </a:p>
          <a:p>
            <a:pPr marL="0" marR="0" algn="l">
              <a:lnSpc>
                <a:spcPts val="2454"/>
              </a:lnSpc>
              <a:spcBef>
                <a:spcPts val="687"/>
              </a:spcBef>
              <a:spcAft>
                <a:spcPts val="0"/>
              </a:spcAft>
              <a:buNone/>
            </a:pPr>
            <a:r>
              <a:rPr sz="1635" b="1">
                <a:solidFill>
                  <a:srgbClr val="DDEF03"/>
                </a:solidFill>
              </a:rPr>
              <a:t>04</a:t>
            </a:r>
            <a:r>
              <a:rPr sz="1635" b="0">
                <a:solidFill>
                  <a:srgbClr val="FFFFFF"/>
                </a:solidFill>
              </a:rPr>
              <a:t>  Engines: llama.cpp vs vLLM</a:t>
            </a:r>
          </a:p>
          <a:p>
            <a:pPr marL="0" marR="0" algn="l">
              <a:lnSpc>
                <a:spcPts val="2454"/>
              </a:lnSpc>
              <a:spcBef>
                <a:spcPts val="687"/>
              </a:spcBef>
              <a:spcAft>
                <a:spcPts val="0"/>
              </a:spcAft>
              <a:buNone/>
            </a:pPr>
            <a:r>
              <a:rPr sz="1635" b="1">
                <a:solidFill>
                  <a:srgbClr val="DDEF03"/>
                </a:solidFill>
              </a:rPr>
              <a:t>05</a:t>
            </a:r>
            <a:r>
              <a:rPr sz="1635" b="0">
                <a:solidFill>
                  <a:srgbClr val="FFFFFF"/>
                </a:solidFill>
              </a:rPr>
              <a:t>  The OpenAI-compatible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80301" y="2368054"/>
            <a:ext cx="3506315" cy="2305943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35" b="1">
                <a:solidFill>
                  <a:srgbClr val="DDEF03"/>
                </a:solidFill>
              </a:rPr>
              <a:t>06</a:t>
            </a:r>
            <a:r>
              <a:rPr sz="1635" b="0">
                <a:solidFill>
                  <a:srgbClr val="FFFFFF"/>
                </a:solidFill>
              </a:rPr>
              <a:t>  llama-swap, config line by line</a:t>
            </a:r>
          </a:p>
          <a:p>
            <a:pPr marL="0" marR="0" algn="l">
              <a:lnSpc>
                <a:spcPts val="2454"/>
              </a:lnSpc>
              <a:spcBef>
                <a:spcPts val="687"/>
              </a:spcBef>
              <a:spcAft>
                <a:spcPts val="0"/>
              </a:spcAft>
              <a:buNone/>
            </a:pPr>
            <a:r>
              <a:rPr sz="1635" b="1">
                <a:solidFill>
                  <a:srgbClr val="DDEF03"/>
                </a:solidFill>
              </a:rPr>
              <a:t>07</a:t>
            </a:r>
            <a:r>
              <a:rPr sz="1635" b="0">
                <a:solidFill>
                  <a:srgbClr val="FFFFFF"/>
                </a:solidFill>
              </a:rPr>
              <a:t>  LiteLLM, config line by line</a:t>
            </a:r>
          </a:p>
          <a:p>
            <a:pPr marL="0" marR="0" algn="l">
              <a:lnSpc>
                <a:spcPts val="2454"/>
              </a:lnSpc>
              <a:spcBef>
                <a:spcPts val="687"/>
              </a:spcBef>
              <a:spcAft>
                <a:spcPts val="0"/>
              </a:spcAft>
              <a:buNone/>
            </a:pPr>
            <a:r>
              <a:rPr sz="1635" b="1">
                <a:solidFill>
                  <a:srgbClr val="DDEF03"/>
                </a:solidFill>
              </a:rPr>
              <a:t>08</a:t>
            </a:r>
            <a:r>
              <a:rPr sz="1635" b="0">
                <a:solidFill>
                  <a:srgbClr val="FFFFFF"/>
                </a:solidFill>
              </a:rPr>
              <a:t>  Context, KV cache, and RAM</a:t>
            </a:r>
          </a:p>
          <a:p>
            <a:pPr marL="0" marR="0" algn="l">
              <a:lnSpc>
                <a:spcPts val="2454"/>
              </a:lnSpc>
              <a:spcBef>
                <a:spcPts val="687"/>
              </a:spcBef>
              <a:spcAft>
                <a:spcPts val="0"/>
              </a:spcAft>
              <a:buNone/>
            </a:pPr>
            <a:r>
              <a:rPr sz="1635" b="1">
                <a:solidFill>
                  <a:srgbClr val="DDEF03"/>
                </a:solidFill>
              </a:rPr>
              <a:t>09</a:t>
            </a:r>
            <a:r>
              <a:rPr sz="1635" b="0">
                <a:solidFill>
                  <a:srgbClr val="FFFFFF"/>
                </a:solidFill>
              </a:rPr>
              <a:t>  Tool calling</a:t>
            </a:r>
          </a:p>
          <a:p>
            <a:pPr marL="0" marR="0" algn="l">
              <a:lnSpc>
                <a:spcPts val="2454"/>
              </a:lnSpc>
              <a:spcBef>
                <a:spcPts val="687"/>
              </a:spcBef>
              <a:spcAft>
                <a:spcPts val="0"/>
              </a:spcAft>
              <a:buNone/>
            </a:pPr>
            <a:r>
              <a:rPr sz="1635" b="1">
                <a:solidFill>
                  <a:srgbClr val="DDEF03"/>
                </a:solidFill>
              </a:rPr>
              <a:t>10</a:t>
            </a:r>
            <a:r>
              <a:rPr sz="1635" b="0">
                <a:solidFill>
                  <a:srgbClr val="FFFFFF"/>
                </a:solidFill>
              </a:rPr>
              <a:t>  Honest expectations</a:t>
            </a:r>
          </a:p>
          <a:p>
            <a:pPr marL="0" marR="0" algn="l">
              <a:lnSpc>
                <a:spcPts val="2454"/>
              </a:lnSpc>
              <a:spcBef>
                <a:spcPts val="687"/>
              </a:spcBef>
              <a:spcAft>
                <a:spcPts val="0"/>
              </a:spcAft>
              <a:buNone/>
            </a:pPr>
            <a:r>
              <a:rPr sz="1635" b="1">
                <a:solidFill>
                  <a:srgbClr val="DDEF03"/>
                </a:solidFill>
              </a:rPr>
              <a:t>11</a:t>
            </a:r>
            <a:r>
              <a:rPr sz="1635" b="0">
                <a:solidFill>
                  <a:srgbClr val="FFFFFF"/>
                </a:solidFill>
              </a:rPr>
              <a:t>  From agent to pipeline</a:t>
            </a:r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6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 could just call an API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6060" y="2655888"/>
          <a:ext cx="11375132" cy="2548531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604466"/>
                <a:gridCol w="9770666"/>
              </a:tblGrid>
              <a:tr h="316111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REASON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WHAT IT MEANS IN PRACTICE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Privacy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Your code and documents never leave the machine. Often not a preference — a legal requirement.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Cost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Zero marginal cost per token. An API bill grows forever; a laptop you own does not.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No rate limits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Nothing throttles you at 3 a.m. Run 10 000 documents through an embedder and pay nothing.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Availability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Works on a plane, in a basement, at a venue with broken Wi-Fi. </a:t>
                      </a:r>
                      <a:r>
                        <a:rPr sz="1405" b="1">
                          <a:solidFill>
                            <a:srgbClr val="262626"/>
                          </a:solidFill>
                        </a:rPr>
                        <a:t>The model is a file.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Control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Exact weights, exact quantisation, exact context window. You can fine-tune.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1">
                          <a:solidFill>
                            <a:srgbClr val="262626"/>
                          </a:solidFill>
                          <a:latin typeface="Consolas"/>
                        </a:rPr>
                        <a:t>Understanding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Once you have watched a 1.7B model fail at tool calling, you know what you are buying — and what you give up.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honest counter-argument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2564209"/>
            <a:ext cx="5602188" cy="169803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A local small model will be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slower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dumber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confidently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060" y="2564209"/>
            <a:ext cx="25400" cy="1698030"/>
          </a:xfrm>
          <a:prstGeom prst="rect">
            <a:avLst/>
          </a:prstGeom>
          <a:solidFill>
            <a:srgbClr val="F26B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58905" y="2564209"/>
            <a:ext cx="5602288" cy="169803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So self-hosting is</a:t>
            </a:r>
          </a:p>
          <a:p>
            <a:pPr marL="0" marR="0" algn="l">
              <a:lnSpc>
                <a:spcPts val="2108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rPr sz="1405" b="0">
                <a:solidFill>
                  <a:srgbClr val="575757"/>
                </a:solidFill>
              </a:rPr>
              <a:t>a </a:t>
            </a:r>
            <a:r>
              <a:rPr sz="1405" b="1">
                <a:solidFill>
                  <a:srgbClr val="575757"/>
                </a:solidFill>
              </a:rPr>
              <a:t>trade</a:t>
            </a:r>
            <a:r>
              <a:rPr sz="1405" b="0">
                <a:solidFill>
                  <a:srgbClr val="575757"/>
                </a:solidFill>
              </a:rPr>
              <a:t>, not an upgrade.</a:t>
            </a:r>
          </a:p>
          <a:p>
            <a:pPr marL="0" marR="0" algn="l">
              <a:lnSpc>
                <a:spcPts val="2108"/>
              </a:lnSpc>
              <a:spcBef>
                <a:spcPts val="702"/>
              </a:spcBef>
              <a:spcAft>
                <a:spcPts val="0"/>
              </a:spcAft>
              <a:buNone/>
            </a:pPr>
            <a:r>
              <a:rPr sz="1405" b="0">
                <a:solidFill>
                  <a:srgbClr val="575757"/>
                </a:solidFill>
              </a:rPr>
              <a:t>Knowing </a:t>
            </a:r>
            <a:r>
              <a:rPr sz="1405" b="1">
                <a:solidFill>
                  <a:srgbClr val="2026D2"/>
                </a:solidFill>
              </a:rPr>
              <a:t>when</a:t>
            </a:r>
            <a:r>
              <a:rPr sz="1405" b="0">
                <a:solidFill>
                  <a:srgbClr val="575757"/>
                </a:solidFill>
              </a:rPr>
              <a:t> the trade is worth it is the actual skill. That is what today is for.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58905" y="2564209"/>
            <a:ext cx="25400" cy="1698030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01577" y="4384080"/>
            <a:ext cx="9144000" cy="894953"/>
          </a:xfrm>
          <a:prstGeom prst="roundRect">
            <a:avLst>
              <a:gd name="adj" fmla="val 7095"/>
            </a:avLst>
          </a:prstGeom>
          <a:solidFill>
            <a:srgbClr val="FFFFFF"/>
          </a:solidFill>
          <a:ln w="12700">
            <a:solidFill>
              <a:srgbClr val="363EF8"/>
            </a:solidFill>
          </a:ln>
          <a:effectLst/>
        </p:spPr>
        <p:txBody>
          <a:bodyPr rtlCol="0" anchor="t" wrap="square" tIns="129282" rIns="256540" bIns="0" lIns="256540">
            <a:noAutofit/>
          </a:bodyPr>
          <a:lstStyle/>
          <a:p>
            <a:pPr algn="ctr" marL="0" marR="0">
              <a:lnSpc>
                <a:spcPts val="25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1">
                <a:solidFill>
                  <a:srgbClr val="2026D2"/>
                </a:solidFill>
              </a:rPr>
              <a:t>Everything after this slide is about making the trade deliberately, instead of by accident.</a:t>
            </a:r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layers — the mental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2090738"/>
            <a:ext cx="11375132" cy="3225006"/>
          </a:xfrm>
          <a:prstGeom prst="roundRect">
            <a:avLst>
              <a:gd name="adj" fmla="val 1575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0">
                <a:solidFill>
                  <a:srgbClr val="E8EBFF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┌───────────────────────────────────────────────────────────────┐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│ 5. CLIENT        Qwen Code · OpenCode · your Python script    │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│                  "do something useful with the model"         │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├───────────────────────────────────────────────────────────────┤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│ 4. GATEWAY       LiteLLM          :4000                       │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│                  one API, many backends, keys, routing,       │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│                  fallback to the cloud when local fails       │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├───────────────────────────────────────────────────────────────┤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│ 3. MANAGER       llama-swap       :8090                       │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│                  "load this model now, unload that one"       │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├───────────────────────────────────────────────────────────────┤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│ 2. ENGINE        llama.cpp · vLLM                             │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│                  actually does the matrix multiplications     │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├───────────────────────────────────────────────────────────────┤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│ 1. WEIGHTS       .gguf files · safetensors · Hugging Face     │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│                  a few GB of numbers on your disk             │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060" y="2090738"/>
            <a:ext cx="25400" cy="3225006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6060" y="5461099"/>
            <a:ext cx="11400556" cy="31164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35" b="0">
                <a:solidFill>
                  <a:srgbClr val="575757"/>
                </a:solidFill>
              </a:rPr>
              <a:t>Every tool today lives in exactly one box. </a:t>
            </a:r>
            <a:r>
              <a:rPr sz="1635" b="1">
                <a:solidFill>
                  <a:srgbClr val="575757"/>
                </a:solidFill>
              </a:rPr>
              <a:t>If you remember one slide, remember this one.</a:t>
            </a:r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 do not need all five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2673648"/>
            <a:ext cx="5602188" cy="1681758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6060" y="2673648"/>
            <a:ext cx="25400" cy="1681758"/>
          </a:xfrm>
          <a:prstGeom prst="rect">
            <a:avLst/>
          </a:prstGeom>
          <a:solidFill>
            <a:srgbClr val="00CC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116" y="2850654"/>
            <a:ext cx="5333708" cy="24130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Minimum working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116" y="3161010"/>
            <a:ext cx="5333708" cy="535384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5" b="0">
                <a:solidFill>
                  <a:srgbClr val="575757"/>
                </a:solidFill>
              </a:rPr>
              <a:t>Layers </a:t>
            </a:r>
            <a:r>
              <a:rPr sz="1405" b="1">
                <a:solidFill>
                  <a:srgbClr val="575757"/>
                </a:solidFill>
              </a:rPr>
              <a:t>1, 2 and 5</a:t>
            </a:r>
            <a:r>
              <a:rPr sz="1405" b="0">
                <a:solidFill>
                  <a:srgbClr val="575757"/>
                </a:solidFill>
              </a:rPr>
              <a:t> — a model file, an engine, and something to talk to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2116" y="3737670"/>
            <a:ext cx="5229126" cy="399455"/>
          </a:xfrm>
          <a:prstGeom prst="roundRect">
            <a:avLst>
              <a:gd name="adj" fmla="val 12717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5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7" b="0">
                <a:solidFill>
                  <a:srgbClr val="E8EBFF"/>
                </a:solidFill>
                <a:latin typeface="Consolas"/>
              </a:rPr>
              <a:t>weights → llama.cpp → curl</a:t>
            </a:r>
          </a:p>
        </p:txBody>
      </p:sp>
      <p:sp>
        <p:nvSpPr>
          <p:cNvPr id="9" name="Rectangle 8"/>
          <p:cNvSpPr/>
          <p:nvPr/>
        </p:nvSpPr>
        <p:spPr>
          <a:xfrm>
            <a:off x="582116" y="3737670"/>
            <a:ext cx="25400" cy="399455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58905" y="2673648"/>
            <a:ext cx="5602288" cy="1681758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Layers 3 and 4 are conveniences</a:t>
            </a:r>
          </a:p>
          <a:p>
            <a:pPr marL="0" marR="0" algn="l">
              <a:lnSpc>
                <a:spcPts val="2108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rPr sz="1405" b="0">
                <a:solidFill>
                  <a:srgbClr val="575757"/>
                </a:solidFill>
              </a:rPr>
              <a:t>They pay off once you have </a:t>
            </a:r>
            <a:r>
              <a:rPr sz="1405" b="1">
                <a:solidFill>
                  <a:srgbClr val="2026D2"/>
                </a:solidFill>
              </a:rPr>
              <a:t>more than one model</a:t>
            </a:r>
            <a:r>
              <a:rPr sz="1405" b="0">
                <a:solidFill>
                  <a:srgbClr val="575757"/>
                </a:solidFill>
              </a:rPr>
              <a:t> or </a:t>
            </a:r>
            <a:r>
              <a:rPr sz="1405" b="1">
                <a:solidFill>
                  <a:srgbClr val="2026D2"/>
                </a:solidFill>
              </a:rPr>
              <a:t>more than one client</a:t>
            </a:r>
            <a:r>
              <a:rPr sz="1405" b="0">
                <a:solidFill>
                  <a:srgbClr val="575757"/>
                </a:solidFill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58905" y="2673648"/>
            <a:ext cx="25400" cy="1681758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6060" y="4458395"/>
            <a:ext cx="11375132" cy="669131"/>
          </a:xfrm>
          <a:prstGeom prst="rect">
            <a:avLst/>
          </a:prstGeom>
          <a:solidFill>
            <a:srgbClr val="FDF1EC"/>
          </a:solidFill>
          <a:ln>
            <a:noFill/>
          </a:ln>
          <a:effectLst/>
        </p:spPr>
        <p:txBody>
          <a:bodyPr rtlCol="0" anchor="t" wrap="square" tIns="0" rIns="187269" bIns="0" lIns="212669">
            <a:noAutofit/>
          </a:bodyPr>
          <a:lstStyle/>
          <a:p>
            <a:pPr algn="l" marL="0" marR="0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4" b="0">
                <a:solidFill>
                  <a:srgbClr val="6B3320"/>
                </a:solidFill>
              </a:rPr>
              <a:t>Adding a layer you do not yet need is how people end up debugging a proxy at 2 a.m. for a model they could have run directly. </a:t>
            </a:r>
            <a:r>
              <a:rPr sz="1474" b="1">
                <a:solidFill>
                  <a:srgbClr val="6B3320"/>
                </a:solidFill>
              </a:rPr>
              <a:t>Build bottom-up, and verify each layer before adding the next.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6060" y="4458395"/>
            <a:ext cx="25400" cy="669131"/>
          </a:xfrm>
          <a:prstGeom prst="rect">
            <a:avLst/>
          </a:prstGeom>
          <a:solidFill>
            <a:srgbClr val="F26B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Layer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model is a file of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2430760"/>
            <a:ext cx="5602188" cy="1218803"/>
          </a:xfrm>
          <a:prstGeom prst="roundRect">
            <a:avLst>
              <a:gd name="adj" fmla="val 4168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77038">
            <a:noAutofit/>
          </a:bodyPr>
          <a:lstStyle/>
          <a:p>
            <a:pPr algn="l" marL="0" marR="0">
              <a:lnSpc>
                <a:spcPts val="16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37" b="1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safetensors</a:t>
            </a:r>
          </a:p>
          <a:p>
            <a:pPr marL="0" marR="0" algn="l">
              <a:lnSpc>
                <a:spcPts val="2108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rPr sz="1405" b="0">
                <a:solidFill>
                  <a:srgbClr val="575757"/>
                </a:solidFill>
              </a:rPr>
              <a:t>The native format. Full precision, large. Needs PyTorch or vLLM to run.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58905" y="2430760"/>
            <a:ext cx="5602288" cy="1218803"/>
          </a:xfrm>
          <a:prstGeom prst="roundRect">
            <a:avLst>
              <a:gd name="adj" fmla="val 4168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37" b="1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GGUF</a:t>
            </a:r>
            <a:r>
              <a:rPr sz="1555" b="1">
                <a:solidFill>
                  <a:srgbClr val="000099"/>
                </a:solidFill>
              </a:rPr>
              <a:t> ← what you will use</a:t>
            </a:r>
          </a:p>
          <a:p>
            <a:pPr marL="0" marR="0" algn="l">
              <a:lnSpc>
                <a:spcPts val="2108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rPr sz="1405" b="0">
                <a:solidFill>
                  <a:srgbClr val="575757"/>
                </a:solidFill>
              </a:rPr>
              <a:t>One self-contained file for llama.cpp: weights </a:t>
            </a:r>
            <a:r>
              <a:rPr sz="1405" b="1">
                <a:solidFill>
                  <a:srgbClr val="2026D2"/>
                </a:solidFill>
              </a:rPr>
              <a:t>plus</a:t>
            </a:r>
            <a:r>
              <a:rPr sz="1405" b="0">
                <a:solidFill>
                  <a:srgbClr val="575757"/>
                </a:solidFill>
              </a:rPr>
              <a:t> the tokenizer </a:t>
            </a:r>
            <a:r>
              <a:rPr sz="1405" b="1">
                <a:solidFill>
                  <a:srgbClr val="2026D2"/>
                </a:solidFill>
              </a:rPr>
              <a:t>plus</a:t>
            </a:r>
            <a:r>
              <a:rPr sz="1405" b="0">
                <a:solidFill>
                  <a:srgbClr val="575757"/>
                </a:solidFill>
              </a:rPr>
              <a:t> the chat template. Usually quantised.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58905" y="2430760"/>
            <a:ext cx="25400" cy="1218803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6060" y="3825081"/>
            <a:ext cx="11400556" cy="26035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1" spc="35">
                <a:solidFill>
                  <a:srgbClr val="2026D2"/>
                </a:solidFill>
              </a:rPr>
              <a:t>Where they come 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060" y="4151213"/>
            <a:ext cx="11400556" cy="65028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35" b="1">
                <a:solidFill>
                  <a:srgbClr val="262626"/>
                </a:solidFill>
              </a:rPr>
              <a:t>Hugging Face</a:t>
            </a:r>
            <a:r>
              <a:rPr sz="1635" b="0">
                <a:solidFill>
                  <a:srgbClr val="262626"/>
                </a:solidFill>
              </a:rPr>
              <a:t> (</a:t>
            </a:r>
            <a:r>
              <a:rPr sz="1406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  <a:hlinkClick r:id="rId2"/>
              </a:rPr>
              <a:t>https://huggingface.co</a:t>
            </a:r>
            <a:r>
              <a:rPr sz="1635" b="0">
                <a:solidFill>
                  <a:srgbClr val="262626"/>
                </a:solidFill>
              </a:rPr>
              <a:t>) is the de facto registry — think npm or Docker Hub, for models. Repos are </a:t>
            </a:r>
            <a:r>
              <a:rPr sz="1406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owner/name</a:t>
            </a:r>
            <a:r>
              <a:rPr sz="1635" b="0">
                <a:solidFill>
                  <a:srgbClr val="262626"/>
                </a:solidFill>
              </a:rPr>
              <a:t>; quantised re-uploads end in </a:t>
            </a:r>
            <a:r>
              <a:rPr sz="1406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-GGUF</a:t>
            </a:r>
            <a:r>
              <a:rPr sz="1635" b="0">
                <a:solidFill>
                  <a:srgbClr val="262626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6060" y="4904482"/>
            <a:ext cx="11375132" cy="465931"/>
          </a:xfrm>
          <a:prstGeom prst="rect">
            <a:avLst/>
          </a:prstGeom>
          <a:solidFill>
            <a:srgbClr val="F0F2FF"/>
          </a:solidFill>
          <a:ln>
            <a:noFill/>
          </a:ln>
          <a:effectLst/>
        </p:spPr>
        <p:txBody>
          <a:bodyPr rtlCol="0" anchor="t" wrap="square" tIns="0" rIns="187269" bIns="0" lIns="212669">
            <a:noAutofit/>
          </a:bodyPr>
          <a:lstStyle/>
          <a:p>
            <a:pPr algn="l" marL="0" marR="0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4" b="0">
                <a:solidFill>
                  <a:srgbClr val="1C2160"/>
                </a:solidFill>
              </a:rPr>
              <a:t>Trust order for a GGUF: the </a:t>
            </a:r>
            <a:r>
              <a:rPr sz="1474" b="1">
                <a:solidFill>
                  <a:srgbClr val="1C2160"/>
                </a:solidFill>
              </a:rPr>
              <a:t>author's own</a:t>
            </a:r>
            <a:r>
              <a:rPr sz="1474" b="0">
                <a:solidFill>
                  <a:srgbClr val="1C2160"/>
                </a:solidFill>
              </a:rPr>
              <a:t> repo → 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ggml-org</a:t>
            </a:r>
            <a:r>
              <a:rPr sz="1474" b="0">
                <a:solidFill>
                  <a:srgbClr val="1C2160"/>
                </a:solidFill>
              </a:rPr>
              <a:t> (the llama.cpp team) → 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unsloth</a:t>
            </a:r>
            <a:r>
              <a:rPr sz="1474" b="0">
                <a:solidFill>
                  <a:srgbClr val="1C2160"/>
                </a:solidFill>
              </a:rPr>
              <a:t> / 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bartowski</a:t>
            </a:r>
            <a:r>
              <a:rPr sz="1474" b="0">
                <a:solidFill>
                  <a:srgbClr val="1C2160"/>
                </a:solidFill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6060" y="4904482"/>
            <a:ext cx="25400" cy="465931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Layer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Quantisation: compressing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6060" y="1905794"/>
            <a:ext cx="11400556" cy="623292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35" b="0">
                <a:solidFill>
                  <a:srgbClr val="262626"/>
                </a:solidFill>
              </a:rPr>
              <a:t>A model trained at 16 bits per weight can run at 4 bits with modest quality loss — </a:t>
            </a:r>
            <a:r>
              <a:rPr sz="1635" b="1">
                <a:solidFill>
                  <a:srgbClr val="262626"/>
                </a:solidFill>
              </a:rPr>
              <a:t>4× smaller</a:t>
            </a:r>
            <a:r>
              <a:rPr sz="1635" b="0">
                <a:solidFill>
                  <a:srgbClr val="262626"/>
                </a:solidFill>
              </a:rPr>
              <a:t>, and on a CPU often </a:t>
            </a:r>
            <a:r>
              <a:rPr sz="1635" b="1">
                <a:solidFill>
                  <a:srgbClr val="2026D2"/>
                </a:solidFill>
              </a:rPr>
              <a:t>faster</a:t>
            </a:r>
            <a:r>
              <a:rPr sz="1635" b="0">
                <a:solidFill>
                  <a:srgbClr val="262626"/>
                </a:solidFill>
              </a:rPr>
              <a:t>, because you move less data.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6060" y="2618284"/>
          <a:ext cx="11375132" cy="2548531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139851"/>
                <a:gridCol w="938510"/>
                <a:gridCol w="2763540"/>
                <a:gridCol w="5533231"/>
              </a:tblGrid>
              <a:tr h="316111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SUFFIX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BITS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QUALITY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USE IT WHEN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Q8_0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8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Near-lossless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You have RAM to spare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Q6_K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6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Excellent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Good default on 16 GB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Q5_K_M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5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Very good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Balancing act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1">
                          <a:solidFill>
                            <a:srgbClr val="262626"/>
                          </a:solidFill>
                          <a:latin typeface="Consolas"/>
                        </a:rPr>
                        <a:t>Q4_K_M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1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1">
                          <a:solidFill>
                            <a:srgbClr val="262626"/>
                          </a:solidFill>
                        </a:rPr>
                        <a:t>Good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1">
                          <a:solidFill>
                            <a:srgbClr val="262626"/>
                          </a:solidFill>
                        </a:rPr>
                        <a:t>← the workshop default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Q3_K_M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3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Noticeably worse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Desperate for RAM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Q2_K, IQ2_*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2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Poor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Demos of what quantisation destroys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157041" y="5320109"/>
            <a:ext cx="5833170" cy="576759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ln w="12700">
            <a:solidFill>
              <a:srgbClr val="363EF8"/>
            </a:solidFill>
          </a:ln>
          <a:effectLst/>
        </p:spPr>
        <p:txBody>
          <a:bodyPr rtlCol="0" anchor="t" wrap="square" tIns="129282" rIns="256540" bIns="0" lIns="256540">
            <a:noAutofit/>
          </a:bodyPr>
          <a:lstStyle/>
          <a:p>
            <a:pPr algn="ctr" marL="0" marR="0">
              <a:lnSpc>
                <a:spcPts val="25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1">
                <a:solidFill>
                  <a:srgbClr val="2026D2"/>
                </a:solidFill>
              </a:rPr>
              <a:t>Rule of thumb: RAM for weights ≈ file size + 10–20%</a:t>
            </a:r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Layer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a repo id — and the case trap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1876227"/>
            <a:ext cx="11375132" cy="1174948"/>
          </a:xfrm>
          <a:prstGeom prst="roundRect">
            <a:avLst>
              <a:gd name="adj" fmla="val 4323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5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7" b="0">
                <a:solidFill>
                  <a:srgbClr val="E8EBFF"/>
                </a:solidFill>
                <a:latin typeface="Consolas"/>
              </a:rPr>
              <a:t>ggml-org / Qwen3-4B-GGUF  /  Qwen3-4B-Q4_K_M.gguf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│           │                    │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owner      repo                 the file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    (quantised re-uploads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     end in -GGUF)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060" y="1876227"/>
            <a:ext cx="25400" cy="1174948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6060" y="3195439"/>
            <a:ext cx="11375132" cy="707231"/>
          </a:xfrm>
          <a:prstGeom prst="rect">
            <a:avLst/>
          </a:prstGeom>
          <a:solidFill>
            <a:srgbClr val="FDF1EC"/>
          </a:solidFill>
          <a:ln>
            <a:noFill/>
          </a:ln>
          <a:effectLst/>
        </p:spPr>
        <p:txBody>
          <a:bodyPr rtlCol="0" anchor="t" wrap="square" tIns="0" rIns="187269" bIns="0" lIns="212669">
            <a:noAutofit/>
          </a:bodyPr>
          <a:lstStyle/>
          <a:p>
            <a:pPr algn="l" marL="0" marR="0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4" b="1">
                <a:solidFill>
                  <a:srgbClr val="6B3320"/>
                </a:solidFill>
              </a:rPr>
              <a:t>Filenames are case-sensitive and conventions differ per owner.</a:t>
            </a:r>
            <a:r>
              <a:rPr sz="1474" b="0">
                <a:solidFill>
                  <a:srgbClr val="6B3320"/>
                </a:solidFill>
              </a:rPr>
              <a:t> 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ggml-org</a:t>
            </a:r>
            <a:r>
              <a:rPr sz="1474" b="0">
                <a:solidFill>
                  <a:srgbClr val="6B3320"/>
                </a:solidFill>
              </a:rPr>
              <a:t> uses 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Qwen3-1.7B-Q4_K_M.gguf</a:t>
            </a:r>
            <a:r>
              <a:rPr sz="1474" b="0">
                <a:solidFill>
                  <a:srgbClr val="6B3320"/>
                </a:solidFill>
              </a:rPr>
              <a:t>; 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Qwen</a:t>
            </a:r>
            <a:r>
              <a:rPr sz="1474" b="0">
                <a:solidFill>
                  <a:srgbClr val="6B3320"/>
                </a:solidFill>
              </a:rPr>
              <a:t> uses lowercase 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qwen2.5-coder-1.5b-instruct-q4_k_m.gguf</a:t>
            </a:r>
            <a:r>
              <a:rPr sz="1474" b="0">
                <a:solidFill>
                  <a:srgbClr val="6B3320"/>
                </a:solidFill>
              </a:rPr>
              <a:t>. A retyped name is a 404 — copy exactly.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6060" y="3195439"/>
            <a:ext cx="25400" cy="707231"/>
          </a:xfrm>
          <a:prstGeom prst="rect">
            <a:avLst/>
          </a:prstGeom>
          <a:solidFill>
            <a:srgbClr val="F26B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6060" y="4181177"/>
            <a:ext cx="11400556" cy="26035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1" spc="35">
                <a:solidFill>
                  <a:srgbClr val="2026D2"/>
                </a:solidFill>
              </a:rPr>
              <a:t>Licences are not uniform either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6060" y="4547890"/>
            <a:ext cx="3677940" cy="1480741"/>
          </a:xfrm>
          <a:prstGeom prst="roundRect">
            <a:avLst>
              <a:gd name="adj" fmla="val 3430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Permissive</a:t>
            </a:r>
          </a:p>
          <a:p>
            <a:pPr marL="0" marR="0" algn="l">
              <a:lnSpc>
                <a:spcPts val="2108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rPr sz="1405" b="0">
                <a:solidFill>
                  <a:srgbClr val="575757"/>
                </a:solidFill>
              </a:rPr>
              <a:t>Apache 2.0 / MIT. SmolLM, Granite 4.0, nomic-embed, bge, LFM2.5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6060" y="4547890"/>
            <a:ext cx="25400" cy="1480741"/>
          </a:xfrm>
          <a:prstGeom prst="rect">
            <a:avLst/>
          </a:prstGeom>
          <a:solidFill>
            <a:srgbClr val="00CC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4656" y="4547890"/>
            <a:ext cx="3677940" cy="1480741"/>
          </a:xfrm>
          <a:prstGeom prst="roundRect">
            <a:avLst>
              <a:gd name="adj" fmla="val 3430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Qwen licence</a:t>
            </a:r>
          </a:p>
          <a:p>
            <a:pPr marL="0" marR="0" algn="l">
              <a:lnSpc>
                <a:spcPts val="2108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rPr sz="1405" b="0">
                <a:solidFill>
                  <a:srgbClr val="575757"/>
                </a:solidFill>
              </a:rPr>
              <a:t>Free incl. commercial, with an acceptable-use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4656" y="4547890"/>
            <a:ext cx="25400" cy="1480741"/>
          </a:xfrm>
          <a:prstGeom prst="rect">
            <a:avLst/>
          </a:prstGeom>
          <a:solidFill>
            <a:srgbClr val="DDE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83252" y="4547890"/>
            <a:ext cx="3677940" cy="1480741"/>
          </a:xfrm>
          <a:prstGeom prst="roundRect">
            <a:avLst>
              <a:gd name="adj" fmla="val 3430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Gated</a:t>
            </a:r>
          </a:p>
          <a:p>
            <a:pPr marL="0" marR="0" algn="l">
              <a:lnSpc>
                <a:spcPts val="2108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rPr sz="1405" b="0">
                <a:solidFill>
                  <a:srgbClr val="575757"/>
                </a:solidFill>
              </a:rPr>
              <a:t>Log in + accept a licence first, or </a:t>
            </a: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hf download</a:t>
            </a:r>
            <a:r>
              <a:rPr sz="1405" b="0">
                <a:solidFill>
                  <a:srgbClr val="575757"/>
                </a:solidFill>
              </a:rPr>
              <a:t> fails with 401. Meta Llama, Mistral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52" y="4547890"/>
            <a:ext cx="25400" cy="1480741"/>
          </a:xfrm>
          <a:prstGeom prst="rect">
            <a:avLst/>
          </a:prstGeom>
          <a:solidFill>
            <a:srgbClr val="F26B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Layer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Engines: llama.cpp vs vLLM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6060" y="2208808"/>
          <a:ext cx="11375133" cy="2548531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192834"/>
                <a:gridCol w="4013597"/>
                <a:gridCol w="5168702"/>
              </a:tblGrid>
              <a:tr h="316111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208"/>
                      </a:pP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LLAMA.CPP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VLLM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Language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C/C++, no dependencies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Python + CUDA kernels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Hardware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1">
                          <a:solidFill>
                            <a:srgbClr val="262626"/>
                          </a:solidFill>
                        </a:rPr>
                        <a:t>CPU, Metal, any GPU, a phone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NVIDIA GPU (best); CPU-only builds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Format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GGUF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safetensors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Strength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Runs everywhere, one user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Many concurrent users — PagedAttention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Install weight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~100 MB binary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1">
                          <a:solidFill>
                            <a:srgbClr val="262626"/>
                          </a:solidFill>
                        </a:rPr>
                        <a:t>10.31 GB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 GPU image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1">
                          <a:solidFill>
                            <a:srgbClr val="262626"/>
                          </a:solidFill>
                          <a:latin typeface="Consolas"/>
                        </a:rPr>
                        <a:t>Laptop, no GPU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1">
                          <a:solidFill>
                            <a:srgbClr val="262626"/>
                          </a:solidFill>
                        </a:rPr>
                        <a:t>Yes ← this workshop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CPU-only; </a:t>
                      </a:r>
                      <a:r>
                        <a:rPr sz="1405" b="1">
                          <a:solidFill>
                            <a:srgbClr val="262626"/>
                          </a:solidFill>
                        </a:rPr>
                        <a:t>experimental on Mac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86060" y="4952702"/>
            <a:ext cx="11375132" cy="688181"/>
          </a:xfrm>
          <a:prstGeom prst="rect">
            <a:avLst/>
          </a:prstGeom>
          <a:solidFill>
            <a:srgbClr val="FBFCE8"/>
          </a:solidFill>
          <a:ln>
            <a:noFill/>
          </a:ln>
          <a:effectLst/>
        </p:spPr>
        <p:txBody>
          <a:bodyPr rtlCol="0" anchor="t" wrap="square" tIns="0" rIns="187269" bIns="0" lIns="212669">
            <a:noAutofit/>
          </a:bodyPr>
          <a:lstStyle/>
          <a:p>
            <a:pPr algn="l" marL="0" marR="0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4" b="0">
                <a:solidFill>
                  <a:srgbClr val="4A4D10"/>
                </a:solidFill>
              </a:rPr>
              <a:t>vLLM does run without a GPU: an </a:t>
            </a:r>
            <a:r>
              <a:rPr sz="1474" b="1">
                <a:solidFill>
                  <a:srgbClr val="4A4D10"/>
                </a:solidFill>
              </a:rPr>
              <a:t>experimental CPU-only version for Mac</a:t>
            </a:r>
            <a:r>
              <a:rPr sz="1474" b="0">
                <a:solidFill>
                  <a:srgbClr val="4A4D10"/>
                </a:solidFill>
              </a:rPr>
              <a:t>, and a CPU image (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vllm/vllm-openai-cpu</a:t>
            </a:r>
            <a:r>
              <a:rPr sz="1474" b="0">
                <a:solidFill>
                  <a:srgbClr val="4A4D10"/>
                </a:solidFill>
              </a:rPr>
              <a:t>) for x86. Because of </a:t>
            </a:r>
            <a:r>
              <a:rPr sz="1474" b="1">
                <a:solidFill>
                  <a:srgbClr val="4A4D10"/>
                </a:solidFill>
              </a:rPr>
              <a:t>compatibility</a:t>
            </a:r>
            <a:r>
              <a:rPr sz="1474" b="0">
                <a:solidFill>
                  <a:srgbClr val="4A4D10"/>
                </a:solidFill>
              </a:rPr>
              <a:t> across everyone's laptops and the </a:t>
            </a:r>
            <a:r>
              <a:rPr sz="1474" b="1">
                <a:solidFill>
                  <a:srgbClr val="4A4D10"/>
                </a:solidFill>
              </a:rPr>
              <a:t>size of the image</a:t>
            </a:r>
            <a:r>
              <a:rPr sz="1474" b="0">
                <a:solidFill>
                  <a:srgbClr val="4A4D10"/>
                </a:solidFill>
              </a:rPr>
              <a:t>, we decided to use </a:t>
            </a:r>
            <a:r>
              <a:rPr sz="1474" b="1">
                <a:solidFill>
                  <a:srgbClr val="4A4D10"/>
                </a:solidFill>
              </a:rPr>
              <a:t>llama.cpp for this workshop</a:t>
            </a:r>
            <a:r>
              <a:rPr sz="1474" b="0">
                <a:solidFill>
                  <a:srgbClr val="4A4D10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6060" y="4952702"/>
            <a:ext cx="25400" cy="688181"/>
          </a:xfrm>
          <a:prstGeom prst="rect">
            <a:avLst/>
          </a:prstGeom>
          <a:solidFill>
            <a:srgbClr val="DDE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most important slide: one API for everything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1586905"/>
            <a:ext cx="11375132" cy="1368822"/>
          </a:xfrm>
          <a:prstGeom prst="roundRect">
            <a:avLst>
              <a:gd name="adj" fmla="val 3711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5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7" b="0">
                <a:solidFill>
                  <a:srgbClr val="E8EBFF"/>
                </a:solidFill>
                <a:latin typeface="Consolas"/>
              </a:rPr>
              <a:t>curl http://127.0.0.1:8080/v1/chat/completions \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-H </a:t>
            </a:r>
            <a:r>
              <a:rPr sz="1017" b="0">
                <a:solidFill>
                  <a:srgbClr val="DDEF03"/>
                </a:solidFill>
                <a:latin typeface="Consolas"/>
              </a:rPr>
              <a:t>"Content-Type: application/json"</a:t>
            </a:r>
            <a:r>
              <a:rPr sz="1017" b="0">
                <a:solidFill>
                  <a:srgbClr val="E8EBFF"/>
                </a:solidFill>
                <a:latin typeface="Consolas"/>
              </a:rPr>
              <a:t> \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-d </a:t>
            </a:r>
            <a:r>
              <a:rPr sz="1017" b="0">
                <a:solidFill>
                  <a:srgbClr val="DDEF03"/>
                </a:solidFill>
                <a:latin typeface="Consolas"/>
              </a:rPr>
              <a:t>'{</a:t>
            </a:r>
            <a:br/>
            <a:r>
              <a:rPr sz="1017" b="0">
                <a:solidFill>
                  <a:srgbClr val="DDEF03"/>
                </a:solidFill>
                <a:latin typeface="Consolas"/>
              </a:rPr>
              <a:t>    "model": "qwen3-1.7b",</a:t>
            </a:r>
            <a:br/>
            <a:r>
              <a:rPr sz="1017" b="0">
                <a:solidFill>
                  <a:srgbClr val="DDEF03"/>
                </a:solidFill>
                <a:latin typeface="Consolas"/>
              </a:rPr>
              <a:t>    "messages": [{"role":"user","content":"Say hello in one word."}]</a:t>
            </a:r>
            <a:br/>
            <a:r>
              <a:rPr sz="1017" b="0">
                <a:solidFill>
                  <a:srgbClr val="DDEF03"/>
                </a:solidFill>
                <a:latin typeface="Consolas"/>
              </a:rPr>
              <a:t>  }'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060" y="1586905"/>
            <a:ext cx="25400" cy="1368822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1577" y="3057922"/>
            <a:ext cx="9144000" cy="1213148"/>
          </a:xfrm>
          <a:prstGeom prst="roundRect">
            <a:avLst>
              <a:gd name="adj" fmla="val 5234"/>
            </a:avLst>
          </a:prstGeom>
          <a:solidFill>
            <a:srgbClr val="FFFFFF"/>
          </a:solidFill>
          <a:ln w="12700">
            <a:solidFill>
              <a:srgbClr val="363EF8"/>
            </a:solidFill>
          </a:ln>
          <a:effectLst/>
        </p:spPr>
        <p:txBody>
          <a:bodyPr rtlCol="0" anchor="t" wrap="square" tIns="129282" rIns="256540" bIns="0" lIns="256540">
            <a:noAutofit/>
          </a:bodyPr>
          <a:lstStyle/>
          <a:p>
            <a:pPr algn="ctr" marL="0" marR="0">
              <a:lnSpc>
                <a:spcPts val="25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1">
                <a:solidFill>
                  <a:srgbClr val="2026D2"/>
                </a:solidFill>
              </a:rPr>
              <a:t>llama.cpp, vLLM, LiteLLM, llama-swap and Ollama all speak it — so </a:t>
            </a:r>
            <a:r>
              <a:rPr sz="1728" b="1">
                <a:solidFill>
                  <a:srgbClr val="2026D2"/>
                </a:solidFill>
              </a:rPr>
              <a:t>any client works with any server</a:t>
            </a:r>
            <a:r>
              <a:rPr sz="1728" b="1">
                <a:solidFill>
                  <a:srgbClr val="2026D2"/>
                </a:solidFill>
              </a:rPr>
              <a:t>.</a:t>
            </a:r>
            <a:br/>
            <a:r>
              <a:rPr sz="1728" b="1">
                <a:solidFill>
                  <a:srgbClr val="2026D2"/>
                </a:solidFill>
              </a:rPr>
              <a:t>Swap the URL, keep the tool.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6060" y="4421188"/>
          <a:ext cx="11375132" cy="1804391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879850"/>
                <a:gridCol w="7495282"/>
              </a:tblGrid>
              <a:tr h="316111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ENDPOINT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PURPOSE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GET /v1/models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1">
                          <a:solidFill>
                            <a:srgbClr val="262626"/>
                          </a:solidFill>
                        </a:rPr>
                        <a:t>Your first debugging tool.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 If this fails, nothing else works.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POST /v1/chat/completions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Chat and tool calling — the main one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POST /v1/embeddings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Text → vectors, for search and RAG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GET /health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Is it up?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Layer 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slot, several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6060" y="2878931"/>
            <a:ext cx="11400556" cy="32514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35" b="0">
                <a:solidFill>
                  <a:srgbClr val="262626"/>
                </a:solidFill>
              </a:rPr>
              <a:t>Loading a model costs gigabytes and seconds. Four </a:t>
            </a:r>
            <a:r>
              <a:rPr sz="1406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llama-server</a:t>
            </a:r>
            <a:r>
              <a:rPr sz="1635" b="0">
                <a:solidFill>
                  <a:srgbClr val="262626"/>
                </a:solidFill>
              </a:rPr>
              <a:t> processes fighting over 16 GB will not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6060" y="3289399"/>
            <a:ext cx="11375132" cy="926505"/>
          </a:xfrm>
          <a:prstGeom prst="roundRect">
            <a:avLst>
              <a:gd name="adj" fmla="val 5482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0">
                <a:solidFill>
                  <a:srgbClr val="E8EBFF"/>
                </a:solidFill>
                <a:latin typeface="Consolas"/>
              </a:rPr>
              <a:t>:8090  ──┬──&gt; llama-server  (chat)    ← loaded now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      ├──&gt; llama-server  (coder)   ← starts on demand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      ├──&gt; llama-server  (embed)   ← starts on demand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      └──&gt; llama-server  (tiny)    ← starts on demand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86060" y="3289399"/>
            <a:ext cx="25400" cy="926505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6060" y="4361259"/>
            <a:ext cx="11400556" cy="623292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35" b="1">
                <a:solidFill>
                  <a:srgbClr val="262626"/>
                </a:solidFill>
              </a:rPr>
              <a:t>llama-swap</a:t>
            </a:r>
            <a:r>
              <a:rPr sz="1635" b="0">
                <a:solidFill>
                  <a:srgbClr val="262626"/>
                </a:solidFill>
              </a:rPr>
              <a:t> presents one API and starts/stops engines behind it. Idle models die after a TTL and your RAM comes back. That is what makes </a:t>
            </a:r>
            <a:r>
              <a:rPr sz="1635" b="1">
                <a:solidFill>
                  <a:srgbClr val="2026D2"/>
                </a:solidFill>
              </a:rPr>
              <a:t>specialists</a:t>
            </a:r>
            <a:r>
              <a:rPr sz="1635" b="0">
                <a:solidFill>
                  <a:srgbClr val="262626"/>
                </a:solidFill>
              </a:rPr>
              <a:t> practical on a laptop.</a:t>
            </a: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llama-swap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config, whole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1533823"/>
            <a:ext cx="11375132" cy="4470797"/>
          </a:xfrm>
          <a:prstGeom prst="roundRect">
            <a:avLst>
              <a:gd name="adj" fmla="val 1136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5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7" b="0">
                <a:solidFill>
                  <a:srgbClr val="9FB0FF"/>
                </a:solidFill>
                <a:latin typeface="Consolas"/>
              </a:rPr>
              <a:t>healthCheckTimeout</a:t>
            </a:r>
            <a:r>
              <a:rPr sz="1017" b="0">
                <a:solidFill>
                  <a:srgbClr val="E8EBFF"/>
                </a:solidFill>
                <a:latin typeface="Consolas"/>
              </a:rPr>
              <a:t>: </a:t>
            </a:r>
            <a:r>
              <a:rPr sz="1017" b="0">
                <a:solidFill>
                  <a:srgbClr val="5BE3A0"/>
                </a:solidFill>
                <a:latin typeface="Consolas"/>
              </a:rPr>
              <a:t>300</a:t>
            </a:r>
            <a:r>
              <a:rPr sz="1017" b="0">
                <a:solidFill>
                  <a:srgbClr val="E8EBFF"/>
                </a:solidFill>
                <a:latin typeface="Consolas"/>
              </a:rPr>
              <a:t>     </a:t>
            </a:r>
            <a:r>
              <a:rPr sz="1017" b="0">
                <a:solidFill>
                  <a:srgbClr val="7C86B8"/>
                </a:solidFill>
                <a:latin typeface="Consolas"/>
              </a:rPr>
              <a:t># seconds to wait for an engine to become healthy</a:t>
            </a:r>
            <a:br/>
            <a:r>
              <a:rPr sz="1017" b="0">
                <a:solidFill>
                  <a:srgbClr val="9FB0FF"/>
                </a:solidFill>
                <a:latin typeface="Consolas"/>
              </a:rPr>
              <a:t>startPort</a:t>
            </a:r>
            <a:r>
              <a:rPr sz="1017" b="0">
                <a:solidFill>
                  <a:srgbClr val="E8EBFF"/>
                </a:solidFill>
                <a:latin typeface="Consolas"/>
              </a:rPr>
              <a:t>: </a:t>
            </a:r>
            <a:r>
              <a:rPr sz="1017" b="0">
                <a:solidFill>
                  <a:srgbClr val="5BE3A0"/>
                </a:solidFill>
                <a:latin typeface="Consolas"/>
              </a:rPr>
              <a:t>18080</a:t>
            </a:r>
            <a:r>
              <a:rPr sz="1017" b="0">
                <a:solidFill>
                  <a:srgbClr val="E8EBFF"/>
                </a:solidFill>
                <a:latin typeface="Consolas"/>
              </a:rPr>
              <a:t>            </a:t>
            </a:r>
            <a:r>
              <a:rPr sz="1017" b="0">
                <a:solidFill>
                  <a:srgbClr val="7C86B8"/>
                </a:solidFill>
                <a:latin typeface="Consolas"/>
              </a:rPr>
              <a:t># first port handed out to engines</a:t>
            </a:r>
            <a:br/>
            <a:r>
              <a:rPr sz="1017" b="0">
                <a:solidFill>
                  <a:srgbClr val="9FB0FF"/>
                </a:solidFill>
                <a:latin typeface="Consolas"/>
              </a:rPr>
              <a:t>globalTTL</a:t>
            </a:r>
            <a:r>
              <a:rPr sz="1017" b="0">
                <a:solidFill>
                  <a:srgbClr val="E8EBFF"/>
                </a:solidFill>
                <a:latin typeface="Consolas"/>
              </a:rPr>
              <a:t>: </a:t>
            </a:r>
            <a:r>
              <a:rPr sz="1017" b="0">
                <a:solidFill>
                  <a:srgbClr val="5BE3A0"/>
                </a:solidFill>
                <a:latin typeface="Consolas"/>
              </a:rPr>
              <a:t>0</a:t>
            </a:r>
            <a:r>
              <a:rPr sz="1017" b="0">
                <a:solidFill>
                  <a:srgbClr val="E8EBFF"/>
                </a:solidFill>
                <a:latin typeface="Consolas"/>
              </a:rPr>
              <a:t>                </a:t>
            </a:r>
            <a:r>
              <a:rPr sz="1017" b="0">
                <a:solidFill>
                  <a:srgbClr val="7C86B8"/>
                </a:solidFill>
                <a:latin typeface="Consolas"/>
              </a:rPr>
              <a:t># 0 = never auto-unload; per-model ttl wins</a:t>
            </a:r>
            <a:br/>
            <a:br/>
            <a:r>
              <a:rPr sz="1017" b="0">
                <a:solidFill>
                  <a:srgbClr val="9FB0FF"/>
                </a:solidFill>
                <a:latin typeface="Consolas"/>
              </a:rPr>
              <a:t>macros</a:t>
            </a:r>
            <a:r>
              <a:rPr sz="1017" b="0">
                <a:solidFill>
                  <a:srgbClr val="E8EBFF"/>
                </a:solidFill>
                <a:latin typeface="Consolas"/>
              </a:rPr>
              <a:t>:                     </a:t>
            </a:r>
            <a:r>
              <a:rPr sz="1017" b="0">
                <a:solidFill>
                  <a:srgbClr val="7C86B8"/>
                </a:solidFill>
                <a:latin typeface="Consolas"/>
              </a:rPr>
              <a:t># text substitution. unknown macro = HARD error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</a:t>
            </a:r>
            <a:r>
              <a:rPr sz="1017" b="0">
                <a:solidFill>
                  <a:srgbClr val="9FB0FF"/>
                </a:solidFill>
                <a:latin typeface="Consolas"/>
              </a:rPr>
              <a:t>model-dir</a:t>
            </a:r>
            <a:r>
              <a:rPr sz="1017" b="0">
                <a:solidFill>
                  <a:srgbClr val="E8EBFF"/>
                </a:solidFill>
                <a:latin typeface="Consolas"/>
              </a:rPr>
              <a:t>: </a:t>
            </a:r>
            <a:r>
              <a:rPr sz="1017" b="0">
                <a:solidFill>
                  <a:srgbClr val="DDEF03"/>
                </a:solidFill>
                <a:latin typeface="Consolas"/>
              </a:rPr>
              <a:t>"/home/YOURNAME/models"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</a:t>
            </a:r>
            <a:r>
              <a:rPr sz="1017" b="0">
                <a:solidFill>
                  <a:srgbClr val="9FB0FF"/>
                </a:solidFill>
                <a:latin typeface="Consolas"/>
              </a:rPr>
              <a:t>llama-server-path</a:t>
            </a:r>
            <a:r>
              <a:rPr sz="1017" b="0">
                <a:solidFill>
                  <a:srgbClr val="E8EBFF"/>
                </a:solidFill>
                <a:latin typeface="Consolas"/>
              </a:rPr>
              <a:t>: </a:t>
            </a:r>
            <a:r>
              <a:rPr sz="1017" b="0">
                <a:solidFill>
                  <a:srgbClr val="DDEF03"/>
                </a:solidFill>
                <a:latin typeface="Consolas"/>
              </a:rPr>
              <a:t>"llama-server"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</a:t>
            </a:r>
            <a:r>
              <a:rPr sz="1017" b="0">
                <a:solidFill>
                  <a:srgbClr val="9FB0FF"/>
                </a:solidFill>
                <a:latin typeface="Consolas"/>
              </a:rPr>
              <a:t>common-args</a:t>
            </a:r>
            <a:r>
              <a:rPr sz="1017" b="0">
                <a:solidFill>
                  <a:srgbClr val="E8EBFF"/>
                </a:solidFill>
                <a:latin typeface="Consolas"/>
              </a:rPr>
              <a:t>: </a:t>
            </a:r>
            <a:r>
              <a:rPr sz="1017" b="0">
                <a:solidFill>
                  <a:srgbClr val="DDEF03"/>
                </a:solidFill>
                <a:latin typeface="Consolas"/>
              </a:rPr>
              <a:t>"--host 127.0.0.1 --port ${PORT} --jinja"</a:t>
            </a:r>
            <a:br/>
            <a:br/>
            <a:r>
              <a:rPr sz="1017" b="0">
                <a:solidFill>
                  <a:srgbClr val="9FB0FF"/>
                </a:solidFill>
                <a:latin typeface="Consolas"/>
              </a:rPr>
              <a:t>models</a:t>
            </a:r>
            <a:r>
              <a:rPr sz="1017" b="0">
                <a:solidFill>
                  <a:srgbClr val="E8EBFF"/>
                </a:solidFill>
                <a:latin typeface="Consolas"/>
              </a:rPr>
              <a:t>: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</a:t>
            </a:r>
            <a:r>
              <a:rPr sz="1017" b="0">
                <a:solidFill>
                  <a:srgbClr val="9FB0FF"/>
                </a:solidFill>
                <a:latin typeface="Consolas"/>
              </a:rPr>
              <a:t>chat</a:t>
            </a:r>
            <a:r>
              <a:rPr sz="1017" b="0">
                <a:solidFill>
                  <a:srgbClr val="E8EBFF"/>
                </a:solidFill>
                <a:latin typeface="Consolas"/>
              </a:rPr>
              <a:t>:                     </a:t>
            </a:r>
            <a:r>
              <a:rPr sz="1017" b="0">
                <a:solidFill>
                  <a:srgbClr val="7C86B8"/>
                </a:solidFill>
                <a:latin typeface="Consolas"/>
              </a:rPr>
              <a:t># the id clients put in "model"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cmd</a:t>
            </a:r>
            <a:r>
              <a:rPr sz="1017" b="0">
                <a:solidFill>
                  <a:srgbClr val="E8EBFF"/>
                </a:solidFill>
                <a:latin typeface="Consolas"/>
              </a:rPr>
              <a:t>: &gt;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  ${llama-server-path}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  -m ${model-dir}/Qwen3-1.7B-Q4_K_M.gguf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  ${common-args} -ngl </a:t>
            </a:r>
            <a:r>
              <a:rPr sz="1017" b="0">
                <a:solidFill>
                  <a:srgbClr val="5BE3A0"/>
                </a:solidFill>
                <a:latin typeface="Consolas"/>
              </a:rPr>
              <a:t>0</a:t>
            </a:r>
            <a:r>
              <a:rPr sz="1017" b="0">
                <a:solidFill>
                  <a:srgbClr val="E8EBFF"/>
                </a:solidFill>
                <a:latin typeface="Consolas"/>
              </a:rPr>
              <a:t> -c </a:t>
            </a:r>
            <a:r>
              <a:rPr sz="1017" b="0">
                <a:solidFill>
                  <a:srgbClr val="5BE3A0"/>
                </a:solidFill>
                <a:latin typeface="Consolas"/>
              </a:rPr>
              <a:t>8192</a:t>
            </a:r>
            <a:r>
              <a:rPr sz="1017" b="0">
                <a:solidFill>
                  <a:srgbClr val="E8EBFF"/>
                </a:solidFill>
                <a:latin typeface="Consolas"/>
              </a:rPr>
              <a:t> -np </a:t>
            </a:r>
            <a:r>
              <a:rPr sz="1017" b="0">
                <a:solidFill>
                  <a:srgbClr val="5BE3A0"/>
                </a:solidFill>
                <a:latin typeface="Consolas"/>
              </a:rPr>
              <a:t>1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ttl</a:t>
            </a:r>
            <a:r>
              <a:rPr sz="1017" b="0">
                <a:solidFill>
                  <a:srgbClr val="E8EBFF"/>
                </a:solidFill>
                <a:latin typeface="Consolas"/>
              </a:rPr>
              <a:t>: </a:t>
            </a:r>
            <a:r>
              <a:rPr sz="1017" b="0">
                <a:solidFill>
                  <a:srgbClr val="5BE3A0"/>
                </a:solidFill>
                <a:latin typeface="Consolas"/>
              </a:rPr>
              <a:t>600</a:t>
            </a:r>
            <a:r>
              <a:rPr sz="1017" b="0">
                <a:solidFill>
                  <a:srgbClr val="E8EBFF"/>
                </a:solidFill>
                <a:latin typeface="Consolas"/>
              </a:rPr>
              <a:t>                </a:t>
            </a:r>
            <a:r>
              <a:rPr sz="1017" b="0">
                <a:solidFill>
                  <a:srgbClr val="7C86B8"/>
                </a:solidFill>
                <a:latin typeface="Consolas"/>
              </a:rPr>
              <a:t># unload after 10 min idle → RAM returns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</a:t>
            </a:r>
            <a:r>
              <a:rPr sz="1017" b="0">
                <a:solidFill>
                  <a:srgbClr val="9FB0FF"/>
                </a:solidFill>
                <a:latin typeface="Consolas"/>
              </a:rPr>
              <a:t>embed</a:t>
            </a:r>
            <a:r>
              <a:rPr sz="1017" b="0">
                <a:solidFill>
                  <a:srgbClr val="E8EBFF"/>
                </a:solidFill>
                <a:latin typeface="Consolas"/>
              </a:rPr>
              <a:t>: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cmd</a:t>
            </a:r>
            <a:r>
              <a:rPr sz="1017" b="0">
                <a:solidFill>
                  <a:srgbClr val="E8EBFF"/>
                </a:solidFill>
                <a:latin typeface="Consolas"/>
              </a:rPr>
              <a:t>: &gt;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  ${llama-server-path}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  -m ${model-dir}/nomic-embed-text-v1.5.Q8_0.gguf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  ${common-args} -ngl </a:t>
            </a:r>
            <a:r>
              <a:rPr sz="1017" b="0">
                <a:solidFill>
                  <a:srgbClr val="5BE3A0"/>
                </a:solidFill>
                <a:latin typeface="Consolas"/>
              </a:rPr>
              <a:t>0</a:t>
            </a:r>
            <a:r>
              <a:rPr sz="1017" b="0">
                <a:solidFill>
                  <a:srgbClr val="E8EBFF"/>
                </a:solidFill>
                <a:latin typeface="Consolas"/>
              </a:rPr>
              <a:t> -c </a:t>
            </a:r>
            <a:r>
              <a:rPr sz="1017" b="0">
                <a:solidFill>
                  <a:srgbClr val="5BE3A0"/>
                </a:solidFill>
                <a:latin typeface="Consolas"/>
              </a:rPr>
              <a:t>2048</a:t>
            </a:r>
            <a:r>
              <a:rPr sz="1017" b="0">
                <a:solidFill>
                  <a:srgbClr val="E8EBFF"/>
                </a:solidFill>
                <a:latin typeface="Consolas"/>
              </a:rPr>
              <a:t> --embedding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ttl</a:t>
            </a:r>
            <a:r>
              <a:rPr sz="1017" b="0">
                <a:solidFill>
                  <a:srgbClr val="E8EBFF"/>
                </a:solidFill>
                <a:latin typeface="Consolas"/>
              </a:rPr>
              <a:t>: </a:t>
            </a:r>
            <a:r>
              <a:rPr sz="1017" b="0">
                <a:solidFill>
                  <a:srgbClr val="5BE3A0"/>
                </a:solidFill>
                <a:latin typeface="Consolas"/>
              </a:rPr>
              <a:t>600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060" y="1533823"/>
            <a:ext cx="25400" cy="4470797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6060" y="6045895"/>
            <a:ext cx="11400556" cy="32514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35" b="0">
                <a:solidFill>
                  <a:srgbClr val="575757"/>
                </a:solidFill>
              </a:rPr>
              <a:t>Full file in the repo: </a:t>
            </a:r>
            <a:r>
              <a:rPr sz="1406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configs/llama-swap/config.yaml</a:t>
            </a:r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llama-swap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each part does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6060" y="1700212"/>
          <a:ext cx="11375132" cy="3787971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861542"/>
                <a:gridCol w="9513590"/>
              </a:tblGrid>
              <a:tr h="316111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KEY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WHY IT MATTERS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models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The </a:t>
                      </a:r>
                      <a:r>
                        <a:rPr sz="1405" b="1">
                          <a:solidFill>
                            <a:srgbClr val="262626"/>
                          </a:solidFill>
                        </a:rPr>
                        <a:t>only required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 top-level key. Each entry's key is the public model id.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cmd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The </a:t>
                      </a:r>
                      <a:r>
                        <a:rPr sz="1405" b="1">
                          <a:solidFill>
                            <a:srgbClr val="262626"/>
                          </a:solidFill>
                        </a:rPr>
                        <a:t>only required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 per-model key — the command that starts the engine.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847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${PORT}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Auto-assigned free port. </a:t>
                      </a:r>
                      <a:r>
                        <a:rPr sz="1405" b="1">
                          <a:solidFill>
                            <a:srgbClr val="262626"/>
                          </a:solidFill>
                        </a:rPr>
                        <a:t>Reserved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, like </a:t>
                      </a: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${MODEL_ID}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 and </a:t>
                      </a: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${PID}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6006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proxy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Defaults to </a:t>
                      </a: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http://localhost:${PORT}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. Omit it when </a:t>
                      </a: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cmd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 uses </a:t>
                      </a: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${PORT}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. A mismatch here is </a:t>
                      </a:r>
                      <a:r>
                        <a:rPr sz="1405" b="1">
                          <a:solidFill>
                            <a:srgbClr val="262626"/>
                          </a:solidFill>
                        </a:rPr>
                        <a:t>the #1 llama-swap failure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6006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macros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Your own substitutions. </a:t>
                      </a: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${HOME}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 is </a:t>
                      </a:r>
                      <a:r>
                        <a:rPr sz="1405" b="1">
                          <a:solidFill>
                            <a:srgbClr val="262626"/>
                          </a:solidFill>
                        </a:rPr>
                        <a:t>not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 a macro — env vars are not expanded, and an unknown name fails loudly at startup.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847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ttl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Idle seconds before unload. </a:t>
                      </a: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0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 = keep resident. This is the RAM reclamation.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healthCheckTimeout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Default </a:t>
                      </a:r>
                      <a:r>
                        <a:rPr sz="1405" b="1">
                          <a:solidFill>
                            <a:srgbClr val="262626"/>
                          </a:solidFill>
                        </a:rPr>
                        <a:t>120 s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, minimum 15. Too short for a cold load that must download weights.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847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aliases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Extra names — e.g. impersonate </a:t>
                      </a: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gpt-4o-mini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 so existing tooling works unchanged.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86060" y="5683548"/>
            <a:ext cx="11375132" cy="465931"/>
          </a:xfrm>
          <a:prstGeom prst="rect">
            <a:avLst/>
          </a:prstGeom>
          <a:solidFill>
            <a:srgbClr val="F0F2FF"/>
          </a:solidFill>
          <a:ln>
            <a:noFill/>
          </a:ln>
          <a:effectLst/>
        </p:spPr>
        <p:txBody>
          <a:bodyPr rtlCol="0" anchor="t" wrap="square" tIns="0" rIns="187269" bIns="0" lIns="212669">
            <a:noAutofit/>
          </a:bodyPr>
          <a:lstStyle/>
          <a:p>
            <a:pPr algn="l" marL="0" marR="0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4" b="0">
                <a:solidFill>
                  <a:srgbClr val="1C2160"/>
                </a:solidFill>
              </a:rPr>
              <a:t>Validate before running: 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llama-swap --config config.yaml --validate</a:t>
            </a:r>
            <a:r>
              <a:rPr sz="1474" b="0">
                <a:solidFill>
                  <a:srgbClr val="1C2160"/>
                </a:solidFill>
              </a:rPr>
              <a:t> (v252+). Edit live with 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--watch-config</a:t>
            </a:r>
            <a:r>
              <a:rPr sz="1474" b="0">
                <a:solidFill>
                  <a:srgbClr val="1C2160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6060" y="5683548"/>
            <a:ext cx="25400" cy="465931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llama-swap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production route, annotated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1699121"/>
            <a:ext cx="5780683" cy="3206155"/>
          </a:xfrm>
          <a:prstGeom prst="roundRect">
            <a:avLst>
              <a:gd name="adj" fmla="val 1536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77394" bIns="0" lIns="196444">
            <a:noAutofit/>
          </a:bodyPr>
          <a:lstStyle/>
          <a:p>
            <a:pPr algn="l" marL="0" marR="0">
              <a:lnSpc>
                <a:spcPts val="1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7" b="0">
                <a:solidFill>
                  <a:srgbClr val="9FB0FF"/>
                </a:solidFill>
                <a:latin typeface="Consolas"/>
              </a:rPr>
              <a:t>local-fast</a:t>
            </a:r>
            <a:r>
              <a:rPr sz="987" b="0">
                <a:solidFill>
                  <a:srgbClr val="E8EBFF"/>
                </a:solidFill>
                <a:latin typeface="Consolas"/>
              </a:rPr>
              <a:t>:</a:t>
            </a:r>
            <a:br/>
            <a:r>
              <a:rPr sz="987" b="0">
                <a:solidFill>
                  <a:srgbClr val="E8EBFF"/>
                </a:solidFill>
                <a:latin typeface="Consolas"/>
              </a:rPr>
              <a:t>  </a:t>
            </a:r>
            <a:r>
              <a:rPr sz="987" b="0">
                <a:solidFill>
                  <a:srgbClr val="9FB0FF"/>
                </a:solidFill>
                <a:latin typeface="Consolas"/>
              </a:rPr>
              <a:t>cmd</a:t>
            </a:r>
            <a:r>
              <a:rPr sz="987" b="0">
                <a:solidFill>
                  <a:srgbClr val="E8EBFF"/>
                </a:solidFill>
                <a:latin typeface="Consolas"/>
              </a:rPr>
              <a:t>: &gt;</a:t>
            </a:r>
            <a:br/>
            <a:r>
              <a:rPr sz="987" b="0">
                <a:solidFill>
                  <a:srgbClr val="E8EBFF"/>
                </a:solidFill>
                <a:latin typeface="Consolas"/>
              </a:rPr>
              <a:t>    llama-server</a:t>
            </a:r>
            <a:br/>
            <a:r>
              <a:rPr sz="987" b="0">
                <a:solidFill>
                  <a:srgbClr val="E8EBFF"/>
                </a:solidFill>
                <a:latin typeface="Consolas"/>
              </a:rPr>
              <a:t>    -m /models/…/Qwen3.8-9B-Q6_K.gguf</a:t>
            </a:r>
            <a:br/>
            <a:r>
              <a:rPr sz="987" b="0">
                <a:solidFill>
                  <a:srgbClr val="E8EBFF"/>
                </a:solidFill>
                <a:latin typeface="Consolas"/>
              </a:rPr>
              <a:t>    --host </a:t>
            </a:r>
            <a:r>
              <a:rPr sz="987" b="0">
                <a:solidFill>
                  <a:srgbClr val="5BE3A0"/>
                </a:solidFill>
                <a:latin typeface="Consolas"/>
              </a:rPr>
              <a:t>127.0.0.1</a:t>
            </a:r>
            <a:br/>
            <a:r>
              <a:rPr sz="987" b="0">
                <a:solidFill>
                  <a:srgbClr val="E8EBFF"/>
                </a:solidFill>
                <a:latin typeface="Consolas"/>
              </a:rPr>
              <a:t>    --port ${PORT}</a:t>
            </a:r>
            <a:br/>
            <a:r>
              <a:rPr sz="987" b="0">
                <a:solidFill>
                  <a:srgbClr val="E8EBFF"/>
                </a:solidFill>
                <a:latin typeface="Consolas"/>
              </a:rPr>
              <a:t>    -c </a:t>
            </a:r>
            <a:r>
              <a:rPr sz="987" b="0">
                <a:solidFill>
                  <a:srgbClr val="5BE3A0"/>
                </a:solidFill>
                <a:latin typeface="Consolas"/>
              </a:rPr>
              <a:t>131072</a:t>
            </a:r>
            <a:br/>
            <a:r>
              <a:rPr sz="987" b="0">
                <a:solidFill>
                  <a:srgbClr val="E8EBFF"/>
                </a:solidFill>
                <a:latin typeface="Consolas"/>
              </a:rPr>
              <a:t>    --parallel </a:t>
            </a:r>
            <a:r>
              <a:rPr sz="987" b="0">
                <a:solidFill>
                  <a:srgbClr val="5BE3A0"/>
                </a:solidFill>
                <a:latin typeface="Consolas"/>
              </a:rPr>
              <a:t>4</a:t>
            </a:r>
            <a:br/>
            <a:r>
              <a:rPr sz="987" b="0">
                <a:solidFill>
                  <a:srgbClr val="E8EBFF"/>
                </a:solidFill>
                <a:latin typeface="Consolas"/>
              </a:rPr>
              <a:t>    --cache-type-k </a:t>
            </a:r>
            <a:r>
              <a:rPr sz="987" b="0">
                <a:solidFill>
                  <a:srgbClr val="5BE3A0"/>
                </a:solidFill>
                <a:latin typeface="Consolas"/>
              </a:rPr>
              <a:t>q8_0</a:t>
            </a:r>
            <a:br/>
            <a:r>
              <a:rPr sz="987" b="0">
                <a:solidFill>
                  <a:srgbClr val="E8EBFF"/>
                </a:solidFill>
                <a:latin typeface="Consolas"/>
              </a:rPr>
              <a:t>    --cache-type-v </a:t>
            </a:r>
            <a:r>
              <a:rPr sz="987" b="0">
                <a:solidFill>
                  <a:srgbClr val="5BE3A0"/>
                </a:solidFill>
                <a:latin typeface="Consolas"/>
              </a:rPr>
              <a:t>q8_0</a:t>
            </a:r>
            <a:br/>
            <a:r>
              <a:rPr sz="987" b="0">
                <a:solidFill>
                  <a:srgbClr val="E8EBFF"/>
                </a:solidFill>
                <a:latin typeface="Consolas"/>
              </a:rPr>
              <a:t>    --flash-attn on</a:t>
            </a:r>
            <a:br/>
            <a:r>
              <a:rPr sz="987" b="0">
                <a:solidFill>
                  <a:srgbClr val="E8EBFF"/>
                </a:solidFill>
                <a:latin typeface="Consolas"/>
              </a:rPr>
              <a:t>    --jinja</a:t>
            </a:r>
            <a:br/>
            <a:r>
              <a:rPr sz="987" b="0">
                <a:solidFill>
                  <a:srgbClr val="E8EBFF"/>
                </a:solidFill>
                <a:latin typeface="Consolas"/>
              </a:rPr>
              <a:t>    --reasoning-budget </a:t>
            </a:r>
            <a:r>
              <a:rPr sz="987" b="0">
                <a:solidFill>
                  <a:srgbClr val="5BE3A0"/>
                </a:solidFill>
                <a:latin typeface="Consolas"/>
              </a:rPr>
              <a:t>0</a:t>
            </a:r>
            <a:br/>
            <a:r>
              <a:rPr sz="987" b="0">
                <a:solidFill>
                  <a:srgbClr val="E8EBFF"/>
                </a:solidFill>
                <a:latin typeface="Consolas"/>
              </a:rPr>
              <a:t>    -ngl </a:t>
            </a:r>
            <a:r>
              <a:rPr sz="987" b="0">
                <a:solidFill>
                  <a:srgbClr val="5BE3A0"/>
                </a:solidFill>
                <a:latin typeface="Consolas"/>
              </a:rPr>
              <a:t>999</a:t>
            </a:r>
            <a:br/>
            <a:r>
              <a:rPr sz="987" b="0">
                <a:solidFill>
                  <a:srgbClr val="E8EBFF"/>
                </a:solidFill>
                <a:latin typeface="Consolas"/>
              </a:rPr>
              <a:t>  </a:t>
            </a:r>
            <a:r>
              <a:rPr sz="987" b="0">
                <a:solidFill>
                  <a:srgbClr val="9FB0FF"/>
                </a:solidFill>
                <a:latin typeface="Consolas"/>
              </a:rPr>
              <a:t>ttl</a:t>
            </a:r>
            <a:r>
              <a:rPr sz="987" b="0">
                <a:solidFill>
                  <a:srgbClr val="E8EBFF"/>
                </a:solidFill>
                <a:latin typeface="Consolas"/>
              </a:rPr>
              <a:t>: </a:t>
            </a:r>
            <a:r>
              <a:rPr sz="987" b="0">
                <a:solidFill>
                  <a:srgbClr val="5BE3A0"/>
                </a:solidFill>
                <a:latin typeface="Consolas"/>
              </a:rPr>
              <a:t>3600</a:t>
            </a:r>
            <a:br/>
            <a:r>
              <a:rPr sz="987" b="0">
                <a:solidFill>
                  <a:srgbClr val="E8EBFF"/>
                </a:solidFill>
                <a:latin typeface="Consolas"/>
              </a:rPr>
              <a:t>  </a:t>
            </a:r>
            <a:r>
              <a:rPr sz="987" b="0">
                <a:solidFill>
                  <a:srgbClr val="9FB0FF"/>
                </a:solidFill>
                <a:latin typeface="Consolas"/>
              </a:rPr>
              <a:t>proxy</a:t>
            </a:r>
            <a:r>
              <a:rPr sz="987" b="0">
                <a:solidFill>
                  <a:srgbClr val="E8EBFF"/>
                </a:solidFill>
                <a:latin typeface="Consolas"/>
              </a:rPr>
              <a:t>: http://127.0.0.1:${PORT}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060" y="1699121"/>
            <a:ext cx="19639" cy="3206155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32240" y="1743770"/>
            <a:ext cx="5780683" cy="3866654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302279" marR="0" indent="-302279" algn="l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364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--host 127.0.0.1</a:t>
            </a:r>
            <a:r>
              <a:rPr sz="1586" b="0">
                <a:solidFill>
                  <a:srgbClr val="262626"/>
                </a:solidFill>
              </a:rPr>
              <a:t> — never bind the LAN by accident</a:t>
            </a:r>
          </a:p>
          <a:p>
            <a:pPr marL="302279" marR="0" indent="-302279" algn="l">
              <a:lnSpc>
                <a:spcPts val="2380"/>
              </a:lnSpc>
              <a:spcBef>
                <a:spcPts val="666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364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--cache-type-k/v q8_0</a:t>
            </a:r>
            <a:r>
              <a:rPr sz="1586" b="0">
                <a:solidFill>
                  <a:srgbClr val="262626"/>
                </a:solidFill>
              </a:rPr>
              <a:t> — halves the KV cache; the standard RAM lever</a:t>
            </a:r>
          </a:p>
          <a:p>
            <a:pPr marL="302279" marR="0" indent="-302279" algn="l">
              <a:lnSpc>
                <a:spcPts val="2380"/>
              </a:lnSpc>
              <a:spcBef>
                <a:spcPts val="666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364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--reasoning-budget 0</a:t>
            </a:r>
            <a:r>
              <a:rPr sz="1586" b="0">
                <a:solidFill>
                  <a:srgbClr val="262626"/>
                </a:solidFill>
              </a:rPr>
              <a:t> — stops a thinking model burning the whole output budget on thought</a:t>
            </a:r>
          </a:p>
          <a:p>
            <a:pPr marL="302279" marR="0" indent="-302279" algn="l">
              <a:lnSpc>
                <a:spcPts val="2380"/>
              </a:lnSpc>
              <a:spcBef>
                <a:spcPts val="666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364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--jinja</a:t>
            </a:r>
            <a:r>
              <a:rPr sz="1586" b="0">
                <a:solidFill>
                  <a:srgbClr val="262626"/>
                </a:solidFill>
              </a:rPr>
              <a:t> — the model's own chat template; required for tool calling</a:t>
            </a:r>
          </a:p>
          <a:p>
            <a:pPr marL="302279" marR="0" indent="-302279" algn="l">
              <a:lnSpc>
                <a:spcPts val="2380"/>
              </a:lnSpc>
              <a:spcBef>
                <a:spcPts val="666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364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-ngl 999</a:t>
            </a:r>
            <a:r>
              <a:rPr sz="1586" b="0">
                <a:solidFill>
                  <a:srgbClr val="262626"/>
                </a:solidFill>
              </a:rPr>
              <a:t> — offload everything to GPU. </a:t>
            </a:r>
            <a:r>
              <a:rPr sz="1586" b="1">
                <a:solidFill>
                  <a:srgbClr val="262626"/>
                </a:solidFill>
              </a:rPr>
              <a:t>On your laptop: </a:t>
            </a:r>
            <a:r>
              <a:rPr sz="1364" b="1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-ngl 0</a:t>
            </a:r>
            <a:r>
              <a:rPr sz="1586" b="1">
                <a:solidFill>
                  <a:srgbClr val="262626"/>
                </a:solidFill>
              </a:rPr>
              <a:t>.</a:t>
            </a:r>
          </a:p>
          <a:p>
            <a:pPr marL="302279" marR="0" indent="-302279" algn="l">
              <a:lnSpc>
                <a:spcPts val="2380"/>
              </a:lnSpc>
              <a:spcBef>
                <a:spcPts val="666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364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-c 131072 --parallel 4</a:t>
            </a:r>
            <a:r>
              <a:rPr sz="1586" b="0">
                <a:solidFill>
                  <a:srgbClr val="262626"/>
                </a:solidFill>
              </a:rPr>
              <a:t> — a 128 GB box's numbers. </a:t>
            </a:r>
            <a:r>
              <a:rPr sz="1586" b="1">
                <a:solidFill>
                  <a:srgbClr val="262626"/>
                </a:solidFill>
              </a:rPr>
              <a:t>Yours: </a:t>
            </a:r>
            <a:r>
              <a:rPr sz="1364" b="1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-c 8192 -np 1</a:t>
            </a:r>
            <a:r>
              <a:rPr sz="1586" b="1">
                <a:solidFill>
                  <a:srgbClr val="262626"/>
                </a:solidFill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2240" y="5710238"/>
            <a:ext cx="5780683" cy="433784"/>
          </a:xfrm>
          <a:prstGeom prst="rect">
            <a:avLst/>
          </a:prstGeom>
          <a:solidFill>
            <a:srgbClr val="FBFCE8"/>
          </a:solidFill>
          <a:ln>
            <a:noFill/>
          </a:ln>
          <a:effectLst/>
        </p:spPr>
        <p:txBody>
          <a:bodyPr rtlCol="0" anchor="t" wrap="square" tIns="0" rIns="181651" bIns="0" lIns="200701">
            <a:noAutofit/>
          </a:bodyPr>
          <a:lstStyle/>
          <a:p>
            <a:pPr algn="l" marL="0" marR="0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0" b="0">
                <a:solidFill>
                  <a:srgbClr val="4A4D10"/>
                </a:solidFill>
              </a:rPr>
              <a:t>Same structure, different scale. Take the </a:t>
            </a:r>
            <a:r>
              <a:rPr sz="1430" b="1">
                <a:solidFill>
                  <a:srgbClr val="2026D2"/>
                </a:solidFill>
              </a:rPr>
              <a:t>shape</a:t>
            </a:r>
            <a:r>
              <a:rPr sz="1430" b="0">
                <a:solidFill>
                  <a:srgbClr val="4A4D10"/>
                </a:solidFill>
              </a:rPr>
              <a:t>, not the numbers.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2240" y="5710238"/>
            <a:ext cx="19639" cy="433784"/>
          </a:xfrm>
          <a:prstGeom prst="rect">
            <a:avLst/>
          </a:prstGeom>
          <a:solidFill>
            <a:srgbClr val="DDE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Layer 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Several backends, one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6060" y="2515890"/>
            <a:ext cx="11400556" cy="31164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35" b="0">
                <a:solidFill>
                  <a:srgbClr val="262626"/>
                </a:solidFill>
              </a:rPr>
              <a:t>Your local llama-swap, a colleague's GPU box, OpenRouter, Google's free tier — different URLs, different keys.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6060" y="2888456"/>
            <a:ext cx="11375132" cy="1711325"/>
          </a:xfrm>
          <a:prstGeom prst="roundRect">
            <a:avLst>
              <a:gd name="adj" fmla="val 2968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LiteLLM puts one endpoint in front of all of it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1">
                <a:solidFill>
                  <a:srgbClr val="575757"/>
                </a:solidFill>
              </a:rPr>
              <a:t>Routing</a:t>
            </a:r>
            <a:r>
              <a:rPr sz="1405" b="0">
                <a:solidFill>
                  <a:srgbClr val="575757"/>
                </a:solidFill>
              </a:rPr>
              <a:t> — </a:t>
            </a: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fast-model</a:t>
            </a:r>
            <a:r>
              <a:rPr sz="1405" b="0">
                <a:solidFill>
                  <a:srgbClr val="575757"/>
                </a:solidFill>
              </a:rPr>
              <a:t> local, </a:t>
            </a: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big-model</a:t>
            </a:r>
            <a:r>
              <a:rPr sz="1405" b="0">
                <a:solidFill>
                  <a:srgbClr val="575757"/>
                </a:solidFill>
              </a:rPr>
              <a:t> cloud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1">
                <a:solidFill>
                  <a:srgbClr val="575757"/>
                </a:solidFill>
              </a:rPr>
              <a:t>Fallback</a:t>
            </a:r>
            <a:r>
              <a:rPr sz="1405" b="0">
                <a:solidFill>
                  <a:srgbClr val="575757"/>
                </a:solidFill>
              </a:rPr>
              <a:t> — local died? retry on the cloud. </a:t>
            </a:r>
            <a:r>
              <a:rPr sz="1405" b="1">
                <a:solidFill>
                  <a:srgbClr val="2026D2"/>
                </a:solidFill>
              </a:rPr>
              <a:t>This is what makes a workshop survivable.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1">
                <a:solidFill>
                  <a:srgbClr val="575757"/>
                </a:solidFill>
              </a:rPr>
              <a:t>Uniform API</a:t>
            </a:r>
            <a:r>
              <a:rPr sz="1405" b="0">
                <a:solidFill>
                  <a:srgbClr val="575757"/>
                </a:solidFill>
              </a:rPr>
              <a:t> — 100+ providers behind OpenAI-shaped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6060" y="2888456"/>
            <a:ext cx="25400" cy="1711325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33241" y="4691162"/>
            <a:ext cx="7280672" cy="595610"/>
          </a:xfrm>
          <a:prstGeom prst="roundRect">
            <a:avLst>
              <a:gd name="adj" fmla="val 10661"/>
            </a:avLst>
          </a:prstGeom>
          <a:solidFill>
            <a:srgbClr val="FFFFFF"/>
          </a:solidFill>
          <a:ln w="12700">
            <a:solidFill>
              <a:srgbClr val="363EF8"/>
            </a:solidFill>
          </a:ln>
          <a:effectLst/>
        </p:spPr>
        <p:txBody>
          <a:bodyPr rtlCol="0" anchor="t" wrap="square" tIns="129282" rIns="256540" bIns="0" lIns="256540">
            <a:noAutofit/>
          </a:bodyPr>
          <a:lstStyle/>
          <a:p>
            <a:pPr algn="ctr" marL="0" marR="0">
              <a:lnSpc>
                <a:spcPts val="25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1">
                <a:solidFill>
                  <a:srgbClr val="2026D2"/>
                </a:solidFill>
              </a:rPr>
              <a:t>Clients talk to </a:t>
            </a:r>
            <a:r>
              <a:rPr sz="1486" b="1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:4000</a:t>
            </a:r>
            <a:r>
              <a:rPr sz="1728" b="1">
                <a:solidFill>
                  <a:srgbClr val="2026D2"/>
                </a:solidFill>
              </a:rPr>
              <a:t> and never learn where the tokens came from.</a:t>
            </a: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LiteLLM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config, whole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1630759"/>
            <a:ext cx="11375132" cy="4276923"/>
          </a:xfrm>
          <a:prstGeom prst="roundRect">
            <a:avLst>
              <a:gd name="adj" fmla="val 1187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5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7" b="0">
                <a:solidFill>
                  <a:srgbClr val="9FB0FF"/>
                </a:solidFill>
                <a:latin typeface="Consolas"/>
              </a:rPr>
              <a:t>model_list</a:t>
            </a:r>
            <a:r>
              <a:rPr sz="1017" b="0">
                <a:solidFill>
                  <a:srgbClr val="E8EBFF"/>
                </a:solidFill>
                <a:latin typeface="Consolas"/>
              </a:rPr>
              <a:t>: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- </a:t>
            </a:r>
            <a:r>
              <a:rPr sz="1017" b="0">
                <a:solidFill>
                  <a:srgbClr val="9FB0FF"/>
                </a:solidFill>
                <a:latin typeface="Consolas"/>
              </a:rPr>
              <a:t>model_name</a:t>
            </a:r>
            <a:r>
              <a:rPr sz="1017" b="0">
                <a:solidFill>
                  <a:srgbClr val="E8EBFF"/>
                </a:solidFill>
                <a:latin typeface="Consolas"/>
              </a:rPr>
              <a:t>: </a:t>
            </a:r>
            <a:r>
              <a:rPr sz="1017" b="0">
                <a:solidFill>
                  <a:srgbClr val="DDEF03"/>
                </a:solidFill>
                <a:latin typeface="Consolas"/>
              </a:rPr>
              <a:t>local-chat</a:t>
            </a:r>
            <a:r>
              <a:rPr sz="1017" b="0">
                <a:solidFill>
                  <a:srgbClr val="E8EBFF"/>
                </a:solidFill>
                <a:latin typeface="Consolas"/>
              </a:rPr>
              <a:t>          </a:t>
            </a:r>
            <a:r>
              <a:rPr sz="1017" b="0">
                <a:solidFill>
                  <a:srgbClr val="7C86B8"/>
                </a:solidFill>
                <a:latin typeface="Consolas"/>
              </a:rPr>
              <a:t># PUBLIC alias — what clients ask for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litellm_params</a:t>
            </a:r>
            <a:r>
              <a:rPr sz="1017" b="0">
                <a:solidFill>
                  <a:srgbClr val="E8EBFF"/>
                </a:solidFill>
                <a:latin typeface="Consolas"/>
              </a:rPr>
              <a:t>: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model</a:t>
            </a:r>
            <a:r>
              <a:rPr sz="1017" b="0">
                <a:solidFill>
                  <a:srgbClr val="E8EBFF"/>
                </a:solidFill>
                <a:latin typeface="Consolas"/>
              </a:rPr>
              <a:t>: </a:t>
            </a:r>
            <a:r>
              <a:rPr sz="1017" b="0">
                <a:solidFill>
                  <a:srgbClr val="DDEF03"/>
                </a:solidFill>
                <a:latin typeface="Consolas"/>
              </a:rPr>
              <a:t>openai/chat</a:t>
            </a:r>
            <a:r>
              <a:rPr sz="1017" b="0">
                <a:solidFill>
                  <a:srgbClr val="E8EBFF"/>
                </a:solidFill>
                <a:latin typeface="Consolas"/>
              </a:rPr>
              <a:t>            </a:t>
            </a:r>
            <a:r>
              <a:rPr sz="1017" b="0">
                <a:solidFill>
                  <a:srgbClr val="7C86B8"/>
                </a:solidFill>
                <a:latin typeface="Consolas"/>
              </a:rPr>
              <a:t># openai/ = protocol · chat = upstream id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api_base</a:t>
            </a:r>
            <a:r>
              <a:rPr sz="1017" b="0">
                <a:solidFill>
                  <a:srgbClr val="E8EBFF"/>
                </a:solidFill>
                <a:latin typeface="Consolas"/>
              </a:rPr>
              <a:t>: </a:t>
            </a:r>
            <a:r>
              <a:rPr sz="1017" b="0">
                <a:solidFill>
                  <a:srgbClr val="DDEF03"/>
                </a:solidFill>
                <a:latin typeface="Consolas"/>
              </a:rPr>
              <a:t>os.environ/LOCAL_API_BASE</a:t>
            </a:r>
            <a:r>
              <a:rPr sz="1017" b="0">
                <a:solidFill>
                  <a:srgbClr val="E8EBFF"/>
                </a:solidFill>
                <a:latin typeface="Consolas"/>
              </a:rPr>
              <a:t>   </a:t>
            </a:r>
            <a:r>
              <a:rPr sz="1017" b="0">
                <a:solidFill>
                  <a:srgbClr val="7C86B8"/>
                </a:solidFill>
                <a:latin typeface="Consolas"/>
              </a:rPr>
              <a:t># http://host.docker.internal:8090/v1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api_key</a:t>
            </a:r>
            <a:r>
              <a:rPr sz="1017" b="0">
                <a:solidFill>
                  <a:srgbClr val="E8EBFF"/>
                </a:solidFill>
                <a:latin typeface="Consolas"/>
              </a:rPr>
              <a:t>: </a:t>
            </a:r>
            <a:r>
              <a:rPr sz="1017" b="0">
                <a:solidFill>
                  <a:srgbClr val="DDEF03"/>
                </a:solidFill>
                <a:latin typeface="Consolas"/>
              </a:rPr>
              <a:t>os.environ/LOCAL_API_KEY</a:t>
            </a:r>
            <a:r>
              <a:rPr sz="1017" b="0">
                <a:solidFill>
                  <a:srgbClr val="E8EBFF"/>
                </a:solidFill>
                <a:latin typeface="Consolas"/>
              </a:rPr>
              <a:t>     </a:t>
            </a:r>
            <a:r>
              <a:rPr sz="1017" b="0">
                <a:solidFill>
                  <a:srgbClr val="7C86B8"/>
                </a:solidFill>
                <a:latin typeface="Consolas"/>
              </a:rPr>
              <a:t># "dummy" for a keyless local server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timeout</a:t>
            </a:r>
            <a:r>
              <a:rPr sz="1017" b="0">
                <a:solidFill>
                  <a:srgbClr val="E8EBFF"/>
                </a:solidFill>
                <a:latin typeface="Consolas"/>
              </a:rPr>
              <a:t>: </a:t>
            </a:r>
            <a:r>
              <a:rPr sz="1017" b="0">
                <a:solidFill>
                  <a:srgbClr val="5BE3A0"/>
                </a:solidFill>
                <a:latin typeface="Consolas"/>
              </a:rPr>
              <a:t>600</a:t>
            </a:r>
            <a:r>
              <a:rPr sz="1017" b="0">
                <a:solidFill>
                  <a:srgbClr val="E8EBFF"/>
                </a:solidFill>
                <a:latin typeface="Consolas"/>
              </a:rPr>
              <a:t>                  </a:t>
            </a:r>
            <a:r>
              <a:rPr sz="1017" b="0">
                <a:solidFill>
                  <a:srgbClr val="7C86B8"/>
                </a:solidFill>
                <a:latin typeface="Consolas"/>
              </a:rPr>
              <a:t># survive a cold llama-swap load</a:t>
            </a:r>
            <a:br/>
            <a:br/>
            <a:r>
              <a:rPr sz="1017" b="0">
                <a:solidFill>
                  <a:srgbClr val="E8EBFF"/>
                </a:solidFill>
                <a:latin typeface="Consolas"/>
              </a:rPr>
              <a:t>  - </a:t>
            </a:r>
            <a:r>
              <a:rPr sz="1017" b="0">
                <a:solidFill>
                  <a:srgbClr val="9FB0FF"/>
                </a:solidFill>
                <a:latin typeface="Consolas"/>
              </a:rPr>
              <a:t>model_name</a:t>
            </a:r>
            <a:r>
              <a:rPr sz="1017" b="0">
                <a:solidFill>
                  <a:srgbClr val="E8EBFF"/>
                </a:solidFill>
                <a:latin typeface="Consolas"/>
              </a:rPr>
              <a:t>: </a:t>
            </a:r>
            <a:r>
              <a:rPr sz="1017" b="0">
                <a:solidFill>
                  <a:srgbClr val="DDEF03"/>
                </a:solidFill>
                <a:latin typeface="Consolas"/>
              </a:rPr>
              <a:t>resilient</a:t>
            </a:r>
            <a:r>
              <a:rPr sz="1017" b="0">
                <a:solidFill>
                  <a:srgbClr val="E8EBFF"/>
                </a:solidFill>
                <a:latin typeface="Consolas"/>
              </a:rPr>
              <a:t>           </a:t>
            </a:r>
            <a:r>
              <a:rPr sz="1017" b="0">
                <a:solidFill>
                  <a:srgbClr val="7C86B8"/>
                </a:solidFill>
                <a:latin typeface="Consolas"/>
              </a:rPr>
              <a:t># same backend, cloud behind it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litellm_params</a:t>
            </a:r>
            <a:r>
              <a:rPr sz="1017" b="0">
                <a:solidFill>
                  <a:srgbClr val="E8EBFF"/>
                </a:solidFill>
                <a:latin typeface="Consolas"/>
              </a:rPr>
              <a:t>: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model</a:t>
            </a:r>
            <a:r>
              <a:rPr sz="1017" b="0">
                <a:solidFill>
                  <a:srgbClr val="E8EBFF"/>
                </a:solidFill>
                <a:latin typeface="Consolas"/>
              </a:rPr>
              <a:t>: </a:t>
            </a:r>
            <a:r>
              <a:rPr sz="1017" b="0">
                <a:solidFill>
                  <a:srgbClr val="DDEF03"/>
                </a:solidFill>
                <a:latin typeface="Consolas"/>
              </a:rPr>
              <a:t>openai/chat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api_base</a:t>
            </a:r>
            <a:r>
              <a:rPr sz="1017" b="0">
                <a:solidFill>
                  <a:srgbClr val="E8EBFF"/>
                </a:solidFill>
                <a:latin typeface="Consolas"/>
              </a:rPr>
              <a:t>: </a:t>
            </a:r>
            <a:r>
              <a:rPr sz="1017" b="0">
                <a:solidFill>
                  <a:srgbClr val="DDEF03"/>
                </a:solidFill>
                <a:latin typeface="Consolas"/>
              </a:rPr>
              <a:t>os.environ/LOCAL_API_BASE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api_key</a:t>
            </a:r>
            <a:r>
              <a:rPr sz="1017" b="0">
                <a:solidFill>
                  <a:srgbClr val="E8EBFF"/>
                </a:solidFill>
                <a:latin typeface="Consolas"/>
              </a:rPr>
              <a:t>: </a:t>
            </a:r>
            <a:r>
              <a:rPr sz="1017" b="0">
                <a:solidFill>
                  <a:srgbClr val="DDEF03"/>
                </a:solidFill>
                <a:latin typeface="Consolas"/>
              </a:rPr>
              <a:t>os.environ/LOCAL_API_KEY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timeout</a:t>
            </a:r>
            <a:r>
              <a:rPr sz="1017" b="0">
                <a:solidFill>
                  <a:srgbClr val="E8EBFF"/>
                </a:solidFill>
                <a:latin typeface="Consolas"/>
              </a:rPr>
              <a:t>: </a:t>
            </a:r>
            <a:r>
              <a:rPr sz="1017" b="0">
                <a:solidFill>
                  <a:srgbClr val="5BE3A0"/>
                </a:solidFill>
                <a:latin typeface="Consolas"/>
              </a:rPr>
              <a:t>600</a:t>
            </a:r>
            <a:br/>
            <a:br/>
            <a:r>
              <a:rPr sz="1017" b="0">
                <a:solidFill>
                  <a:srgbClr val="9FB0FF"/>
                </a:solidFill>
                <a:latin typeface="Consolas"/>
              </a:rPr>
              <a:t>router_settings</a:t>
            </a:r>
            <a:r>
              <a:rPr sz="1017" b="0">
                <a:solidFill>
                  <a:srgbClr val="E8EBFF"/>
                </a:solidFill>
                <a:latin typeface="Consolas"/>
              </a:rPr>
              <a:t>: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</a:t>
            </a:r>
            <a:r>
              <a:rPr sz="1017" b="0">
                <a:solidFill>
                  <a:srgbClr val="9FB0FF"/>
                </a:solidFill>
                <a:latin typeface="Consolas"/>
              </a:rPr>
              <a:t>fallbacks</a:t>
            </a:r>
            <a:r>
              <a:rPr sz="1017" b="0">
                <a:solidFill>
                  <a:srgbClr val="E8EBFF"/>
                </a:solidFill>
                <a:latin typeface="Consolas"/>
              </a:rPr>
              <a:t>: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- </a:t>
            </a:r>
            <a:r>
              <a:rPr sz="1017" b="0">
                <a:solidFill>
                  <a:srgbClr val="DDEF03"/>
                </a:solidFill>
                <a:latin typeface="Consolas"/>
              </a:rPr>
              <a:t>resilient</a:t>
            </a:r>
            <a:r>
              <a:rPr sz="1017" b="0">
                <a:solidFill>
                  <a:srgbClr val="E8EBFF"/>
                </a:solidFill>
                <a:latin typeface="Consolas"/>
              </a:rPr>
              <a:t>: [</a:t>
            </a:r>
            <a:r>
              <a:rPr sz="1017" b="0">
                <a:solidFill>
                  <a:srgbClr val="DDEF03"/>
                </a:solidFill>
                <a:latin typeface="Consolas"/>
              </a:rPr>
              <a:t>"cloud-fast"</a:t>
            </a:r>
            <a:r>
              <a:rPr sz="1017" b="0">
                <a:solidFill>
                  <a:srgbClr val="E8EBFF"/>
                </a:solidFill>
                <a:latin typeface="Consolas"/>
              </a:rPr>
              <a:t>]     </a:t>
            </a:r>
            <a:r>
              <a:rPr sz="1017" b="0">
                <a:solidFill>
                  <a:srgbClr val="7C86B8"/>
                </a:solidFill>
                <a:latin typeface="Consolas"/>
              </a:rPr>
              <a:t># local down? retry on the cloud</a:t>
            </a:r>
            <a:br/>
            <a:br/>
            <a:r>
              <a:rPr sz="1017" b="0">
                <a:solidFill>
                  <a:srgbClr val="9FB0FF"/>
                </a:solidFill>
                <a:latin typeface="Consolas"/>
              </a:rPr>
              <a:t>general_settings</a:t>
            </a:r>
            <a:r>
              <a:rPr sz="1017" b="0">
                <a:solidFill>
                  <a:srgbClr val="E8EBFF"/>
                </a:solidFill>
                <a:latin typeface="Consolas"/>
              </a:rPr>
              <a:t>: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</a:t>
            </a:r>
            <a:r>
              <a:rPr sz="1017" b="0">
                <a:solidFill>
                  <a:srgbClr val="9FB0FF"/>
                </a:solidFill>
                <a:latin typeface="Consolas"/>
              </a:rPr>
              <a:t>master_key</a:t>
            </a:r>
            <a:r>
              <a:rPr sz="1017" b="0">
                <a:solidFill>
                  <a:srgbClr val="E8EBFF"/>
                </a:solidFill>
                <a:latin typeface="Consolas"/>
              </a:rPr>
              <a:t>: </a:t>
            </a:r>
            <a:r>
              <a:rPr sz="1017" b="0">
                <a:solidFill>
                  <a:srgbClr val="DDEF03"/>
                </a:solidFill>
                <a:latin typeface="Consolas"/>
              </a:rPr>
              <a:t>os.environ/LITELLM_MASTER_KEY</a:t>
            </a:r>
            <a:r>
              <a:rPr sz="1017" b="0">
                <a:solidFill>
                  <a:srgbClr val="E8EBFF"/>
                </a:solidFill>
                <a:latin typeface="Consolas"/>
              </a:rPr>
              <a:t>   </a:t>
            </a:r>
            <a:r>
              <a:rPr sz="1017" b="0">
                <a:solidFill>
                  <a:srgbClr val="7C86B8"/>
                </a:solidFill>
                <a:latin typeface="Consolas"/>
              </a:rPr>
              <a:t># must start with sk-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060" y="1630759"/>
            <a:ext cx="25400" cy="4276923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6060" y="5948958"/>
            <a:ext cx="11400556" cy="32514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35" b="0">
                <a:solidFill>
                  <a:srgbClr val="575757"/>
                </a:solidFill>
              </a:rPr>
              <a:t>Full file in the repo: </a:t>
            </a:r>
            <a:r>
              <a:rPr sz="1406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configs/litellm/config.yaml</a:t>
            </a:r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LiteLLM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each part does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6060" y="1781473"/>
          <a:ext cx="11375132" cy="3403201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046089"/>
                <a:gridCol w="9329043"/>
              </a:tblGrid>
              <a:tr h="316111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KEY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WHY IT MATTERS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model_name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The alias the </a:t>
                      </a:r>
                      <a:r>
                        <a:rPr sz="1405" b="1">
                          <a:solidFill>
                            <a:srgbClr val="262626"/>
                          </a:solidFill>
                        </a:rPr>
                        <a:t>client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 sends. A routing group, not a model.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6006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litellm_params.model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What LiteLLM asks upstream. </a:t>
                      </a: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openai/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 is a </a:t>
                      </a:r>
                      <a:r>
                        <a:rPr sz="1405" b="1">
                          <a:solidFill>
                            <a:srgbClr val="262626"/>
                          </a:solidFill>
                        </a:rPr>
                        <a:t>protocol selector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; the part after it must match the server's id byte-for-byte.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847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api_base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host.docker.internal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, never </a:t>
                      </a: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127.0.0.1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 — inside the container, loopback means the container.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847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api_key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dummy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 is correct for a keyless local server. Real keys go through </a:t>
                      </a: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os.environ/NAME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timeout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Per-route. Order it above the global timeout, above llama-swap's health check — or retries re-trigger cold loads.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fallbacks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The resilience demo: kill the local server, the request still answers.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6006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master_key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Once set, </a:t>
                      </a:r>
                      <a:r>
                        <a:rPr sz="1405" b="1">
                          <a:solidFill>
                            <a:srgbClr val="262626"/>
                          </a:solidFill>
                        </a:rPr>
                        <a:t>every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 key-bearing endpoint 401s without the bearer — including </a:t>
                      </a: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/v1/models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. </a:t>
                      </a: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/health/liveliness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 stays open.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86060" y="5380038"/>
            <a:ext cx="11375132" cy="688181"/>
          </a:xfrm>
          <a:prstGeom prst="rect">
            <a:avLst/>
          </a:prstGeom>
          <a:solidFill>
            <a:srgbClr val="F0F2FF"/>
          </a:solidFill>
          <a:ln>
            <a:noFill/>
          </a:ln>
          <a:effectLst/>
        </p:spPr>
        <p:txBody>
          <a:bodyPr rtlCol="0" anchor="t" wrap="square" tIns="0" rIns="187269" bIns="0" lIns="212669">
            <a:noAutofit/>
          </a:bodyPr>
          <a:lstStyle/>
          <a:p>
            <a:pPr algn="l" marL="0" marR="0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drop_params: true</a:t>
            </a:r>
            <a:r>
              <a:rPr sz="1474" b="0">
                <a:solidFill>
                  <a:srgbClr val="1C2160"/>
                </a:solidFill>
              </a:rPr>
              <a:t> is load-bearing for llama.cpp: it strips a null 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encoding_format</a:t>
            </a:r>
            <a:r>
              <a:rPr sz="1474" b="0">
                <a:solidFill>
                  <a:srgbClr val="1C2160"/>
                </a:solidFill>
              </a:rPr>
              <a:t> that would otherwise 400 every embedding request.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6060" y="5380038"/>
            <a:ext cx="25400" cy="688181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LiteLLM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docker-compose.yml, and the one line that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2053233"/>
            <a:ext cx="5602188" cy="2532062"/>
          </a:xfrm>
          <a:prstGeom prst="roundRect">
            <a:avLst>
              <a:gd name="adj" fmla="val 2006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5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7" b="0">
                <a:solidFill>
                  <a:srgbClr val="9FB0FF"/>
                </a:solidFill>
                <a:latin typeface="Consolas"/>
              </a:rPr>
              <a:t>services</a:t>
            </a:r>
            <a:r>
              <a:rPr sz="1017" b="0">
                <a:solidFill>
                  <a:srgbClr val="E8EBFF"/>
                </a:solidFill>
                <a:latin typeface="Consolas"/>
              </a:rPr>
              <a:t>: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</a:t>
            </a:r>
            <a:r>
              <a:rPr sz="1017" b="0">
                <a:solidFill>
                  <a:srgbClr val="9FB0FF"/>
                </a:solidFill>
                <a:latin typeface="Consolas"/>
              </a:rPr>
              <a:t>litellm</a:t>
            </a:r>
            <a:r>
              <a:rPr sz="1017" b="0">
                <a:solidFill>
                  <a:srgbClr val="E8EBFF"/>
                </a:solidFill>
                <a:latin typeface="Consolas"/>
              </a:rPr>
              <a:t>: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image</a:t>
            </a:r>
            <a:r>
              <a:rPr sz="1017" b="0">
                <a:solidFill>
                  <a:srgbClr val="E8EBFF"/>
                </a:solidFill>
                <a:latin typeface="Consolas"/>
              </a:rPr>
              <a:t>: ghcr.io/berriai/litellm:</a:t>
            </a:r>
            <a:r>
              <a:rPr sz="1017" b="0">
                <a:solidFill>
                  <a:srgbClr val="DDEF03"/>
                </a:solidFill>
                <a:latin typeface="Consolas"/>
              </a:rPr>
              <a:t>v1.106.4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command</a:t>
            </a:r>
            <a:r>
              <a:rPr sz="1017" b="0">
                <a:solidFill>
                  <a:srgbClr val="E8EBFF"/>
                </a:solidFill>
                <a:latin typeface="Consolas"/>
              </a:rPr>
              <a:t>: [</a:t>
            </a:r>
            <a:r>
              <a:rPr sz="1017" b="0">
                <a:solidFill>
                  <a:srgbClr val="DDEF03"/>
                </a:solidFill>
                <a:latin typeface="Consolas"/>
              </a:rPr>
              <a:t>"--config"</a:t>
            </a:r>
            <a:r>
              <a:rPr sz="1017" b="0">
                <a:solidFill>
                  <a:srgbClr val="E8EBFF"/>
                </a:solidFill>
                <a:latin typeface="Consolas"/>
              </a:rPr>
              <a:t>, </a:t>
            </a:r>
            <a:r>
              <a:rPr sz="1017" b="0">
                <a:solidFill>
                  <a:srgbClr val="DDEF03"/>
                </a:solidFill>
                <a:latin typeface="Consolas"/>
              </a:rPr>
              <a:t>"/app/config.yaml"</a:t>
            </a:r>
            <a:r>
              <a:rPr sz="1017" b="0">
                <a:solidFill>
                  <a:srgbClr val="E8EBFF"/>
                </a:solidFill>
                <a:latin typeface="Consolas"/>
              </a:rPr>
              <a:t>,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          </a:t>
            </a:r>
            <a:r>
              <a:rPr sz="1017" b="0">
                <a:solidFill>
                  <a:srgbClr val="DDEF03"/>
                </a:solidFill>
                <a:latin typeface="Consolas"/>
              </a:rPr>
              <a:t>"--port"</a:t>
            </a:r>
            <a:r>
              <a:rPr sz="1017" b="0">
                <a:solidFill>
                  <a:srgbClr val="E8EBFF"/>
                </a:solidFill>
                <a:latin typeface="Consolas"/>
              </a:rPr>
              <a:t>, </a:t>
            </a:r>
            <a:r>
              <a:rPr sz="1017" b="0">
                <a:solidFill>
                  <a:srgbClr val="DDEF03"/>
                </a:solidFill>
                <a:latin typeface="Consolas"/>
              </a:rPr>
              <a:t>"4000"</a:t>
            </a:r>
            <a:r>
              <a:rPr sz="1017" b="0">
                <a:solidFill>
                  <a:srgbClr val="E8EBFF"/>
                </a:solidFill>
                <a:latin typeface="Consolas"/>
              </a:rPr>
              <a:t>]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ports</a:t>
            </a:r>
            <a:r>
              <a:rPr sz="1017" b="0">
                <a:solidFill>
                  <a:srgbClr val="E8EBFF"/>
                </a:solidFill>
                <a:latin typeface="Consolas"/>
              </a:rPr>
              <a:t>: [</a:t>
            </a:r>
            <a:r>
              <a:rPr sz="1017" b="0">
                <a:solidFill>
                  <a:srgbClr val="DDEF03"/>
                </a:solidFill>
                <a:latin typeface="Consolas"/>
              </a:rPr>
              <a:t>"4000:4000"</a:t>
            </a:r>
            <a:r>
              <a:rPr sz="1017" b="0">
                <a:solidFill>
                  <a:srgbClr val="E8EBFF"/>
                </a:solidFill>
                <a:latin typeface="Consolas"/>
              </a:rPr>
              <a:t>]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volumes</a:t>
            </a:r>
            <a:r>
              <a:rPr sz="1017" b="0">
                <a:solidFill>
                  <a:srgbClr val="E8EBFF"/>
                </a:solidFill>
                <a:latin typeface="Consolas"/>
              </a:rPr>
              <a:t>: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  - ./config.yaml:/app/config.yaml:</a:t>
            </a:r>
            <a:r>
              <a:rPr sz="1017" b="0">
                <a:solidFill>
                  <a:srgbClr val="DDEF03"/>
                </a:solidFill>
                <a:latin typeface="Consolas"/>
              </a:rPr>
              <a:t>ro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env_file</a:t>
            </a:r>
            <a:r>
              <a:rPr sz="1017" b="0">
                <a:solidFill>
                  <a:srgbClr val="E8EBFF"/>
                </a:solidFill>
                <a:latin typeface="Consolas"/>
              </a:rPr>
              <a:t>: [.env]        </a:t>
            </a:r>
            <a:r>
              <a:rPr sz="1017" b="0">
                <a:solidFill>
                  <a:srgbClr val="7C86B8"/>
                </a:solidFill>
                <a:latin typeface="Consolas"/>
              </a:rPr>
              <a:t># gitignored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extra_hosts</a:t>
            </a:r>
            <a:r>
              <a:rPr sz="1017" b="0">
                <a:solidFill>
                  <a:srgbClr val="E8EBFF"/>
                </a:solidFill>
                <a:latin typeface="Consolas"/>
              </a:rPr>
              <a:t>:            </a:t>
            </a:r>
            <a:r>
              <a:rPr sz="1017" b="0">
                <a:solidFill>
                  <a:srgbClr val="7C86B8"/>
                </a:solidFill>
                <a:latin typeface="Consolas"/>
              </a:rPr>
              <a:t># ← THE line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  - </a:t>
            </a:r>
            <a:r>
              <a:rPr sz="1017" b="0">
                <a:solidFill>
                  <a:srgbClr val="DDEF03"/>
                </a:solidFill>
                <a:latin typeface="Consolas"/>
              </a:rPr>
              <a:t>"host.docker.internal:host-gateway"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restart</a:t>
            </a:r>
            <a:r>
              <a:rPr sz="1017" b="0">
                <a:solidFill>
                  <a:srgbClr val="E8EBFF"/>
                </a:solidFill>
                <a:latin typeface="Consolas"/>
              </a:rPr>
              <a:t>: unless-stopped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060" y="2053233"/>
            <a:ext cx="25400" cy="2532062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58905" y="2187476"/>
            <a:ext cx="5627711" cy="28575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1" spc="35">
                <a:solidFill>
                  <a:srgbClr val="2026D2"/>
                </a:solidFill>
              </a:rPr>
              <a:t>Why </a:t>
            </a:r>
            <a:r>
              <a:rPr sz="1486" b="1" spc="35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extra_hosts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8905" y="2560439"/>
            <a:ext cx="5627711" cy="245665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311628" marR="0" indent="-311628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635" b="0">
                <a:solidFill>
                  <a:srgbClr val="262626"/>
                </a:solidFill>
              </a:rPr>
              <a:t>LiteLLM runs </a:t>
            </a:r>
            <a:r>
              <a:rPr sz="1635" b="1">
                <a:solidFill>
                  <a:srgbClr val="262626"/>
                </a:solidFill>
              </a:rPr>
              <a:t>inside a container</a:t>
            </a:r>
            <a:r>
              <a:rPr sz="1635" b="0">
                <a:solidFill>
                  <a:srgbClr val="262626"/>
                </a:solidFill>
              </a:rPr>
              <a:t>; your model runs on the </a:t>
            </a:r>
            <a:r>
              <a:rPr sz="1635" b="1">
                <a:solidFill>
                  <a:srgbClr val="262626"/>
                </a:solidFill>
              </a:rPr>
              <a:t>host</a:t>
            </a:r>
            <a:r>
              <a:rPr sz="1635" b="0">
                <a:solidFill>
                  <a:srgbClr val="262626"/>
                </a:solidFill>
              </a:rPr>
              <a:t>.</a:t>
            </a:r>
          </a:p>
          <a:p>
            <a:pPr marL="311628" marR="0" indent="-311628" algn="l">
              <a:lnSpc>
                <a:spcPts val="2454"/>
              </a:lnSpc>
              <a:spcBef>
                <a:spcPts val="687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635" b="0">
                <a:solidFill>
                  <a:srgbClr val="262626"/>
                </a:solidFill>
              </a:rPr>
              <a:t>Docker Desktop (macOS/Windows) provides </a:t>
            </a:r>
            <a:r>
              <a:rPr sz="1406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host.docker.internal</a:t>
            </a:r>
            <a:r>
              <a:rPr sz="1635" b="0">
                <a:solidFill>
                  <a:srgbClr val="262626"/>
                </a:solidFill>
              </a:rPr>
              <a:t> automatically.</a:t>
            </a:r>
          </a:p>
          <a:p>
            <a:pPr marL="311628" marR="0" indent="-311628" algn="l">
              <a:lnSpc>
                <a:spcPts val="2454"/>
              </a:lnSpc>
              <a:spcBef>
                <a:spcPts val="687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635" b="0">
                <a:solidFill>
                  <a:srgbClr val="262626"/>
                </a:solidFill>
              </a:rPr>
              <a:t>Linux and WSL2 </a:t>
            </a:r>
            <a:r>
              <a:rPr sz="1635" b="1">
                <a:solidFill>
                  <a:srgbClr val="262626"/>
                </a:solidFill>
              </a:rPr>
              <a:t>do not</a:t>
            </a:r>
            <a:r>
              <a:rPr sz="1635" b="0">
                <a:solidFill>
                  <a:srgbClr val="262626"/>
                </a:solidFill>
              </a:rPr>
              <a:t> — this line creates it.</a:t>
            </a:r>
          </a:p>
          <a:p>
            <a:pPr marL="311628" marR="0" indent="-311628" algn="l">
              <a:lnSpc>
                <a:spcPts val="2454"/>
              </a:lnSpc>
              <a:spcBef>
                <a:spcPts val="687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635" b="0">
                <a:solidFill>
                  <a:srgbClr val="262626"/>
                </a:solidFill>
              </a:rPr>
              <a:t>Harmless on macOS, </a:t>
            </a:r>
            <a:r>
              <a:rPr sz="1635" b="1">
                <a:solidFill>
                  <a:srgbClr val="262626"/>
                </a:solidFill>
              </a:rPr>
              <a:t>required</a:t>
            </a:r>
            <a:r>
              <a:rPr sz="1635" b="0">
                <a:solidFill>
                  <a:srgbClr val="262626"/>
                </a:solidFill>
              </a:rPr>
              <a:t> on Linux. One uniform file beats three variants.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8905" y="5120084"/>
            <a:ext cx="5602288" cy="669131"/>
          </a:xfrm>
          <a:prstGeom prst="rect">
            <a:avLst/>
          </a:prstGeom>
          <a:solidFill>
            <a:srgbClr val="FDF1EC"/>
          </a:solidFill>
          <a:ln>
            <a:noFill/>
          </a:ln>
          <a:effectLst/>
        </p:spPr>
        <p:txBody>
          <a:bodyPr rtlCol="0" anchor="t" wrap="square" tIns="0" rIns="187269" bIns="0" lIns="212669">
            <a:noAutofit/>
          </a:bodyPr>
          <a:lstStyle/>
          <a:p>
            <a:pPr algn="l" marL="0" marR="0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4" b="0">
                <a:solidFill>
                  <a:srgbClr val="6B3320"/>
                </a:solidFill>
              </a:rPr>
              <a:t>Missing it is the single most common LiteLLM failure in this workshop: routes list fine, every completion fails.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58905" y="5120084"/>
            <a:ext cx="25400" cy="669131"/>
          </a:xfrm>
          <a:prstGeom prst="rect">
            <a:avLst/>
          </a:prstGeom>
          <a:solidFill>
            <a:srgbClr val="F26B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LiteLLM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production route, annotated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2521248"/>
            <a:ext cx="5602188" cy="1756569"/>
          </a:xfrm>
          <a:prstGeom prst="roundRect">
            <a:avLst>
              <a:gd name="adj" fmla="val 2892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5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7" b="0">
                <a:solidFill>
                  <a:srgbClr val="7C86B8"/>
                </a:solidFill>
                <a:latin typeface="Consolas"/>
              </a:rPr>
              <a:t># PASSTHROUGH ROUTE BY DESIGN —</a:t>
            </a:r>
            <a:br/>
            <a:r>
              <a:rPr sz="1017" b="0">
                <a:solidFill>
                  <a:srgbClr val="7C86B8"/>
                </a:solidFill>
                <a:latin typeface="Consolas"/>
              </a:rPr>
              <a:t># no sampling params here at all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- </a:t>
            </a:r>
            <a:r>
              <a:rPr sz="1017" b="0">
                <a:solidFill>
                  <a:srgbClr val="9FB0FF"/>
                </a:solidFill>
                <a:latin typeface="Consolas"/>
              </a:rPr>
              <a:t>model_name</a:t>
            </a:r>
            <a:r>
              <a:rPr sz="1017" b="0">
                <a:solidFill>
                  <a:srgbClr val="E8EBFF"/>
                </a:solidFill>
                <a:latin typeface="Consolas"/>
              </a:rPr>
              <a:t>: </a:t>
            </a:r>
            <a:r>
              <a:rPr sz="1017" b="0">
                <a:solidFill>
                  <a:srgbClr val="DDEF03"/>
                </a:solidFill>
                <a:latin typeface="Consolas"/>
              </a:rPr>
              <a:t>qwen3.8-9b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</a:t>
            </a:r>
            <a:r>
              <a:rPr sz="1017" b="0">
                <a:solidFill>
                  <a:srgbClr val="9FB0FF"/>
                </a:solidFill>
                <a:latin typeface="Consolas"/>
              </a:rPr>
              <a:t>litellm_params</a:t>
            </a:r>
            <a:r>
              <a:rPr sz="1017" b="0">
                <a:solidFill>
                  <a:srgbClr val="E8EBFF"/>
                </a:solidFill>
                <a:latin typeface="Consolas"/>
              </a:rPr>
              <a:t>: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model</a:t>
            </a:r>
            <a:r>
              <a:rPr sz="1017" b="0">
                <a:solidFill>
                  <a:srgbClr val="E8EBFF"/>
                </a:solidFill>
                <a:latin typeface="Consolas"/>
              </a:rPr>
              <a:t>: </a:t>
            </a:r>
            <a:r>
              <a:rPr sz="1017" b="0">
                <a:solidFill>
                  <a:srgbClr val="DDEF03"/>
                </a:solidFill>
                <a:latin typeface="Consolas"/>
              </a:rPr>
              <a:t>openai/qwen3.8-9b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api_base</a:t>
            </a:r>
            <a:r>
              <a:rPr sz="1017" b="0">
                <a:solidFill>
                  <a:srgbClr val="E8EBFF"/>
                </a:solidFill>
                <a:latin typeface="Consolas"/>
              </a:rPr>
              <a:t>: </a:t>
            </a:r>
            <a:r>
              <a:rPr sz="1017" b="0">
                <a:solidFill>
                  <a:srgbClr val="DDEF03"/>
                </a:solidFill>
                <a:latin typeface="Consolas"/>
              </a:rPr>
              <a:t>http://host.docker.internal:8090/v1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api_key</a:t>
            </a:r>
            <a:r>
              <a:rPr sz="1017" b="0">
                <a:solidFill>
                  <a:srgbClr val="E8EBFF"/>
                </a:solidFill>
                <a:latin typeface="Consolas"/>
              </a:rPr>
              <a:t>: </a:t>
            </a:r>
            <a:r>
              <a:rPr sz="1017" b="0">
                <a:solidFill>
                  <a:srgbClr val="DDEF03"/>
                </a:solidFill>
                <a:latin typeface="Consolas"/>
              </a:rPr>
              <a:t>dummy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    </a:t>
            </a:r>
            <a:r>
              <a:rPr sz="1017" b="0">
                <a:solidFill>
                  <a:srgbClr val="9FB0FF"/>
                </a:solidFill>
                <a:latin typeface="Consolas"/>
              </a:rPr>
              <a:t>timeout</a:t>
            </a:r>
            <a:r>
              <a:rPr sz="1017" b="0">
                <a:solidFill>
                  <a:srgbClr val="E8EBFF"/>
                </a:solidFill>
                <a:latin typeface="Consolas"/>
              </a:rPr>
              <a:t>: </a:t>
            </a:r>
            <a:r>
              <a:rPr sz="1017" b="0">
                <a:solidFill>
                  <a:srgbClr val="5BE3A0"/>
                </a:solidFill>
                <a:latin typeface="Consolas"/>
              </a:rPr>
              <a:t>1400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060" y="2521248"/>
            <a:ext cx="25400" cy="1756569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58905" y="2567186"/>
            <a:ext cx="5627711" cy="1759645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311628" marR="0" indent="-311628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635" b="1">
                <a:solidFill>
                  <a:srgbClr val="262626"/>
                </a:solidFill>
              </a:rPr>
              <a:t>Passthrough sampling.</a:t>
            </a:r>
            <a:r>
              <a:rPr sz="1635" b="0">
                <a:solidFill>
                  <a:srgbClr val="262626"/>
                </a:solidFill>
              </a:rPr>
              <a:t> The model's own tested recipe is authoritative; the gateway does not second-guess it.</a:t>
            </a:r>
          </a:p>
          <a:p>
            <a:pPr marL="311628" marR="0" indent="-311628" algn="l">
              <a:lnSpc>
                <a:spcPts val="2454"/>
              </a:lnSpc>
              <a:spcBef>
                <a:spcPts val="687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6" b="1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timeout: 1400</a:t>
            </a:r>
            <a:r>
              <a:rPr sz="1635" b="0">
                <a:solidFill>
                  <a:srgbClr val="262626"/>
                </a:solidFill>
              </a:rPr>
              <a:t> — above llama-swap's health-check timeout, so a cold load is not mistaken for a crash.</a:t>
            </a:r>
          </a:p>
          <a:p>
            <a:pPr marL="311628" marR="0" indent="-311628" algn="l">
              <a:lnSpc>
                <a:spcPts val="2454"/>
              </a:lnSpc>
              <a:spcBef>
                <a:spcPts val="687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635" b="1">
                <a:solidFill>
                  <a:srgbClr val="262626"/>
                </a:solidFill>
              </a:rPr>
              <a:t>Capitalised id</a:t>
            </a:r>
            <a:r>
              <a:rPr sz="1635" b="0">
                <a:solidFill>
                  <a:srgbClr val="262626"/>
                </a:solidFill>
              </a:rPr>
              <a:t> — matches </a:t>
            </a:r>
            <a:r>
              <a:rPr sz="1406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--served-model-name</a:t>
            </a:r>
            <a:r>
              <a:rPr sz="1635" b="0">
                <a:solidFill>
                  <a:srgbClr val="262626"/>
                </a:solidFill>
              </a:rPr>
              <a:t> exactly.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58905" y="4429820"/>
            <a:ext cx="5602288" cy="891381"/>
          </a:xfrm>
          <a:prstGeom prst="rect">
            <a:avLst/>
          </a:prstGeom>
          <a:solidFill>
            <a:srgbClr val="FBFCE8"/>
          </a:solidFill>
          <a:ln>
            <a:noFill/>
          </a:ln>
          <a:effectLst/>
        </p:spPr>
        <p:txBody>
          <a:bodyPr rtlCol="0" anchor="t" wrap="square" tIns="0" rIns="187269" bIns="0" lIns="212669">
            <a:noAutofit/>
          </a:bodyPr>
          <a:lstStyle/>
          <a:p>
            <a:pPr algn="l" marL="0" marR="0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4" b="0">
                <a:solidFill>
                  <a:srgbClr val="4A4D10"/>
                </a:solidFill>
              </a:rPr>
              <a:t>The lesson: set sampling in the gateway </a:t>
            </a:r>
            <a:r>
              <a:rPr sz="1474" b="1">
                <a:solidFill>
                  <a:srgbClr val="2026D2"/>
                </a:solidFill>
              </a:rPr>
              <a:t>only</a:t>
            </a:r>
            <a:r>
              <a:rPr sz="1474" b="0">
                <a:solidFill>
                  <a:srgbClr val="4A4D10"/>
                </a:solidFill>
              </a:rPr>
              <a:t> when you are deliberately overriding the model's recipe. Otherwise let it through.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8905" y="4429820"/>
            <a:ext cx="25400" cy="891381"/>
          </a:xfrm>
          <a:prstGeom prst="rect">
            <a:avLst/>
          </a:prstGeom>
          <a:solidFill>
            <a:srgbClr val="DDE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Layer 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point of all this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2425502"/>
            <a:ext cx="5602188" cy="1213048"/>
          </a:xfrm>
          <a:prstGeom prst="roundRect">
            <a:avLst>
              <a:gd name="adj" fmla="val 4187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Qwen Code</a:t>
            </a:r>
          </a:p>
          <a:p>
            <a:pPr marL="0" marR="0" algn="l">
              <a:lnSpc>
                <a:spcPts val="2108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rPr sz="1405" b="0">
                <a:solidFill>
                  <a:srgbClr val="575757"/>
                </a:solidFill>
              </a:rPr>
              <a:t>Terminal agent: reads your repo, edits files, runs commands. Has </a:t>
            </a: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qwen serve</a:t>
            </a:r>
            <a:r>
              <a:rPr sz="1405" b="0">
                <a:solidFill>
                  <a:srgbClr val="575757"/>
                </a:solidFill>
              </a:rPr>
              <a:t> — a daemon with a browser UI.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060" y="2425502"/>
            <a:ext cx="25400" cy="1213048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58905" y="2425502"/>
            <a:ext cx="5602288" cy="1213048"/>
          </a:xfrm>
          <a:prstGeom prst="roundRect">
            <a:avLst>
              <a:gd name="adj" fmla="val 4187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OpenCode</a:t>
            </a:r>
          </a:p>
          <a:p>
            <a:pPr marL="0" marR="0" algn="l">
              <a:lnSpc>
                <a:spcPts val="2108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rPr sz="1405" b="0">
                <a:solidFill>
                  <a:srgbClr val="575757"/>
                </a:solidFill>
              </a:rPr>
              <a:t>Similar agent, provider-agnostic by design. Ships a model catalogue, so hosted providers need no config at 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58905" y="2425502"/>
            <a:ext cx="25400" cy="1213048"/>
          </a:xfrm>
          <a:prstGeom prst="rect">
            <a:avLst/>
          </a:prstGeom>
          <a:solidFill>
            <a:srgbClr val="DDE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6060" y="3804741"/>
            <a:ext cx="11400556" cy="63678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35" b="0">
                <a:solidFill>
                  <a:srgbClr val="262626"/>
                </a:solidFill>
              </a:rPr>
              <a:t>Both are configured with a </a:t>
            </a:r>
            <a:r>
              <a:rPr sz="1635" b="1">
                <a:solidFill>
                  <a:srgbClr val="262626"/>
                </a:solidFill>
              </a:rPr>
              <a:t>base URL</a:t>
            </a:r>
            <a:r>
              <a:rPr sz="1635" b="0">
                <a:solidFill>
                  <a:srgbClr val="262626"/>
                </a:solidFill>
              </a:rPr>
              <a:t> and a </a:t>
            </a:r>
            <a:r>
              <a:rPr sz="1635" b="1">
                <a:solidFill>
                  <a:srgbClr val="262626"/>
                </a:solidFill>
              </a:rPr>
              <a:t>model name</a:t>
            </a:r>
            <a:r>
              <a:rPr sz="1635" b="0">
                <a:solidFill>
                  <a:srgbClr val="262626"/>
                </a:solidFill>
              </a:rPr>
              <a:t>. Point them at </a:t>
            </a:r>
            <a:r>
              <a:rPr sz="1406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http://127.0.0.1:4000</a:t>
            </a:r>
            <a:r>
              <a:rPr sz="1635" b="0">
                <a:solidFill>
                  <a:srgbClr val="262626"/>
                </a:solidFill>
              </a:rPr>
              <a:t> and they use whatever LiteLLM routes 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1577" y="4522788"/>
            <a:ext cx="9144000" cy="894953"/>
          </a:xfrm>
          <a:prstGeom prst="roundRect">
            <a:avLst>
              <a:gd name="adj" fmla="val 7095"/>
            </a:avLst>
          </a:prstGeom>
          <a:solidFill>
            <a:srgbClr val="FFFFFF"/>
          </a:solidFill>
          <a:ln w="12700">
            <a:solidFill>
              <a:srgbClr val="363EF8"/>
            </a:solidFill>
          </a:ln>
          <a:effectLst/>
        </p:spPr>
        <p:txBody>
          <a:bodyPr rtlCol="0" anchor="t" wrap="square" tIns="129282" rIns="256540" bIns="0" lIns="256540">
            <a:noAutofit/>
          </a:bodyPr>
          <a:lstStyle/>
          <a:p>
            <a:pPr algn="ctr" marL="0" marR="0">
              <a:lnSpc>
                <a:spcPts val="25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1">
                <a:solidFill>
                  <a:srgbClr val="2026D2"/>
                </a:solidFill>
              </a:rPr>
              <a:t>Configuring both takes ten minutes — and teaches the real lesson: the </a:t>
            </a:r>
            <a:r>
              <a:rPr sz="1728" b="1">
                <a:solidFill>
                  <a:srgbClr val="2026D2"/>
                </a:solidFill>
              </a:rPr>
              <a:t>stack</a:t>
            </a:r>
            <a:r>
              <a:rPr sz="1728" b="1">
                <a:solidFill>
                  <a:srgbClr val="2026D2"/>
                </a:solidFill>
              </a:rPr>
              <a:t> is the durable investment. The client is interchangeable.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Concepts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do not see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6060" y="2883098"/>
            <a:ext cx="11400556" cy="31164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35" b="0">
                <a:solidFill>
                  <a:srgbClr val="262626"/>
                </a:solidFill>
              </a:rPr>
              <a:t>They see </a:t>
            </a:r>
            <a:r>
              <a:rPr sz="1635" b="1">
                <a:solidFill>
                  <a:srgbClr val="262626"/>
                </a:solidFill>
              </a:rPr>
              <a:t>tokens</a:t>
            </a:r>
            <a:r>
              <a:rPr sz="1635" b="0">
                <a:solidFill>
                  <a:srgbClr val="262626"/>
                </a:solidFill>
              </a:rPr>
              <a:t> — chunks of text. Everything is measured in them: context size, price, speed.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6060" y="3265785"/>
            <a:ext cx="11375132" cy="727075"/>
          </a:xfrm>
          <a:prstGeom prst="roundRect">
            <a:avLst>
              <a:gd name="adj" fmla="val 6986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29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8" b="0">
                <a:solidFill>
                  <a:srgbClr val="000099"/>
                </a:solidFill>
                <a:latin typeface="Consolas"/>
              </a:rPr>
              <a:t>1 token ≈ 4 characters ≈ 0.75 English words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6060" y="3265785"/>
            <a:ext cx="25400" cy="727075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6060" y="4034135"/>
            <a:ext cx="11375132" cy="593328"/>
          </a:xfrm>
          <a:prstGeom prst="roundRect">
            <a:avLst>
              <a:gd name="adj" fmla="val 8561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5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7" b="0">
                <a:solidFill>
                  <a:srgbClr val="7C86B8"/>
                </a:solidFill>
                <a:latin typeface="Consolas"/>
              </a:rPr>
              <a:t># 19 characters ≈ 5 tokens</a:t>
            </a:r>
            <a:br/>
            <a:r>
              <a:rPr sz="1017" b="0">
                <a:solidFill>
                  <a:srgbClr val="E8EBFF"/>
                </a:solidFill>
                <a:latin typeface="Consolas"/>
              </a:rPr>
              <a:t>echo -n </a:t>
            </a:r>
            <a:r>
              <a:rPr sz="1017" b="0">
                <a:solidFill>
                  <a:srgbClr val="DDEF03"/>
                </a:solidFill>
                <a:latin typeface="Consolas"/>
              </a:rPr>
              <a:t>"The quick brown fox"</a:t>
            </a:r>
            <a:r>
              <a:rPr sz="1017" b="0">
                <a:solidFill>
                  <a:srgbClr val="E8EBFF"/>
                </a:solidFill>
                <a:latin typeface="Consolas"/>
              </a:rPr>
              <a:t> | wc -c</a:t>
            </a:r>
          </a:p>
        </p:txBody>
      </p:sp>
      <p:sp>
        <p:nvSpPr>
          <p:cNvPr id="8" name="Rectangle 7"/>
          <p:cNvSpPr/>
          <p:nvPr/>
        </p:nvSpPr>
        <p:spPr>
          <a:xfrm>
            <a:off x="386060" y="4034135"/>
            <a:ext cx="25400" cy="593328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6060" y="4668738"/>
            <a:ext cx="11400556" cy="31164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35" b="0">
                <a:solidFill>
                  <a:srgbClr val="575757"/>
                </a:solidFill>
              </a:rPr>
              <a:t>A 500-word document is ~650 tokens. A large source file can be 3 000. This is why context runs out faster than you expect.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Concepts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context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6060" y="2511425"/>
            <a:ext cx="11400556" cy="31164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35" b="0">
                <a:solidFill>
                  <a:srgbClr val="262626"/>
                </a:solidFill>
              </a:rPr>
              <a:t>The maximum tokens the model can attend to at once — </a:t>
            </a:r>
            <a:r>
              <a:rPr sz="1635" b="1">
                <a:solidFill>
                  <a:srgbClr val="262626"/>
                </a:solidFill>
              </a:rPr>
              <a:t>your prompt + its reply + the whole conversation so far</a:t>
            </a:r>
            <a:r>
              <a:rPr sz="1635" b="0">
                <a:solidFill>
                  <a:srgbClr val="262626"/>
                </a:solidFill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060" y="2926060"/>
            <a:ext cx="11375132" cy="446881"/>
          </a:xfrm>
          <a:prstGeom prst="rect">
            <a:avLst/>
          </a:prstGeom>
          <a:solidFill>
            <a:srgbClr val="FDF1EC"/>
          </a:solidFill>
          <a:ln>
            <a:noFill/>
          </a:ln>
          <a:effectLst/>
        </p:spPr>
        <p:txBody>
          <a:bodyPr rtlCol="0" anchor="t" wrap="square" tIns="0" rIns="187269" bIns="0" lIns="212669">
            <a:noAutofit/>
          </a:bodyPr>
          <a:lstStyle/>
          <a:p>
            <a:pPr algn="l" marL="0" marR="0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4" b="0">
                <a:solidFill>
                  <a:srgbClr val="6B3320"/>
                </a:solidFill>
              </a:rPr>
              <a:t>Exceed it and the start </a:t>
            </a:r>
            <a:r>
              <a:rPr sz="1474" b="1">
                <a:solidFill>
                  <a:srgbClr val="2026D2"/>
                </a:solidFill>
              </a:rPr>
              <a:t>silently</a:t>
            </a:r>
            <a:r>
              <a:rPr sz="1474" b="0">
                <a:solidFill>
                  <a:srgbClr val="6B3320"/>
                </a:solidFill>
              </a:rPr>
              <a:t> falls off the front. No error. The agent just forgets what you said twenty messages ago.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6060" y="2926060"/>
            <a:ext cx="25400" cy="446881"/>
          </a:xfrm>
          <a:prstGeom prst="rect">
            <a:avLst/>
          </a:prstGeom>
          <a:solidFill>
            <a:srgbClr val="F26B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6060" y="3651448"/>
            <a:ext cx="11400556" cy="26035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1" spc="35">
                <a:solidFill>
                  <a:srgbClr val="2026D2"/>
                </a:solidFill>
              </a:rPr>
              <a:t>Context is not 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060" y="3977580"/>
            <a:ext cx="11400556" cy="63678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35" b="0">
                <a:solidFill>
                  <a:srgbClr val="262626"/>
                </a:solidFill>
              </a:rPr>
              <a:t>The engine allocates a </a:t>
            </a:r>
            <a:r>
              <a:rPr sz="1635" b="1">
                <a:solidFill>
                  <a:srgbClr val="262626"/>
                </a:solidFill>
              </a:rPr>
              <a:t>KV cache</a:t>
            </a:r>
            <a:r>
              <a:rPr sz="1635" b="0">
                <a:solidFill>
                  <a:srgbClr val="262626"/>
                </a:solidFill>
              </a:rPr>
              <a:t> that grows linearly with </a:t>
            </a:r>
            <a:r>
              <a:rPr sz="1406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-c</a:t>
            </a:r>
            <a:r>
              <a:rPr sz="1635" b="0">
                <a:solidFill>
                  <a:srgbClr val="262626"/>
                </a:solidFill>
              </a:rPr>
              <a:t>. A 1.3 GB model file at 128k context can have a KV cache </a:t>
            </a:r>
            <a:r>
              <a:rPr sz="1635" b="1">
                <a:solidFill>
                  <a:srgbClr val="2026D2"/>
                </a:solidFill>
              </a:rPr>
              <a:t>larger than the model</a:t>
            </a:r>
            <a:r>
              <a:rPr sz="1635" b="0">
                <a:solidFill>
                  <a:srgbClr val="262626"/>
                </a:solidFill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71514" y="4695627"/>
            <a:ext cx="7604125" cy="595610"/>
          </a:xfrm>
          <a:prstGeom prst="roundRect">
            <a:avLst>
              <a:gd name="adj" fmla="val 10661"/>
            </a:avLst>
          </a:prstGeom>
          <a:solidFill>
            <a:srgbClr val="FFFFFF"/>
          </a:solidFill>
          <a:ln w="12700">
            <a:solidFill>
              <a:srgbClr val="363EF8"/>
            </a:solidFill>
          </a:ln>
          <a:effectLst/>
        </p:spPr>
        <p:txBody>
          <a:bodyPr rtlCol="0" anchor="t" wrap="square" tIns="129282" rIns="256540" bIns="0" lIns="256540">
            <a:noAutofit/>
          </a:bodyPr>
          <a:lstStyle/>
          <a:p>
            <a:pPr algn="ctr" marL="0" marR="0">
              <a:lnSpc>
                <a:spcPts val="25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1">
                <a:solidFill>
                  <a:srgbClr val="2026D2"/>
                </a:solidFill>
              </a:rPr>
              <a:t>Default small. Start at </a:t>
            </a:r>
            <a:r>
              <a:rPr sz="1486" b="1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-c 4096</a:t>
            </a:r>
            <a:r>
              <a:rPr sz="1728" b="1">
                <a:solidFill>
                  <a:srgbClr val="2026D2"/>
                </a:solidFill>
              </a:rPr>
              <a:t> and raise it only when you hit the wall.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Concepts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context traps,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6060" y="1941810"/>
            <a:ext cx="11400556" cy="28575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1" spc="35">
                <a:solidFill>
                  <a:srgbClr val="2026D2"/>
                </a:solidFill>
              </a:rPr>
              <a:t>1 · </a:t>
            </a:r>
            <a:r>
              <a:rPr sz="1486" b="1" spc="35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-c 0</a:t>
            </a:r>
            <a:r>
              <a:rPr sz="1728" b="1" spc="35">
                <a:solidFill>
                  <a:srgbClr val="2026D2"/>
                </a:solidFill>
              </a:rPr>
              <a:t> means "the model's own context", not 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6060" y="2293342"/>
            <a:ext cx="11400556" cy="31164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35" b="0">
                <a:solidFill>
                  <a:srgbClr val="575757"/>
                </a:solidFill>
              </a:rPr>
              <a:t>That is the default. On a 128k model it allocates a 128k KV cache and takes your laptop with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6060" y="2780506"/>
            <a:ext cx="11400556" cy="26035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1" spc="35">
                <a:solidFill>
                  <a:srgbClr val="2026D2"/>
                </a:solidFill>
              </a:rPr>
              <a:t>2 · parallel slots eat your context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6060" y="3195836"/>
          <a:ext cx="11375132" cy="1432321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429669"/>
                <a:gridCol w="1748433"/>
                <a:gridCol w="7197030"/>
              </a:tblGrid>
              <a:tr h="316111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FLAGS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N_CTX_SEQ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WHAT HAPPENED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-c 4096 (auto)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1">
                          <a:solidFill>
                            <a:srgbClr val="262626"/>
                          </a:solidFill>
                        </a:rPr>
                        <a:t>4096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auto enables a </a:t>
                      </a:r>
                      <a:r>
                        <a:rPr sz="1405" b="1">
                          <a:solidFill>
                            <a:srgbClr val="2026D2"/>
                          </a:solidFill>
                        </a:rPr>
                        <a:t>unified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 KV cache; slots share one pool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-c 4096 -np 1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1">
                          <a:solidFill>
                            <a:srgbClr val="262626"/>
                          </a:solidFill>
                        </a:rPr>
                        <a:t>4096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one slot, full context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-c 4096 -np 4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1">
                          <a:solidFill>
                            <a:srgbClr val="262626"/>
                          </a:solidFill>
                        </a:rPr>
                        <a:t>1024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explicit parallel </a:t>
                      </a:r>
                      <a:r>
                        <a:rPr sz="1405" b="1">
                          <a:solidFill>
                            <a:srgbClr val="262626"/>
                          </a:solidFill>
                        </a:rPr>
                        <a:t>divides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 it: 4096 ÷ 4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86060" y="4823520"/>
            <a:ext cx="11375132" cy="1170781"/>
          </a:xfrm>
          <a:prstGeom prst="rect">
            <a:avLst/>
          </a:prstGeom>
          <a:solidFill>
            <a:srgbClr val="FBFCE8"/>
          </a:solidFill>
          <a:ln>
            <a:noFill/>
          </a:ln>
          <a:effectLst/>
        </p:spPr>
        <p:txBody>
          <a:bodyPr rtlCol="0" anchor="t" wrap="square" tIns="0" rIns="187269" bIns="0" lIns="212669">
            <a:noAutofit/>
          </a:bodyPr>
          <a:lstStyle/>
          <a:p>
            <a:pPr algn="l" marL="0" marR="0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4" b="0">
                <a:solidFill>
                  <a:srgbClr val="4A4D10"/>
                </a:solidFill>
              </a:rPr>
              <a:t>Typing 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-np 4</a:t>
            </a:r>
            <a:r>
              <a:rPr sz="1474" b="0">
                <a:solidFill>
                  <a:srgbClr val="4A4D10"/>
                </a:solidFill>
              </a:rPr>
              <a:t> yourself gives each request a </a:t>
            </a:r>
            <a:r>
              <a:rPr sz="1474" b="1">
                <a:solidFill>
                  <a:srgbClr val="2026D2"/>
                </a:solidFill>
              </a:rPr>
              <a:t>quarter</a:t>
            </a:r>
            <a:r>
              <a:rPr sz="1474" b="0">
                <a:solidFill>
                  <a:srgbClr val="4A4D10"/>
                </a:solidFill>
              </a:rPr>
              <a:t> of the context you asked for. Want four slots at 4096 each? Ask for 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-c 16384 -np 4</a:t>
            </a:r>
            <a:r>
              <a:rPr sz="1474" b="0">
                <a:solidFill>
                  <a:srgbClr val="4A4D10"/>
                </a:solidFill>
              </a:rPr>
              <a:t>.</a:t>
            </a:r>
            <a:br/>
            <a:br/>
            <a:r>
              <a:rPr sz="1474" b="1">
                <a:solidFill>
                  <a:srgbClr val="4A4D10"/>
                </a:solidFill>
              </a:rPr>
              <a:t>For this workshop: use </a:t>
            </a:r>
            <a:r>
              <a:rPr sz="1268" b="1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-np 1</a:t>
            </a:r>
            <a:r>
              <a:rPr sz="1474" b="1">
                <a:solidFill>
                  <a:srgbClr val="4A4D10"/>
                </a:solidFill>
              </a:rPr>
              <a:t>.</a:t>
            </a:r>
            <a:r>
              <a:rPr sz="1474" b="0">
                <a:solidFill>
                  <a:srgbClr val="4A4D10"/>
                </a:solidFill>
              </a:rPr>
              <a:t> You are one person.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6060" y="4823520"/>
            <a:ext cx="25400" cy="1170781"/>
          </a:xfrm>
          <a:prstGeom prst="rect">
            <a:avLst/>
          </a:prstGeom>
          <a:solidFill>
            <a:srgbClr val="DDE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Concepts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Realistic budgets on 16 GB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6060" y="2270522"/>
            <a:ext cx="11400556" cy="31164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35" b="0">
                <a:solidFill>
                  <a:srgbClr val="575757"/>
                </a:solidFill>
              </a:rPr>
              <a:t>Your OS, browser, Docker and IDE already eat 6–8 GB. Treat </a:t>
            </a:r>
            <a:r>
              <a:rPr sz="1635" b="1">
                <a:solidFill>
                  <a:srgbClr val="575757"/>
                </a:solidFill>
              </a:rPr>
              <a:t>~6 GB</a:t>
            </a:r>
            <a:r>
              <a:rPr sz="1635" b="0">
                <a:solidFill>
                  <a:srgbClr val="575757"/>
                </a:solidFill>
              </a:rPr>
              <a:t> as your total model budget.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6060" y="2671366"/>
          <a:ext cx="11375132" cy="2176461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622278"/>
                <a:gridCol w="1493341"/>
                <a:gridCol w="921246"/>
                <a:gridCol w="1436291"/>
                <a:gridCol w="3901976"/>
              </a:tblGrid>
              <a:tr h="316111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CONFIGURATION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WEIGHTS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KV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TOTAL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VERDICT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Qwen3-1.7B Q4, -c 8192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1.3 GB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~0.2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1">
                          <a:solidFill>
                            <a:srgbClr val="262626"/>
                          </a:solidFill>
                        </a:rPr>
                        <a:t>~1.5 GB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1">
                          <a:solidFill>
                            <a:srgbClr val="262626"/>
                          </a:solidFill>
                        </a:rPr>
                        <a:t>Comfortable — use this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Qwen3-4B Q4, -c 8192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2.5 GB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~0.3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1">
                          <a:solidFill>
                            <a:srgbClr val="262626"/>
                          </a:solidFill>
                        </a:rPr>
                        <a:t>~2.8 GB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Fine. Slower, much smarter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Qwen3-4B Q4, -c 32768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2.5 GB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~1.2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1">
                          <a:solidFill>
                            <a:srgbClr val="262626"/>
                          </a:solidFill>
                        </a:rPr>
                        <a:t>~3.7 GB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Works if you close things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Qwen3-8B Q4, -c 8192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4.9 GB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~0.5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1">
                          <a:solidFill>
                            <a:srgbClr val="262626"/>
                          </a:solidFill>
                        </a:rPr>
                        <a:t>~5.4 GB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Tight, and slow on CPU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14B+, or -c 131072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—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—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1">
                          <a:solidFill>
                            <a:srgbClr val="262626"/>
                          </a:solidFill>
                        </a:rPr>
                        <a:t>—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No. You will swap and crawl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86060" y="5043190"/>
            <a:ext cx="11375132" cy="446881"/>
          </a:xfrm>
          <a:prstGeom prst="rect">
            <a:avLst/>
          </a:prstGeom>
          <a:solidFill>
            <a:srgbClr val="F0F2FF"/>
          </a:solidFill>
          <a:ln>
            <a:noFill/>
          </a:ln>
          <a:effectLst/>
        </p:spPr>
        <p:txBody>
          <a:bodyPr rtlCol="0" anchor="t" wrap="square" tIns="0" rIns="187269" bIns="0" lIns="212669">
            <a:noAutofit/>
          </a:bodyPr>
          <a:lstStyle/>
          <a:p>
            <a:pPr algn="l" marL="0" marR="0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4" b="0">
                <a:solidFill>
                  <a:srgbClr val="1C2160"/>
                </a:solidFill>
              </a:rPr>
              <a:t>Read the KV figure llama.cpp prints at startup instead of trusting any table — your hardware and build differ.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6060" y="5043190"/>
            <a:ext cx="25400" cy="446881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Concepts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Throughput vs latency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1717179"/>
            <a:ext cx="5602188" cy="1199753"/>
          </a:xfrm>
          <a:prstGeom prst="roundRect">
            <a:avLst>
              <a:gd name="adj" fmla="val 4234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7703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Time to first token</a:t>
            </a:r>
          </a:p>
          <a:p>
            <a:pPr marL="0" marR="0" algn="l">
              <a:lnSpc>
                <a:spcPts val="2108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rPr sz="1405" b="0">
                <a:solidFill>
                  <a:srgbClr val="575757"/>
                </a:solidFill>
              </a:rPr>
              <a:t>Dominated by </a:t>
            </a:r>
            <a:r>
              <a:rPr sz="1405" b="1">
                <a:solidFill>
                  <a:srgbClr val="2026D2"/>
                </a:solidFill>
              </a:rPr>
              <a:t>prefill</a:t>
            </a:r>
            <a:r>
              <a:rPr sz="1405" b="0">
                <a:solidFill>
                  <a:srgbClr val="575757"/>
                </a:solidFill>
              </a:rPr>
              <a:t> — processing your prompt. Feels like </a:t>
            </a:r>
            <a:r>
              <a:rPr sz="1405" b="1">
                <a:solidFill>
                  <a:srgbClr val="575757"/>
                </a:solidFill>
              </a:rPr>
              <a:t>responsiveness</a:t>
            </a:r>
            <a:r>
              <a:rPr sz="1405" b="0">
                <a:solidFill>
                  <a:srgbClr val="575757"/>
                </a:solidFill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58905" y="1717179"/>
            <a:ext cx="5602288" cy="1199753"/>
          </a:xfrm>
          <a:prstGeom prst="roundRect">
            <a:avLst>
              <a:gd name="adj" fmla="val 4234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7703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Decode speed (tok/s)</a:t>
            </a:r>
          </a:p>
          <a:p>
            <a:pPr marL="0" marR="0" algn="l">
              <a:lnSpc>
                <a:spcPts val="2108"/>
              </a:lnSpc>
              <a:spcBef>
                <a:spcPts val="544"/>
              </a:spcBef>
              <a:spcAft>
                <a:spcPts val="0"/>
              </a:spcAft>
              <a:buNone/>
            </a:pPr>
            <a:r>
              <a:rPr sz="1405" b="0">
                <a:solidFill>
                  <a:srgbClr val="575757"/>
                </a:solidFill>
              </a:rPr>
              <a:t>How fast the rest streams out. Feels like </a:t>
            </a:r>
            <a:r>
              <a:rPr sz="1405" b="1">
                <a:solidFill>
                  <a:srgbClr val="575757"/>
                </a:solidFill>
              </a:rPr>
              <a:t>speed</a:t>
            </a:r>
            <a:r>
              <a:rPr sz="1405" b="0">
                <a:solidFill>
                  <a:srgbClr val="575757"/>
                </a:solidFill>
              </a:rPr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6060" y="3023989"/>
          <a:ext cx="11375131" cy="2176461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768177"/>
                <a:gridCol w="5127724"/>
                <a:gridCol w="4479230"/>
              </a:tblGrid>
              <a:tr h="316111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MODEL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TOK/S ON A LAPTOP CPU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OUTPUT PACE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135M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40–80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Instant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0.6B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20–40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Snappy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1">
                          <a:solidFill>
                            <a:srgbClr val="262626"/>
                          </a:solidFill>
                          <a:latin typeface="Consolas"/>
                        </a:rPr>
                        <a:t>1.7B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1">
                          <a:solidFill>
                            <a:srgbClr val="262626"/>
                          </a:solidFill>
                        </a:rPr>
                        <a:t>8–20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1">
                          <a:solidFill>
                            <a:srgbClr val="262626"/>
                          </a:solidFill>
                        </a:rPr>
                        <a:t>Comfortable to read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4B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4–10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Noticeable wait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8B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2–5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Painful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86060" y="5395813"/>
            <a:ext cx="11375132" cy="688181"/>
          </a:xfrm>
          <a:prstGeom prst="rect">
            <a:avLst/>
          </a:prstGeom>
          <a:solidFill>
            <a:srgbClr val="FBFCE8"/>
          </a:solidFill>
          <a:ln>
            <a:noFill/>
          </a:ln>
          <a:effectLst/>
        </p:spPr>
        <p:txBody>
          <a:bodyPr rtlCol="0" anchor="t" wrap="square" tIns="0" rIns="187269" bIns="0" lIns="212669">
            <a:noAutofit/>
          </a:bodyPr>
          <a:lstStyle/>
          <a:p>
            <a:pPr algn="l" marL="0" marR="0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4" b="0">
                <a:solidFill>
                  <a:srgbClr val="4A4D10"/>
                </a:solidFill>
              </a:rPr>
              <a:t>Measure your own with 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llama-bench</a:t>
            </a:r>
            <a:r>
              <a:rPr sz="1474" b="0">
                <a:solidFill>
                  <a:srgbClr val="4A4D10"/>
                </a:solidFill>
              </a:rPr>
              <a:t>. </a:t>
            </a:r>
            <a:r>
              <a:rPr sz="1474" b="1">
                <a:solidFill>
                  <a:srgbClr val="4A4D10"/>
                </a:solidFill>
              </a:rPr>
              <a:t>Batching</a:t>
            </a:r>
            <a:r>
              <a:rPr sz="1474" b="0">
                <a:solidFill>
                  <a:srgbClr val="4A4D10"/>
                </a:solidFill>
              </a:rPr>
              <a:t> is what vLLM is for — with one user there is nothing to batch, so llama.cpp's simpler approach wins.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86060" y="5395813"/>
            <a:ext cx="25400" cy="688181"/>
          </a:xfrm>
          <a:prstGeom prst="rect">
            <a:avLst/>
          </a:prstGeom>
          <a:solidFill>
            <a:srgbClr val="DDE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Concepts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Sampling, and the empty reply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2543373"/>
            <a:ext cx="5602188" cy="1904107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Sampling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temperature</a:t>
            </a:r>
            <a:r>
              <a:rPr sz="1405" b="0">
                <a:solidFill>
                  <a:srgbClr val="575757"/>
                </a:solidFill>
              </a:rPr>
              <a:t> 0.0–0.3 for code and tools; 0.8–1.2 for prose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Many models have a </a:t>
            </a:r>
            <a:r>
              <a:rPr sz="1405" b="1">
                <a:solidFill>
                  <a:srgbClr val="575757"/>
                </a:solidFill>
              </a:rPr>
              <a:t>recommended recipe</a:t>
            </a:r>
            <a:r>
              <a:rPr sz="1405" b="0">
                <a:solidFill>
                  <a:srgbClr val="575757"/>
                </a:solidFill>
              </a:rPr>
              <a:t> — read the model 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060" y="2543373"/>
            <a:ext cx="25400" cy="1904107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58905" y="2543373"/>
            <a:ext cx="5602288" cy="1904107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Thinking models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Can burn </a:t>
            </a:r>
            <a:r>
              <a:rPr sz="1405" b="1">
                <a:solidFill>
                  <a:srgbClr val="575757"/>
                </a:solidFill>
              </a:rPr>
              <a:t>4 000 tokens of reasoning</a:t>
            </a:r>
            <a:r>
              <a:rPr sz="1405" b="0">
                <a:solidFill>
                  <a:srgbClr val="575757"/>
                </a:solidFill>
              </a:rPr>
              <a:t> to write 200 words of answer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If </a:t>
            </a: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max_tokens</a:t>
            </a:r>
            <a:r>
              <a:rPr sz="1405" b="0">
                <a:solidFill>
                  <a:srgbClr val="575757"/>
                </a:solidFill>
              </a:rPr>
              <a:t> is too small, the whole budget goes to thought and </a:t>
            </a:r>
            <a:r>
              <a:rPr sz="1405" b="1">
                <a:solidFill>
                  <a:srgbClr val="575757"/>
                </a:solidFill>
              </a:rPr>
              <a:t>content comes back empty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158905" y="2543373"/>
            <a:ext cx="25400" cy="1904107"/>
          </a:xfrm>
          <a:prstGeom prst="rect">
            <a:avLst/>
          </a:prstGeom>
          <a:solidFill>
            <a:srgbClr val="F26B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6060" y="4550470"/>
            <a:ext cx="11375132" cy="707231"/>
          </a:xfrm>
          <a:prstGeom prst="rect">
            <a:avLst/>
          </a:prstGeom>
          <a:solidFill>
            <a:srgbClr val="FDF1EC"/>
          </a:solidFill>
          <a:ln>
            <a:noFill/>
          </a:ln>
          <a:effectLst/>
        </p:spPr>
        <p:txBody>
          <a:bodyPr rtlCol="0" anchor="t" wrap="square" tIns="0" rIns="187269" bIns="0" lIns="212669">
            <a:noAutofit/>
          </a:bodyPr>
          <a:lstStyle/>
          <a:p>
            <a:pPr algn="l" marL="0" marR="0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4" b="0">
                <a:solidFill>
                  <a:srgbClr val="6B3320"/>
                </a:solidFill>
              </a:rPr>
              <a:t>An empty reply looks exactly like a crash and is not. Check 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reasoning_content</a:t>
            </a:r>
            <a:r>
              <a:rPr sz="1474" b="0">
                <a:solidFill>
                  <a:srgbClr val="6B3320"/>
                </a:solidFill>
              </a:rPr>
              <a:t> — if it is huge and 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content</a:t>
            </a:r>
            <a:r>
              <a:rPr sz="1474" b="0">
                <a:solidFill>
                  <a:srgbClr val="6B3320"/>
                </a:solidFill>
              </a:rPr>
              <a:t> is empty, raise 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max_tokens</a:t>
            </a:r>
            <a:r>
              <a:rPr sz="1474" b="0">
                <a:solidFill>
                  <a:srgbClr val="6B3320"/>
                </a:solidFill>
              </a:rPr>
              <a:t> or pass 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--reasoning-budget 0</a:t>
            </a:r>
            <a:r>
              <a:rPr sz="1474" b="0">
                <a:solidFill>
                  <a:srgbClr val="6B3320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6060" y="4550470"/>
            <a:ext cx="25400" cy="707231"/>
          </a:xfrm>
          <a:prstGeom prst="rect">
            <a:avLst/>
          </a:prstGeom>
          <a:solidFill>
            <a:srgbClr val="F26B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Concepts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calling is what makes an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2792909"/>
            <a:ext cx="11375132" cy="926505"/>
          </a:xfrm>
          <a:prstGeom prst="roundRect">
            <a:avLst>
              <a:gd name="adj" fmla="val 5482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0">
                <a:solidFill>
                  <a:srgbClr val="E8EBFF"/>
                </a:solidFill>
                <a:latin typeface="Consolas"/>
              </a:rPr>
              <a:t>model  ──&gt; {"tool":"read_file","args":{"path":"main.py"}}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your code runs it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model  &lt;── {"result":"def main(): ..."}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model  ──&gt; next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060" y="2792909"/>
            <a:ext cx="25400" cy="926505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6060" y="3864769"/>
            <a:ext cx="11400556" cy="31164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35" b="0">
                <a:solidFill>
                  <a:srgbClr val="262626"/>
                </a:solidFill>
              </a:rPr>
              <a:t>The model emits </a:t>
            </a:r>
            <a:r>
              <a:rPr sz="1635" b="1">
                <a:solidFill>
                  <a:srgbClr val="262626"/>
                </a:solidFill>
              </a:rPr>
              <a:t>structured JSON</a:t>
            </a:r>
            <a:r>
              <a:rPr sz="1635" b="0">
                <a:solidFill>
                  <a:srgbClr val="262626"/>
                </a:solidFill>
              </a:rPr>
              <a:t>; your code runs it and feeds the result back. That loop turns a chatbot into an agent.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6060" y="4279404"/>
            <a:ext cx="11375132" cy="688181"/>
          </a:xfrm>
          <a:prstGeom prst="rect">
            <a:avLst/>
          </a:prstGeom>
          <a:solidFill>
            <a:srgbClr val="FDF1EC"/>
          </a:solidFill>
          <a:ln>
            <a:noFill/>
          </a:ln>
          <a:effectLst/>
        </p:spPr>
        <p:txBody>
          <a:bodyPr rtlCol="0" anchor="t" wrap="square" tIns="0" rIns="187269" bIns="0" lIns="212669">
            <a:noAutofit/>
          </a:bodyPr>
          <a:lstStyle/>
          <a:p>
            <a:pPr algn="l" marL="0" marR="0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4" b="0">
                <a:solidFill>
                  <a:srgbClr val="6B3320"/>
                </a:solidFill>
              </a:rPr>
              <a:t>It is also </a:t>
            </a:r>
            <a:r>
              <a:rPr sz="1474" b="1">
                <a:solidFill>
                  <a:srgbClr val="6B3320"/>
                </a:solidFill>
              </a:rPr>
              <a:t>the first thing that breaks on small models</a:t>
            </a:r>
            <a:r>
              <a:rPr sz="1474" b="0">
                <a:solidFill>
                  <a:srgbClr val="6B3320"/>
                </a:solidFill>
              </a:rPr>
              <a:t>. A 1.7B fumbles the JSON; a 4B is marginal; expect 7B+ for dependable agents. llama.cpp needs 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--jinja</a:t>
            </a:r>
            <a:r>
              <a:rPr sz="1474" b="0">
                <a:solidFill>
                  <a:srgbClr val="6B3320"/>
                </a:solidFill>
              </a:rPr>
              <a:t> so the model's own tool template is used.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86060" y="4279404"/>
            <a:ext cx="25400" cy="688181"/>
          </a:xfrm>
          <a:prstGeom prst="rect">
            <a:avLst/>
          </a:prstGeom>
          <a:solidFill>
            <a:srgbClr val="F26B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are going to watch this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2871" y="2834084"/>
            <a:ext cx="4713839" cy="31164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ctr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35" b="0">
                <a:solidFill>
                  <a:srgbClr val="FFFFFF"/>
                </a:solidFill>
              </a:rPr>
              <a:t>Same prompt to a </a:t>
            </a:r>
            <a:r>
              <a:rPr sz="1635" b="1">
                <a:solidFill>
                  <a:srgbClr val="FFFFFF"/>
                </a:solidFill>
              </a:rPr>
              <a:t>135M</a:t>
            </a:r>
            <a:r>
              <a:rPr sz="1635" b="0">
                <a:solidFill>
                  <a:srgbClr val="FFFFFF"/>
                </a:solidFill>
              </a:rPr>
              <a:t> model and a </a:t>
            </a:r>
            <a:r>
              <a:rPr sz="1635" b="1">
                <a:solidFill>
                  <a:srgbClr val="FFFFFF"/>
                </a:solidFill>
              </a:rPr>
              <a:t>1.7B</a:t>
            </a:r>
            <a:r>
              <a:rPr sz="1635" b="0">
                <a:solidFill>
                  <a:srgbClr val="FFFFFF"/>
                </a:solidFill>
              </a:rPr>
              <a:t>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0377" y="3267571"/>
            <a:ext cx="5486400" cy="889397"/>
          </a:xfrm>
          <a:prstGeom prst="roundRect">
            <a:avLst>
              <a:gd name="adj" fmla="val 5711"/>
            </a:avLst>
          </a:prstGeom>
          <a:solidFill>
            <a:srgbClr val="000099"/>
          </a:solidFill>
          <a:ln w="6350">
            <a:solidFill>
              <a:srgbClr val="000099"/>
            </a:solidFill>
          </a:ln>
          <a:effectLst/>
        </p:spPr>
        <p:txBody>
          <a:bodyPr rtlCol="0" anchor="t" wrap="square" tIns="177006" rIns="177038" bIns="0" lIns="177038">
            <a:noAutofit/>
          </a:bodyPr>
          <a:lstStyle/>
          <a:p>
            <a:pPr algn="ctr" marL="0" marR="0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5" b="0">
                <a:solidFill>
                  <a:srgbClr val="FFFFFF"/>
                </a:solidFill>
                <a:latin typeface="Consolas"/>
              </a:rPr>
              <a:t>"List exactly three prime numbers as a JSON array. Output only the JSON, no other text."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0095" y="4406205"/>
            <a:ext cx="4046303" cy="623292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ctr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35" b="0">
                <a:solidFill>
                  <a:srgbClr val="CDD6FF"/>
                </a:solidFill>
              </a:rPr>
              <a:t>The 135M is ~13× smaller and much faster.</a:t>
            </a:r>
            <a:br/>
            <a:r>
              <a:rPr sz="1635" b="0">
                <a:solidFill>
                  <a:srgbClr val="CDD6FF"/>
                </a:solidFill>
              </a:rPr>
              <a:t>You will see precisely what that costs.</a:t>
            </a:r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small local models are actually good for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2166342"/>
            <a:ext cx="5602188" cy="2918619"/>
          </a:xfrm>
          <a:prstGeom prst="roundRect">
            <a:avLst>
              <a:gd name="adj" fmla="val 1740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Strengths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1">
                <a:solidFill>
                  <a:srgbClr val="575757"/>
                </a:solidFill>
              </a:rPr>
              <a:t>Embeddings and retrieval</a:t>
            </a:r>
            <a:r>
              <a:rPr sz="1405" b="0">
                <a:solidFill>
                  <a:srgbClr val="575757"/>
                </a:solidFill>
              </a:rPr>
              <a:t> — tiny models, excellent results, zero cost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1">
                <a:solidFill>
                  <a:srgbClr val="575757"/>
                </a:solidFill>
              </a:rPr>
              <a:t>Classification and extraction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1">
                <a:solidFill>
                  <a:srgbClr val="575757"/>
                </a:solidFill>
              </a:rPr>
              <a:t>Summarisation</a:t>
            </a:r>
            <a:r>
              <a:rPr sz="1405" b="0">
                <a:solidFill>
                  <a:srgbClr val="575757"/>
                </a:solidFill>
              </a:rPr>
              <a:t> of short documents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1">
                <a:solidFill>
                  <a:srgbClr val="575757"/>
                </a:solidFill>
              </a:rPr>
              <a:t>Anything private</a:t>
            </a:r>
            <a:r>
              <a:rPr sz="1405" b="0">
                <a:solidFill>
                  <a:srgbClr val="575757"/>
                </a:solidFill>
              </a:rPr>
              <a:t> — it never leaves the machine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1">
                <a:solidFill>
                  <a:srgbClr val="575757"/>
                </a:solidFill>
              </a:rPr>
              <a:t>Learning</a:t>
            </a:r>
            <a:r>
              <a:rPr sz="1405" b="0">
                <a:solidFill>
                  <a:srgbClr val="575757"/>
                </a:solidFill>
              </a:rPr>
              <a:t> — you cannot understand these systems without running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060" y="2166342"/>
            <a:ext cx="25400" cy="2918619"/>
          </a:xfrm>
          <a:prstGeom prst="rect">
            <a:avLst/>
          </a:prstGeom>
          <a:solidFill>
            <a:srgbClr val="00CC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58905" y="2166342"/>
            <a:ext cx="5602288" cy="2918619"/>
          </a:xfrm>
          <a:prstGeom prst="roundRect">
            <a:avLst>
              <a:gd name="adj" fmla="val 1740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Weaknesses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Correct code across many files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Reliable tool calling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Long reasoning chains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Anything needing current facts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58905" y="2166342"/>
            <a:ext cx="25400" cy="2918619"/>
          </a:xfrm>
          <a:prstGeom prst="rect">
            <a:avLst/>
          </a:prstGeom>
          <a:solidFill>
            <a:srgbClr val="F26B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6060" y="5187950"/>
            <a:ext cx="11375132" cy="446881"/>
          </a:xfrm>
          <a:prstGeom prst="rect">
            <a:avLst/>
          </a:prstGeom>
          <a:solidFill>
            <a:srgbClr val="F0F2FF"/>
          </a:solidFill>
          <a:ln>
            <a:noFill/>
          </a:ln>
          <a:effectLst/>
        </p:spPr>
        <p:txBody>
          <a:bodyPr rtlCol="0" anchor="t" wrap="square" tIns="0" rIns="187269" bIns="0" lIns="212669">
            <a:noAutofit/>
          </a:bodyPr>
          <a:lstStyle/>
          <a:p>
            <a:pPr algn="l" marL="0" marR="0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4" b="0">
                <a:solidFill>
                  <a:srgbClr val="1C2160"/>
                </a:solidFill>
              </a:rPr>
              <a:t>For the right-hand column, the stack you build today </a:t>
            </a:r>
            <a:r>
              <a:rPr sz="1474" b="1">
                <a:solidFill>
                  <a:srgbClr val="1C2160"/>
                </a:solidFill>
              </a:rPr>
              <a:t>routes to a cloud model</a:t>
            </a:r>
            <a:r>
              <a:rPr sz="1474" b="0">
                <a:solidFill>
                  <a:srgbClr val="1C2160"/>
                </a:solidFill>
              </a:rPr>
              <a:t>. That is a feature, not a cop-out.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6060" y="5187950"/>
            <a:ext cx="25400" cy="446881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good looks like by the end of the 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2401094"/>
            <a:ext cx="11375132" cy="749697"/>
          </a:xfrm>
          <a:prstGeom prst="roundRect">
            <a:avLst>
              <a:gd name="adj" fmla="val 6776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0">
                <a:solidFill>
                  <a:srgbClr val="E8EBFF"/>
                </a:solidFill>
                <a:latin typeface="Consolas"/>
              </a:rPr>
              <a:t>your coding agent ──&gt; LiteLLM :4000 ──&gt; llama-swap :8090 ──&gt; llama-server ──&gt; Qwen3-1.7B.gguf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                         │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                         └──fallback──&gt; a cloud API  (when local is not good enough)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060" y="2401094"/>
            <a:ext cx="25400" cy="749697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6060" y="3326309"/>
            <a:ext cx="11400556" cy="26035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1" spc="35">
                <a:solidFill>
                  <a:srgbClr val="2026D2"/>
                </a:solidFill>
              </a:rPr>
              <a:t>How to build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5838" y="3765947"/>
            <a:ext cx="11590778" cy="110103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332403" marR="0" indent="-332403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36"/>
              <a:buFont typeface="+mn-lt"/>
              <a:buAutoNum type="arabicPeriod" startAt="1"/>
            </a:pPr>
            <a:r>
              <a:rPr sz="1635" b="0">
                <a:solidFill>
                  <a:srgbClr val="262626"/>
                </a:solidFill>
              </a:rPr>
              <a:t>One layer at a time, bottom-up</a:t>
            </a:r>
          </a:p>
          <a:p>
            <a:pPr marL="332403" marR="0" indent="-332403" algn="l">
              <a:lnSpc>
                <a:spcPts val="2454"/>
              </a:lnSpc>
              <a:spcBef>
                <a:spcPts val="654"/>
              </a:spcBef>
              <a:spcAft>
                <a:spcPts val="0"/>
              </a:spcAft>
              <a:buClr>
                <a:srgbClr val="262626"/>
              </a:buClr>
              <a:buSzPts val="1636"/>
              <a:buFont typeface="+mn-lt"/>
              <a:buAutoNum type="arabicPeriod" startAt="2"/>
            </a:pPr>
            <a:r>
              <a:rPr sz="1635" b="1">
                <a:solidFill>
                  <a:srgbClr val="262626"/>
                </a:solidFill>
              </a:rPr>
              <a:t>Verify each layer before adding the next</a:t>
            </a:r>
            <a:r>
              <a:rPr sz="1635" b="0">
                <a:solidFill>
                  <a:srgbClr val="262626"/>
                </a:solidFill>
              </a:rPr>
              <a:t> — every layer has a curl</a:t>
            </a:r>
          </a:p>
          <a:p>
            <a:pPr marL="332403" marR="0" indent="-332403" algn="l">
              <a:lnSpc>
                <a:spcPts val="2454"/>
              </a:lnSpc>
              <a:spcBef>
                <a:spcPts val="654"/>
              </a:spcBef>
              <a:spcAft>
                <a:spcPts val="0"/>
              </a:spcAft>
              <a:buClr>
                <a:srgbClr val="262626"/>
              </a:buClr>
              <a:buSzPts val="1636"/>
              <a:buFont typeface="+mn-lt"/>
              <a:buAutoNum type="arabicPeriod" startAt="3"/>
            </a:pPr>
            <a:r>
              <a:rPr sz="1635" b="0">
                <a:solidFill>
                  <a:srgbClr val="262626"/>
                </a:solidFill>
              </a:rPr>
              <a:t>When it breaks, work </a:t>
            </a:r>
            <a:r>
              <a:rPr sz="1635" b="1">
                <a:solidFill>
                  <a:srgbClr val="2026D2"/>
                </a:solidFill>
              </a:rPr>
              <a:t>down</a:t>
            </a:r>
            <a:r>
              <a:rPr sz="1635" b="0">
                <a:solidFill>
                  <a:srgbClr val="262626"/>
                </a:solidFill>
              </a:rPr>
              <a:t> the stack, not 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6060" y="5021759"/>
            <a:ext cx="11375132" cy="399455"/>
          </a:xfrm>
          <a:prstGeom prst="roundRect">
            <a:avLst>
              <a:gd name="adj" fmla="val 12717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5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7" b="0">
                <a:solidFill>
                  <a:srgbClr val="E8EBFF"/>
                </a:solidFill>
                <a:latin typeface="Consolas"/>
              </a:rPr>
              <a:t>./scripts/healthcheck.sh   </a:t>
            </a:r>
            <a:r>
              <a:rPr sz="1017" b="0">
                <a:solidFill>
                  <a:srgbClr val="7C86B8"/>
                </a:solidFill>
                <a:latin typeface="Consolas"/>
              </a:rPr>
              <a:t># tells you the LOWEST broken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86060" y="5021759"/>
            <a:ext cx="25400" cy="399455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hands-on path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6060" y="2288183"/>
          <a:ext cx="11375132" cy="2612031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528935"/>
                <a:gridCol w="5344319"/>
                <a:gridCol w="5501878"/>
              </a:tblGrid>
              <a:tr h="316111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#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DO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YOU END UP WITH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847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scripts/download-models.sh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2.6 GB of weights, verified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847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llama-server -m … -c 8192 -np 1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A model on </a:t>
                      </a: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:8080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847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llama-bench -ngl 0 -t 4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Your real numbers, not guesses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847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llama-swap --config …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Four models, one port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847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docker compose up -d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Gateway on </a:t>
                      </a:r>
                      <a:r>
                        <a:rPr sz="1208" b="0">
                          <a:solidFill>
                            <a:srgbClr val="000099"/>
                          </a:solidFill>
                          <a:highlight>
                            <a:srgbClr val="EEF1FB"/>
                          </a:highlight>
                          <a:latin typeface="Consolas"/>
                        </a:rPr>
                        <a:t>:4000</a:t>
                      </a:r>
                      <a:r>
                        <a:rPr sz="1405" b="0">
                          <a:solidFill>
                            <a:srgbClr val="575757"/>
                          </a:solidFill>
                        </a:rPr>
                        <a:t> + cloud fallback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Point Qwen Code / OpenCode at it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An agent on your own model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86060" y="5095577"/>
            <a:ext cx="11375132" cy="465931"/>
          </a:xfrm>
          <a:prstGeom prst="rect">
            <a:avLst/>
          </a:prstGeom>
          <a:solidFill>
            <a:srgbClr val="FBFCE8"/>
          </a:solidFill>
          <a:ln>
            <a:noFill/>
          </a:ln>
          <a:effectLst/>
        </p:spPr>
        <p:txBody>
          <a:bodyPr rtlCol="0" anchor="t" wrap="square" tIns="0" rIns="187269" bIns="0" lIns="212669">
            <a:noAutofit/>
          </a:bodyPr>
          <a:lstStyle/>
          <a:p>
            <a:pPr algn="l" marL="0" marR="0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4" b="0">
                <a:solidFill>
                  <a:srgbClr val="4A4D10"/>
                </a:solidFill>
              </a:rPr>
              <a:t>Seven exercises in </a:t>
            </a:r>
            <a:r>
              <a:rPr sz="126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exercises/README.md</a:t>
            </a:r>
            <a:r>
              <a:rPr sz="1474" b="0">
                <a:solidFill>
                  <a:srgbClr val="4A4D10"/>
                </a:solidFill>
              </a:rPr>
              <a:t>. Record your answers — you push them at the end, which is also a Git exercise.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6060" y="5095577"/>
            <a:ext cx="25400" cy="465931"/>
          </a:xfrm>
          <a:prstGeom prst="rect">
            <a:avLst/>
          </a:prstGeom>
          <a:solidFill>
            <a:srgbClr val="DDE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 agent is a loop. A pipeline is a loop with gates.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2658864"/>
            <a:ext cx="5602188" cy="1711325"/>
          </a:xfrm>
          <a:prstGeom prst="roundRect">
            <a:avLst>
              <a:gd name="adj" fmla="val 2968"/>
            </a:avLst>
          </a:prstGeom>
          <a:solidFill>
            <a:srgbClr val="FFFFFF"/>
          </a:solidFill>
          <a:ln w="6350">
            <a:solidFill>
              <a:srgbClr val="CDD6FF"/>
            </a:solidFill>
          </a:ln>
          <a:effectLst/>
        </p:spPr>
        <p:txBody>
          <a:bodyPr rtlCol="0" anchor="t" wrap="square" tIns="177006" rIns="177038" bIns="0" lIns="19608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000099"/>
                </a:solidFill>
              </a:rPr>
              <a:t>Agent harness — one task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One prompt in, one session, one model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208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qwen --model local-chat "…"</a:t>
            </a:r>
            <a:r>
              <a:rPr sz="1405" b="0">
                <a:solidFill>
                  <a:srgbClr val="575757"/>
                </a:solidFill>
              </a:rPr>
              <a:t>, OpenCode, an ADK agent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575757"/>
                </a:solidFill>
              </a:rPr>
              <a:t>It stops when </a:t>
            </a:r>
            <a:r>
              <a:rPr sz="1405" b="1">
                <a:solidFill>
                  <a:srgbClr val="2026D2"/>
                </a:solidFill>
              </a:rPr>
              <a:t>it</a:t>
            </a:r>
            <a:r>
              <a:rPr sz="1405" b="0">
                <a:solidFill>
                  <a:srgbClr val="575757"/>
                </a:solidFill>
              </a:rPr>
              <a:t> thinks it is done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060" y="2658864"/>
            <a:ext cx="25400" cy="1711325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58905" y="2658864"/>
            <a:ext cx="5602288" cy="1711325"/>
          </a:xfrm>
          <a:prstGeom prst="roundRect">
            <a:avLst>
              <a:gd name="adj" fmla="val 2968"/>
            </a:avLst>
          </a:prstGeom>
          <a:solidFill>
            <a:srgbClr val="000099"/>
          </a:solidFill>
          <a:ln w="6350">
            <a:solidFill>
              <a:srgbClr val="000099"/>
            </a:solidFill>
          </a:ln>
          <a:effectLst/>
        </p:spPr>
        <p:txBody>
          <a:bodyPr rtlCol="0" anchor="t" wrap="square" tIns="177006" rIns="177038" bIns="0" lIns="177038">
            <a:noAutofit/>
          </a:bodyPr>
          <a:lstStyle/>
          <a:p>
            <a:pPr algn="l" marL="0" marR="0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5" b="1">
                <a:solidFill>
                  <a:srgbClr val="FFFFFF"/>
                </a:solidFill>
              </a:rPr>
              <a:t>Dev pipeline — one job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CDD6FF"/>
                </a:solidFill>
              </a:rPr>
              <a:t>spec → plan → exec → verify → review, each its own session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CDD6FF"/>
                </a:solidFill>
              </a:rPr>
              <a:t>A different model per phase, chosen for that phase</a:t>
            </a:r>
          </a:p>
          <a:p>
            <a:pPr marL="267705" marR="0" indent="-267736" algn="l">
              <a:lnSpc>
                <a:spcPts val="2108"/>
              </a:lnSpc>
              <a:spcBef>
                <a:spcPts val="590"/>
              </a:spcBef>
              <a:spcAft>
                <a:spcPts val="0"/>
              </a:spcAft>
              <a:buClr>
                <a:srgbClr val="000099"/>
              </a:buClr>
              <a:buFont typeface="Arial"/>
              <a:buChar char="•"/>
            </a:pPr>
            <a:r>
              <a:rPr sz="1405" b="0">
                <a:solidFill>
                  <a:srgbClr val="CDD6FF"/>
                </a:solidFill>
              </a:rPr>
              <a:t>It stops when the </a:t>
            </a:r>
            <a:r>
              <a:rPr sz="1405" b="1">
                <a:solidFill>
                  <a:srgbClr val="2026D2"/>
                </a:solidFill>
              </a:rPr>
              <a:t>gates</a:t>
            </a:r>
            <a:r>
              <a:rPr sz="1405" b="0">
                <a:solidFill>
                  <a:srgbClr val="CDD6FF"/>
                </a:solidFill>
              </a:rPr>
              <a:t> say so — tests, review, diff checks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6060" y="4473178"/>
            <a:ext cx="11375132" cy="669131"/>
          </a:xfrm>
          <a:prstGeom prst="rect">
            <a:avLst/>
          </a:prstGeom>
          <a:solidFill>
            <a:srgbClr val="F0F2FF"/>
          </a:solidFill>
          <a:ln>
            <a:noFill/>
          </a:ln>
          <a:effectLst/>
        </p:spPr>
        <p:txBody>
          <a:bodyPr rtlCol="0" anchor="t" wrap="square" tIns="0" rIns="187269" bIns="0" lIns="212669">
            <a:noAutofit/>
          </a:bodyPr>
          <a:lstStyle/>
          <a:p>
            <a:pPr algn="l" marL="0" marR="0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4" b="0">
                <a:solidFill>
                  <a:srgbClr val="1C2160"/>
                </a:solidFill>
              </a:rPr>
              <a:t>A pipeline is not a smarter model. It is the discipline you add </a:t>
            </a:r>
            <a:r>
              <a:rPr sz="1474" b="1">
                <a:solidFill>
                  <a:srgbClr val="1C2160"/>
                </a:solidFill>
              </a:rPr>
              <a:t>because</a:t>
            </a:r>
            <a:r>
              <a:rPr sz="1474" b="0">
                <a:solidFill>
                  <a:srgbClr val="1C2160"/>
                </a:solidFill>
              </a:rPr>
              <a:t> the model is not smart enough: every phase's output is checked by something that cannot be talked out of it by confident prose.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86060" y="4473178"/>
            <a:ext cx="25400" cy="669131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real job, from issue to merged PR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6060" y="2124174"/>
            <a:ext cx="11375132" cy="2517775"/>
          </a:xfrm>
          <a:prstGeom prst="roundRect">
            <a:avLst>
              <a:gd name="adj" fmla="val 2017"/>
            </a:avLst>
          </a:prstGeom>
          <a:solidFill>
            <a:srgbClr val="0D1030"/>
          </a:solidFill>
          <a:ln>
            <a:noFill/>
          </a:ln>
          <a:effectLst/>
        </p:spPr>
        <p:txBody>
          <a:bodyPr rtlCol="0" anchor="t" wrap="square" tIns="0" rIns="182880" bIns="0" lIns="208280">
            <a:noAutofit/>
          </a:bodyPr>
          <a:lstStyle/>
          <a:p>
            <a:pPr algn="l" marL="0" marR="0">
              <a:lnSpc>
                <a:spcPts val="1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0">
                <a:solidFill>
                  <a:srgbClr val="E8EBFF"/>
                </a:solidFill>
                <a:latin typeface="Consolas"/>
              </a:rPr>
              <a:t>issue #157 — "the volatility used for position sizing comes out of the LLM's JSON response"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│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├─ spec    03:58  local-architect   turn the issue into a written spec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├─ exec    04:31  local-coder35     write the code, in its own git worktree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├─ plan    04:31  local-architect   plan the change against the spec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├─ verify  04:34  (no model)        run the test suite — the first gate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├─ review  04:45  local-reviewer    7 findings → all 7 fixed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├─ review  05:06  local-reviewer    round 2 → 1 finding, fixed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├─ review  05:51  local-reviewer    9 findings → 4 fixed, 5 DECLINED with written reasons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├─ review  06:39  local-reviewer    round 4 → 1 finding left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├─ review  09:52  local-reviewer    approved → PR #158 opened → merged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│</a:t>
            </a:r>
            <a:br/>
            <a:r>
              <a:rPr sz="960" b="0">
                <a:solidFill>
                  <a:srgbClr val="E8EBFF"/>
                </a:solidFill>
                <a:latin typeface="Consolas"/>
              </a:rPr>
              <a:t>   └─ 9 files changed, 871 insertions(+), 58 deletions(-)  ·  4 fix attempts  ·  every model local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060" y="2124174"/>
            <a:ext cx="25400" cy="2517775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6060" y="4744938"/>
            <a:ext cx="11375132" cy="891381"/>
          </a:xfrm>
          <a:prstGeom prst="rect">
            <a:avLst/>
          </a:prstGeom>
          <a:solidFill>
            <a:srgbClr val="FBFCE8"/>
          </a:solidFill>
          <a:ln>
            <a:noFill/>
          </a:ln>
          <a:effectLst/>
        </p:spPr>
        <p:txBody>
          <a:bodyPr rtlCol="0" anchor="t" wrap="square" tIns="0" rIns="187269" bIns="0" lIns="212669">
            <a:noAutofit/>
          </a:bodyPr>
          <a:lstStyle/>
          <a:p>
            <a:pPr algn="l" marL="0" marR="0"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4" b="0">
                <a:solidFill>
                  <a:srgbClr val="4A4D10"/>
                </a:solidFill>
              </a:rPr>
              <a:t>The interesting line is a </a:t>
            </a:r>
            <a:r>
              <a:rPr sz="1474" b="1">
                <a:solidFill>
                  <a:srgbClr val="4A4D10"/>
                </a:solidFill>
              </a:rPr>
              <a:t>DECLINED</a:t>
            </a:r>
            <a:r>
              <a:rPr sz="1474" b="0">
                <a:solidFill>
                  <a:srgbClr val="4A4D10"/>
                </a:solidFill>
              </a:rPr>
              <a:t>. Review said "HOLD signals still use hardcoded 0.20 volatility"; the agent answered that HOLD short-circuits before position sizing and the task allowed non-sizing fallbacks. The pipeline </a:t>
            </a:r>
            <a:r>
              <a:rPr sz="1474" b="1">
                <a:solidFill>
                  <a:srgbClr val="2026D2"/>
                </a:solidFill>
              </a:rPr>
              <a:t>recorded the argument</a:t>
            </a:r>
            <a:r>
              <a:rPr sz="1474" b="0">
                <a:solidFill>
                  <a:srgbClr val="4A4D10"/>
                </a:solidFill>
              </a:rPr>
              <a:t> instead of silently agreeing.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6060" y="4744938"/>
            <a:ext cx="25400" cy="891381"/>
          </a:xfrm>
          <a:prstGeom prst="rect">
            <a:avLst/>
          </a:prstGeom>
          <a:solidFill>
            <a:srgbClr val="DDE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Does it actually work? 56 real jobs answer honestly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6060" y="2167830"/>
          <a:ext cx="5602188" cy="2548531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477492"/>
                <a:gridCol w="3124696"/>
              </a:tblGrid>
              <a:tr h="316111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METRIC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4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8" b="1" spc="73">
                          <a:solidFill>
                            <a:srgbClr val="2026D2"/>
                          </a:solidFill>
                        </a:rPr>
                        <a:t>56 JOBS, ALL-LOCAL MODELS</a:t>
                      </a:r>
                    </a:p>
                  </a:txBody>
                  <a:tcPr marL="92101" marR="92101" marT="64471" marB="70821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verify passed first try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1">
                          <a:solidFill>
                            <a:srgbClr val="262626"/>
                          </a:solidFill>
                        </a:rPr>
                        <a:t>23 / 56 — 41%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verify passed eventually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1">
                          <a:solidFill>
                            <a:srgbClr val="262626"/>
                          </a:solidFill>
                        </a:rPr>
                        <a:t>49 / 56 — 88%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fix attempts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mean 0.9 · p90 2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review verdicts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28 approved · 5 failed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subtasks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0">
                          <a:solidFill>
                            <a:srgbClr val="575757"/>
                          </a:solidFill>
                        </a:rPr>
                        <a:t>159 reviewed · 17 blockers · 17 fixed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  <a:tr h="372070"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5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21" b="0">
                          <a:solidFill>
                            <a:srgbClr val="262626"/>
                          </a:solidFill>
                          <a:latin typeface="Consolas"/>
                        </a:rPr>
                        <a:t>merged</a:t>
                      </a:r>
                    </a:p>
                  </a:txBody>
                  <a:tcPr marL="100669" marR="100669" marT="70468" marB="7681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5" b="1">
                          <a:solidFill>
                            <a:srgbClr val="262626"/>
                          </a:solidFill>
                        </a:rPr>
                        <a:t>43 / 56</a:t>
                      </a:r>
                    </a:p>
                  </a:txBody>
                  <a:tcPr marL="107095" marR="107095" marT="74966" marB="81316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DD6FF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Picture 4" descr="img174934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905" y="2078633"/>
            <a:ext cx="5602288" cy="1008261"/>
          </a:xfrm>
          <a:prstGeom prst="rect">
            <a:avLst/>
          </a:prstGeom>
          <a:ln w="6350">
            <a:solidFill>
              <a:srgbClr val="CDD6FF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1501577" y="4869656"/>
            <a:ext cx="9144000" cy="894953"/>
          </a:xfrm>
          <a:prstGeom prst="roundRect">
            <a:avLst>
              <a:gd name="adj" fmla="val 7095"/>
            </a:avLst>
          </a:prstGeom>
          <a:solidFill>
            <a:srgbClr val="FFFFFF"/>
          </a:solidFill>
          <a:ln w="12700">
            <a:solidFill>
              <a:srgbClr val="363EF8"/>
            </a:solidFill>
          </a:ln>
          <a:effectLst/>
        </p:spPr>
        <p:txBody>
          <a:bodyPr rtlCol="0" anchor="t" wrap="square" tIns="129282" rIns="256540" bIns="0" lIns="256540">
            <a:noAutofit/>
          </a:bodyPr>
          <a:lstStyle/>
          <a:p>
            <a:pPr algn="ctr" marL="0" marR="0">
              <a:lnSpc>
                <a:spcPts val="25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8" b="1">
                <a:solidFill>
                  <a:srgbClr val="2026D2"/>
                </a:solidFill>
              </a:rPr>
              <a:t>41% first try, 88% eventually. The gap is the pipeline. The model alone is not enough — the loop around it is what makes it usable.</a:t>
            </a:r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same stack you build today, driving real work</a:t>
            </a:r>
          </a:p>
        </p:txBody>
      </p:sp>
      <p:pic>
        <p:nvPicPr>
          <p:cNvPr id="4" name="Picture 3" descr="img29811373.png"/>
          <p:cNvPicPr>
            <a:picLocks noChangeAspect="1"/>
          </p:cNvPicPr>
          <p:nvPr/>
        </p:nvPicPr>
        <p:blipFill>
          <a:blip r:embed="rId2"/>
          <a:srcRect b="17748"/>
          <a:stretch>
            <a:fillRect/>
          </a:stretch>
        </p:blipFill>
        <p:spPr>
          <a:xfrm>
            <a:off x="386060" y="1564382"/>
            <a:ext cx="11726862" cy="3858220"/>
          </a:xfrm>
          <a:prstGeom prst="rect">
            <a:avLst/>
          </a:prstGeom>
          <a:ln w="6546">
            <a:solidFill>
              <a:srgbClr val="CDD6FF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386060" y="5549702"/>
            <a:ext cx="11726862" cy="649684"/>
          </a:xfrm>
          <a:prstGeom prst="rect">
            <a:avLst/>
          </a:prstGeom>
          <a:solidFill>
            <a:srgbClr val="F0F2FF"/>
          </a:solidFill>
          <a:ln>
            <a:noFill/>
          </a:ln>
          <a:effectLst/>
        </p:spPr>
        <p:txBody>
          <a:bodyPr rtlCol="0" anchor="t" wrap="square" tIns="0" rIns="181651" bIns="0" lIns="200701">
            <a:noAutofit/>
          </a:bodyPr>
          <a:lstStyle/>
          <a:p>
            <a:pPr algn="l" marL="0" marR="0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0" b="0">
                <a:solidFill>
                  <a:srgbClr val="1C2160"/>
                </a:solidFill>
              </a:rPr>
              <a:t>Every job above ran on </a:t>
            </a:r>
            <a:r>
              <a:rPr sz="1430" b="1">
                <a:solidFill>
                  <a:srgbClr val="1C2160"/>
                </a:solidFill>
              </a:rPr>
              <a:t>local models</a:t>
            </a:r>
            <a:r>
              <a:rPr sz="1430" b="0">
                <a:solidFill>
                  <a:srgbClr val="1C2160"/>
                </a:solidFill>
              </a:rPr>
              <a:t> behind the same shape of gateway you just built: a model manager, an OpenAI-compatible endpoint, an agent pointed at it. On your laptop the model is the constraint; on a GPU box the pipeline is. </a:t>
            </a:r>
            <a:r>
              <a:rPr sz="1430" b="1">
                <a:solidFill>
                  <a:srgbClr val="1C2160"/>
                </a:solidFill>
              </a:rPr>
              <a:t>Exercise 7</a:t>
            </a:r>
            <a:r>
              <a:rPr sz="1430" b="0">
                <a:solidFill>
                  <a:srgbClr val="1C2160"/>
                </a:solidFill>
              </a:rPr>
              <a:t> lets you build the smallest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6060" y="5549702"/>
            <a:ext cx="19639" cy="649684"/>
          </a:xfrm>
          <a:prstGeom prst="rect">
            <a:avLst/>
          </a:prstGeom>
          <a:solidFill>
            <a:srgbClr val="363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things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6015" y="2619871"/>
            <a:ext cx="8980609" cy="2070199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348204" marR="0" indent="-348204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36"/>
              <a:buFont typeface="+mn-lt"/>
              <a:buAutoNum type="arabicPeriod" startAt="1"/>
            </a:pPr>
            <a:r>
              <a:rPr sz="1635" b="0">
                <a:solidFill>
                  <a:srgbClr val="262626"/>
                </a:solidFill>
              </a:rPr>
              <a:t>Five layers. </a:t>
            </a:r>
            <a:r>
              <a:rPr sz="1635" b="1">
                <a:solidFill>
                  <a:srgbClr val="262626"/>
                </a:solidFill>
              </a:rPr>
              <a:t>Build bottom-up, verify each one.</a:t>
            </a:r>
          </a:p>
          <a:p>
            <a:pPr marL="348204" marR="0" indent="-348204" algn="l">
              <a:lnSpc>
                <a:spcPts val="2454"/>
              </a:lnSpc>
              <a:spcBef>
                <a:spcPts val="981"/>
              </a:spcBef>
              <a:spcAft>
                <a:spcPts val="0"/>
              </a:spcAft>
              <a:buClr>
                <a:srgbClr val="262626"/>
              </a:buClr>
              <a:buSzPts val="1636"/>
              <a:buFont typeface="+mn-lt"/>
              <a:buAutoNum type="arabicPeriod" startAt="2"/>
            </a:pPr>
            <a:r>
              <a:rPr sz="1635" b="0">
                <a:solidFill>
                  <a:srgbClr val="262626"/>
                </a:solidFill>
              </a:rPr>
              <a:t>The </a:t>
            </a:r>
            <a:r>
              <a:rPr sz="1635" b="1">
                <a:solidFill>
                  <a:srgbClr val="262626"/>
                </a:solidFill>
              </a:rPr>
              <a:t>OpenAI-compatible API</a:t>
            </a:r>
            <a:r>
              <a:rPr sz="1635" b="0">
                <a:solidFill>
                  <a:srgbClr val="262626"/>
                </a:solidFill>
              </a:rPr>
              <a:t> is why any client works with any server.</a:t>
            </a:r>
          </a:p>
          <a:p>
            <a:pPr marL="348204" marR="0" indent="-348204" algn="l">
              <a:lnSpc>
                <a:spcPts val="2454"/>
              </a:lnSpc>
              <a:spcBef>
                <a:spcPts val="981"/>
              </a:spcBef>
              <a:spcAft>
                <a:spcPts val="0"/>
              </a:spcAft>
              <a:buClr>
                <a:srgbClr val="262626"/>
              </a:buClr>
              <a:buSzPts val="1636"/>
              <a:buFont typeface="+mn-lt"/>
              <a:buAutoNum type="arabicPeriod" startAt="3"/>
            </a:pPr>
            <a:r>
              <a:rPr sz="1635" b="1">
                <a:solidFill>
                  <a:srgbClr val="262626"/>
                </a:solidFill>
              </a:rPr>
              <a:t>Context costs RAM</a:t>
            </a:r>
            <a:r>
              <a:rPr sz="1635" b="0">
                <a:solidFill>
                  <a:srgbClr val="262626"/>
                </a:solidFill>
              </a:rPr>
              <a:t>, and </a:t>
            </a:r>
            <a:r>
              <a:rPr sz="1406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-np</a:t>
            </a:r>
            <a:r>
              <a:rPr sz="1635" b="0">
                <a:solidFill>
                  <a:srgbClr val="262626"/>
                </a:solidFill>
              </a:rPr>
              <a:t> divides it. Quantisation costs quality.</a:t>
            </a:r>
          </a:p>
          <a:p>
            <a:pPr marL="348204" marR="0" indent="-348204" algn="l">
              <a:lnSpc>
                <a:spcPts val="2454"/>
              </a:lnSpc>
              <a:spcBef>
                <a:spcPts val="981"/>
              </a:spcBef>
              <a:spcAft>
                <a:spcPts val="0"/>
              </a:spcAft>
              <a:buClr>
                <a:srgbClr val="262626"/>
              </a:buClr>
              <a:buSzPts val="1636"/>
              <a:buFont typeface="+mn-lt"/>
              <a:buAutoNum type="arabicPeriod" startAt="4"/>
            </a:pPr>
            <a:r>
              <a:rPr sz="1635" b="1">
                <a:solidFill>
                  <a:srgbClr val="262626"/>
                </a:solidFill>
              </a:rPr>
              <a:t>Tool calling breaks first</a:t>
            </a:r>
            <a:r>
              <a:rPr sz="1635" b="0">
                <a:solidFill>
                  <a:srgbClr val="262626"/>
                </a:solidFill>
              </a:rPr>
              <a:t> as models shrink — and agents are built from tool calls.</a:t>
            </a:r>
          </a:p>
          <a:p>
            <a:pPr marL="348204" marR="0" indent="-348204" algn="l">
              <a:lnSpc>
                <a:spcPts val="2454"/>
              </a:lnSpc>
              <a:spcBef>
                <a:spcPts val="981"/>
              </a:spcBef>
              <a:spcAft>
                <a:spcPts val="0"/>
              </a:spcAft>
              <a:buClr>
                <a:srgbClr val="262626"/>
              </a:buClr>
              <a:buSzPts val="1636"/>
              <a:buFont typeface="+mn-lt"/>
              <a:buAutoNum type="arabicPeriod" startAt="5"/>
            </a:pPr>
            <a:r>
              <a:rPr sz="1635" b="0">
                <a:solidFill>
                  <a:srgbClr val="262626"/>
                </a:solidFill>
              </a:rPr>
              <a:t>Self-hosting is a </a:t>
            </a:r>
            <a:r>
              <a:rPr sz="1635" b="1">
                <a:solidFill>
                  <a:srgbClr val="262626"/>
                </a:solidFill>
              </a:rPr>
              <a:t>trade</a:t>
            </a:r>
            <a:r>
              <a:rPr sz="1635" b="0">
                <a:solidFill>
                  <a:srgbClr val="262626"/>
                </a:solidFill>
              </a:rPr>
              <a:t>. RAG and private work win; frontier reasoning does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6060" y="5117802"/>
            <a:ext cx="11400556" cy="325140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marL="0" marR="0" algn="l">
              <a:lnSpc>
                <a:spcPts val="2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35" b="0">
                <a:solidFill>
                  <a:srgbClr val="575757"/>
                </a:solidFill>
              </a:rPr>
              <a:t>Everything here is in </a:t>
            </a:r>
            <a:r>
              <a:rPr sz="1406" b="0">
                <a:solidFill>
                  <a:srgbClr val="000099"/>
                </a:solidFill>
                <a:highlight>
                  <a:srgbClr val="EEF1FB"/>
                </a:highlight>
                <a:latin typeface="Consolas"/>
              </a:rPr>
              <a:t>docs/01-concepts.md</a:t>
            </a:r>
            <a:r>
              <a:rPr sz="1635" b="0">
                <a:solidFill>
                  <a:srgbClr val="575757"/>
                </a:solidFill>
              </a:rPr>
              <a:t>. Questions now, or in the hands-on?</a:t>
            </a:r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14.11.2026</a:t>
            </a:r>
            <a:endParaRPr lang="en-CA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AD0B-53D4-4473-89A4-0C9AC72707FF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HP">
  <a:themeElements>
    <a:clrScheme name="MHP colors">
      <a:dk1>
        <a:srgbClr val="262626"/>
      </a:dk1>
      <a:lt1>
        <a:srgbClr val="FFFFFF"/>
      </a:lt1>
      <a:dk2>
        <a:srgbClr val="575757"/>
      </a:dk2>
      <a:lt2>
        <a:srgbClr val="B0B0B0"/>
      </a:lt2>
      <a:accent1>
        <a:srgbClr val="000099"/>
      </a:accent1>
      <a:accent2>
        <a:srgbClr val="1612FF"/>
      </a:accent2>
      <a:accent3>
        <a:srgbClr val="CDD6FF"/>
      </a:accent3>
      <a:accent4>
        <a:srgbClr val="DDEF03"/>
      </a:accent4>
      <a:accent5>
        <a:srgbClr val="00CC67"/>
      </a:accent5>
      <a:accent6>
        <a:srgbClr val="575757"/>
      </a:accent6>
      <a:hlink>
        <a:srgbClr val="262626"/>
      </a:hlink>
      <a:folHlink>
        <a:srgbClr val="262626"/>
      </a:folHlink>
    </a:clrScheme>
    <a:fontScheme name="MHP font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144000" tIns="144000" rIns="144000" bIns="144000" rtlCol="0" anchor="t"/>
      <a:lstStyle>
        <a:defPPr marL="252000" indent="-252000" algn="l">
          <a:spcAft>
            <a:spcPts val="600"/>
          </a:spcAft>
          <a:buClr>
            <a:schemeClr val="bg1"/>
          </a:buClr>
          <a:buFont typeface="Wingdings" panose="05000000000000000000" pitchFamily="2" charset="2"/>
          <a:buChar char="§"/>
          <a:defRPr sz="14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12700">
          <a:solidFill>
            <a:schemeClr val="tx2"/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52000" indent="-252000" algn="l">
          <a:spcAft>
            <a:spcPts val="600"/>
          </a:spcAft>
          <a:buClr>
            <a:schemeClr val="accent1"/>
          </a:buClr>
          <a:buFont typeface="Arial" panose="020B0604020202020204" pitchFamily="34" charset="0"/>
          <a:buChar char="•"/>
          <a:defRPr sz="1400" dirty="0"/>
        </a:defPPr>
      </a:lstStyle>
    </a:txDef>
  </a:objectDefaults>
  <a:extraClrSchemeLst/>
  <a:custClr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AD236A75FEEE4D89C8DDCC17F2BFE1" ma:contentTypeVersion="18" ma:contentTypeDescription="Ein neues Dokument erstellen." ma:contentTypeScope="" ma:versionID="48aa947759bd3233cc2444d26638261d">
  <xsd:schema xmlns:xsd="http://www.w3.org/2001/XMLSchema" xmlns:xs="http://www.w3.org/2001/XMLSchema" xmlns:p="http://schemas.microsoft.com/office/2006/metadata/properties" xmlns:ns2="09f2d918-0e3a-466c-9f38-aa4613b31858" xmlns:ns3="49fdd0f7-b5e6-4db2-af4b-ed23e4d5c043" targetNamespace="http://schemas.microsoft.com/office/2006/metadata/properties" ma:root="true" ma:fieldsID="3e2c4945535a62c5b3257ee1736a203e" ns2:_="" ns3:_="">
    <xsd:import namespace="09f2d918-0e3a-466c-9f38-aa4613b31858"/>
    <xsd:import namespace="49fdd0f7-b5e6-4db2-af4b-ed23e4d5c043"/>
    <xsd:element name="properties">
      <xsd:complexType>
        <xsd:sequence>
          <xsd:element name="documentManagement">
            <xsd:complexType>
              <xsd:all>
                <xsd:element ref="ns2:Kontaktname" minOccurs="0"/>
                <xsd:element ref="ns2:AuftragsID" minOccurs="0"/>
                <xsd:element ref="ns2:RefNr" minOccurs="0"/>
                <xsd:element ref="ns2:Kontakt_x0020_E-Mai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_x00c4_nderungsdatum" minOccurs="0"/>
                <xsd:element ref="ns2:Datum" minOccurs="0"/>
                <xsd:element ref="ns2:MediaServiceLocation" minOccurs="0"/>
                <xsd:element ref="ns2:FileServer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f2d918-0e3a-466c-9f38-aa4613b31858" elementFormDefault="qualified">
    <xsd:import namespace="http://schemas.microsoft.com/office/2006/documentManagement/types"/>
    <xsd:import namespace="http://schemas.microsoft.com/office/infopath/2007/PartnerControls"/>
    <xsd:element name="Kontaktname" ma:index="8" nillable="true" ma:displayName="Kontaktname" ma:default="" ma:internalName="Kontaktname" ma:readOnly="false">
      <xsd:simpleType>
        <xsd:restriction base="dms:Text">
          <xsd:maxLength value="255"/>
        </xsd:restriction>
      </xsd:simpleType>
    </xsd:element>
    <xsd:element name="AuftragsID" ma:index="9" nillable="true" ma:displayName="AuftragsID" ma:default="" ma:internalName="AuftragsID" ma:readOnly="false">
      <xsd:simpleType>
        <xsd:restriction base="dms:Text">
          <xsd:maxLength value="255"/>
        </xsd:restriction>
      </xsd:simpleType>
    </xsd:element>
    <xsd:element name="RefNr" ma:index="10" nillable="true" ma:displayName="RefNr" ma:format="Dropdown" ma:internalName="RefNr" ma:percentage="FALSE">
      <xsd:simpleType>
        <xsd:restriction base="dms:Number"/>
      </xsd:simpleType>
    </xsd:element>
    <xsd:element name="Kontakt_x0020_E-Mail" ma:index="11" nillable="true" ma:displayName="Kontakt E-Mail" ma:default="" ma:internalName="Kontakt_x0020_E_x002d_Mail">
      <xsd:simpleType>
        <xsd:restriction base="dms:Text">
          <xsd:maxLength value="255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Bildmarkierungen" ma:readOnly="false" ma:fieldId="{5cf76f15-5ced-4ddc-b409-7134ff3c332f}" ma:taxonomyMulti="true" ma:sspId="528c2ea2-57a0-4bd9-92b2-10031419a8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x00c4_nderungsdatum" ma:index="26" nillable="true" ma:displayName="Änderungsdatum" ma:format="DateTime" ma:internalName="_x00c4_nderungsdatum">
      <xsd:simpleType>
        <xsd:restriction base="dms:DateTime"/>
      </xsd:simpleType>
    </xsd:element>
    <xsd:element name="Datum" ma:index="27" nillable="true" ma:displayName="Datum" ma:format="DateTime" ma:internalName="Datum">
      <xsd:simpleType>
        <xsd:restriction base="dms:DateTime"/>
      </xsd:simpleType>
    </xsd:element>
    <xsd:element name="MediaServiceLocation" ma:index="28" nillable="true" ma:displayName="Location" ma:description="" ma:indexed="true" ma:internalName="MediaServiceLocation" ma:readOnly="true">
      <xsd:simpleType>
        <xsd:restriction base="dms:Text"/>
      </xsd:simpleType>
    </xsd:element>
    <xsd:element name="FileServerLink" ma:index="29" nillable="true" ma:displayName="FileServerLink" ma:format="Dropdown" ma:internalName="FileServerLink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fdd0f7-b5e6-4db2-af4b-ed23e4d5c04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e8d51961-0080-464c-bfa8-a9a50a62e845}" ma:internalName="TaxCatchAll" ma:showField="CatchAllData" ma:web="49fdd0f7-b5e6-4db2-af4b-ed23e4d5c0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9f2d918-0e3a-466c-9f38-aa4613b31858">
      <Terms xmlns="http://schemas.microsoft.com/office/infopath/2007/PartnerControls"/>
    </lcf76f155ced4ddcb4097134ff3c332f>
    <RefNr xmlns="09f2d918-0e3a-466c-9f38-aa4613b31858">81646</RefNr>
    <Kontakt_x0020_E-Mail xmlns="09f2d918-0e3a-466c-9f38-aa4613b31858">lennart.brouwer@mhp.com</Kontakt_x0020_E-Mail>
    <_x00c4_nderungsdatum xmlns="09f2d918-0e3a-466c-9f38-aa4613b31858" xsi:nil="true"/>
    <Kontaktname xmlns="09f2d918-0e3a-466c-9f38-aa4613b31858">Lennart Brouwer</Kontaktname>
    <TaxCatchAll xmlns="49fdd0f7-b5e6-4db2-af4b-ed23e4d5c043" xsi:nil="true"/>
    <AuftragsID xmlns="09f2d918-0e3a-466c-9f38-aa4613b31858">9f13ceb6-de91-ef11-8a69-7c1e5276c1c0</AuftragsID>
    <Datum xmlns="09f2d918-0e3a-466c-9f38-aa4613b31858" xsi:nil="true"/>
    <FileServerLink xmlns="09f2d918-0e3a-466c-9f38-aa4613b3185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BB501E-27C9-4499-ACE1-B77D2856412E}">
  <ds:schemaRefs>
    <ds:schemaRef ds:uri="09f2d918-0e3a-466c-9f38-aa4613b31858"/>
    <ds:schemaRef ds:uri="49fdd0f7-b5e6-4db2-af4b-ed23e4d5c04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A9CEE26-62B3-4470-8830-97A56F89C059}">
  <ds:schemaRefs>
    <ds:schemaRef ds:uri="http://schemas.microsoft.com/office/infopath/2007/PartnerControls"/>
    <ds:schemaRef ds:uri="http://www.w3.org/XML/1998/namespace"/>
    <ds:schemaRef ds:uri="http://purl.org/dc/dcmitype/"/>
    <ds:schemaRef ds:uri="http://schemas.microsoft.com/office/2006/documentManagement/types"/>
    <ds:schemaRef ds:uri="http://purl.org/dc/elements/1.1/"/>
    <ds:schemaRef ds:uri="49fdd0f7-b5e6-4db2-af4b-ed23e4d5c043"/>
    <ds:schemaRef ds:uri="http://purl.org/dc/terms/"/>
    <ds:schemaRef ds:uri="http://schemas.openxmlformats.org/package/2006/metadata/core-properties"/>
    <ds:schemaRef ds:uri="09f2d918-0e3a-466c-9f38-aa4613b31858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8915BD6A-166C-4698-BC7C-77F6986BB76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Segoe UI</vt:lpstr>
      <vt:lpstr>Symbol</vt:lpstr>
      <vt:lpstr>Wingdings</vt:lpstr>
      <vt:lpstr>MHP</vt:lpstr>
      <vt:lpstr>think-cell Slide</vt:lpstr>
      <vt:lpstr>Master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Platzhaltertitel</dc:title>
  <dc:creator>Sophia Rybing | i-pointing</dc:creator>
  <cp:lastModifiedBy>Roxana-Aniela Oroian</cp:lastModifiedBy>
  <cp:revision>8</cp:revision>
  <dcterms:created xsi:type="dcterms:W3CDTF">2024-05-08T11:14:55Z</dcterms:created>
  <dcterms:modified xsi:type="dcterms:W3CDTF">2026-10-19T08:47:59Z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0x010100BCAD236A75FEEE4D89C8DDCC17F2BFE1</vt:lpwstr>
  </property>
  <property fmtid="{D5CDD505-2E9C-101B-9397-08002B2CF9AE}" pid="3" name="MediaServiceImageTags">
    <vt:lpwstr/>
  </property>
</Properties>
</file>