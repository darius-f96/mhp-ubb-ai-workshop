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6858000" cy="9144000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5"/>
    <p:restoredTop sz="94658"/>
  </p:normalViewPr>
  <p:slideViewPr>
    <p:cSldViewPr snapToGrid="0">
      <p:cViewPr varScale="1">
        <p:scale>
          <a:sx n="116" d="100"/>
          <a:sy n="116" d="100"/>
        </p:scale>
        <p:origin x="1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8/10/relationships/authors" Target="authors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xana-Aniela Oroian" userId="64fc5bb4-7223-4a1a-a9a4-8677cb341afd" providerId="ADAL" clId="{B0D2C031-6F24-55B1-BF27-3045ACBBF8BF}"/>
    <pc:docChg chg="modMainMaster">
      <pc:chgData name="Roxana-Aniela Oroian" userId="64fc5bb4-7223-4a1a-a9a4-8677cb341afd" providerId="ADAL" clId="{B0D2C031-6F24-55B1-BF27-3045ACBBF8BF}" dt="2026-10-19T08:47:56.587" v="1" actId="20577"/>
      <pc:docMkLst>
        <pc:docMk/>
      </pc:docMkLst>
      <pc:sldMasterChg chg="modSldLayout">
        <pc:chgData name="Roxana-Aniela Oroian" userId="64fc5bb4-7223-4a1a-a9a4-8677cb341afd" providerId="ADAL" clId="{B0D2C031-6F24-55B1-BF27-3045ACBBF8BF}" dt="2026-10-19T08:47:56.587" v="1" actId="20577"/>
        <pc:sldMasterMkLst>
          <pc:docMk/>
          <pc:sldMasterMk cId="1373265248" sldId="2147483689"/>
        </pc:sldMasterMkLst>
        <pc:sldLayoutChg chg="modSp mod">
          <pc:chgData name="Roxana-Aniela Oroian" userId="64fc5bb4-7223-4a1a-a9a4-8677cb341afd" providerId="ADAL" clId="{B0D2C031-6F24-55B1-BF27-3045ACBBF8BF}" dt="2026-10-19T08:47:56.587" v="1" actId="20577"/>
          <pc:sldLayoutMkLst>
            <pc:docMk/>
            <pc:sldMasterMk cId="1373265248" sldId="2147483689"/>
            <pc:sldLayoutMk cId="3375198235" sldId="2147483701"/>
          </pc:sldLayoutMkLst>
          <pc:spChg chg="mod">
            <ac:chgData name="Roxana-Aniela Oroian" userId="64fc5bb4-7223-4a1a-a9a4-8677cb341afd" providerId="ADAL" clId="{B0D2C031-6F24-55B1-BF27-3045ACBBF8BF}" dt="2026-10-19T08:47:56.587" v="1" actId="20577"/>
            <ac:spMkLst>
              <pc:docMk/>
              <pc:sldMasterMk cId="1373265248" sldId="2147483689"/>
              <pc:sldLayoutMk cId="3375198235" sldId="2147483701"/>
              <ac:spMk id="2" creationId="{F2C73B73-121B-A755-A619-61DA9EB43060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Agenda</a:t>
            </a:r>
            <a:endParaRPr lang="en-CA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F064-BD39-4FE4-B9A2-7344DA85858F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1999-4726-4600-8B88-4A7F5C00CB35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1999-4726-4600-8B88-4A7F5C00CB35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96C7-E992-43AB-8F76-578993D9CEAE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5E70D4B-E00F-4E3D-9749-2A3BEC2D17A1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108A-4CEC-450F-9F79-7958F0401B7E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tags" Target="../tags/tag2.xml"/><Relationship Id="rId58" Type="http://schemas.openxmlformats.org/officeDocument/2006/relationships/oleObject" Target="../embeddings/oleObject1.bin"/><Relationship Id="rId5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8" imgW="306" imgH="306" progId="TCLayout.ActiveDocument.1">
                  <p:embed/>
                </p:oleObj>
              </mc:Choice>
              <mc:Fallback>
                <p:oleObj name="think-cell Slide" r:id="rId5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D3B82-3692-011E-2E2F-FAEB69627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21E943-A651-71BC-5898-772410557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D7F6F1B8-152D-564D-87A1-C4BF560DACE2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696" r:id="rId7"/>
    <p:sldLayoutId id="2147483697" r:id="rId8"/>
    <p:sldLayoutId id="2147483694" r:id="rId9"/>
    <p:sldLayoutId id="2147483695" r:id="rId10"/>
    <p:sldLayoutId id="2147483692" r:id="rId11"/>
    <p:sldLayoutId id="2147483693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5" r:id="rId21"/>
    <p:sldLayoutId id="2147483706" r:id="rId22"/>
    <p:sldLayoutId id="2147483709" r:id="rId23"/>
    <p:sldLayoutId id="2147483710" r:id="rId24"/>
    <p:sldLayoutId id="2147483729" r:id="rId25"/>
    <p:sldLayoutId id="2147483713" r:id="rId26"/>
    <p:sldLayoutId id="2147483714" r:id="rId27"/>
    <p:sldLayoutId id="2147483715" r:id="rId28"/>
    <p:sldLayoutId id="2147483716" r:id="rId29"/>
    <p:sldLayoutId id="2147483707" r:id="rId30"/>
    <p:sldLayoutId id="2147483708" r:id="rId31"/>
    <p:sldLayoutId id="2147483711" r:id="rId32"/>
    <p:sldLayoutId id="2147483712" r:id="rId33"/>
    <p:sldLayoutId id="2147483704" r:id="rId34"/>
    <p:sldLayoutId id="2147483703" r:id="rId35"/>
    <p:sldLayoutId id="2147483702" r:id="rId36"/>
    <p:sldLayoutId id="2147483717" r:id="rId37"/>
    <p:sldLayoutId id="2147483718" r:id="rId38"/>
    <p:sldLayoutId id="2147483730" r:id="rId39"/>
    <p:sldLayoutId id="2147483733" r:id="rId40"/>
    <p:sldLayoutId id="2147483736" r:id="rId41"/>
    <p:sldLayoutId id="2147483727" r:id="rId42"/>
    <p:sldLayoutId id="2147483728" r:id="rId43"/>
    <p:sldLayoutId id="2147483734" r:id="rId44"/>
    <p:sldLayoutId id="2147483743" r:id="rId45"/>
    <p:sldLayoutId id="2147483745" r:id="rId46"/>
    <p:sldLayoutId id="2147483740" r:id="rId47"/>
    <p:sldLayoutId id="2147483746" r:id="rId48"/>
    <p:sldLayoutId id="2147483747" r:id="rId49"/>
    <p:sldLayoutId id="2147483742" r:id="rId50"/>
    <p:sldLayoutId id="2147483741" r:id="rId51"/>
    <p:sldLayoutId id="2147483748" r:id="rId52"/>
    <p:sldLayoutId id="2147483749" r:id="rId53"/>
    <p:sldLayoutId id="2147483744" r:id="rId54"/>
    <p:sldLayoutId id="214748373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qwen serve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2804160" y="6019840"/>
            <a:ext cx="6583679" cy="361910"/>
          </a:xfrm>
        </p:spPr>
        <p:txBody>
          <a:bodyPr/>
          <a:lstStyle/>
          <a:p>
            <a:r>
              <a:t>QWEN CODE V0.25.1  ·  STAGE 1 EXPERIMENTAL  ·  --HTTP-BRIDGE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224697"/>
            <a:ext cx="9144000" cy="82296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/>
            <a:r>
              <a:rPr sz="1600">
                <a:solidFill>
                  <a:srgbClr val="CDD6FF"/>
                </a:solidFill>
              </a:rPr>
              <a:t>Turning a terminal coding agent into a daemon you can reach from a browser, a phone, or another machine.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agent lives in a terminal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203351"/>
            <a:ext cx="5602188" cy="2402284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What that costs you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Tied to one window on one machine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Close the laptop lid → the run dies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No way to watch a long job from elsewhere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Nothing to script against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One session, one user, one SSH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203351"/>
            <a:ext cx="25400" cy="2402284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2203351"/>
            <a:ext cx="5602288" cy="2402284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What </a:t>
            </a:r>
            <a:r>
              <a:rPr sz="1337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 serve</a:t>
            </a:r>
            <a:r>
              <a:rPr sz="1555" b="1">
                <a:solidFill>
                  <a:srgbClr val="000099"/>
                </a:solidFill>
              </a:rPr>
              <a:t> gives you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An HTTP daemon with a real API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A browser UI — the Web Shell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Sessions that survive a page refresh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Access from a phone on the same network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Many concurrent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8905" y="2203351"/>
            <a:ext cx="25400" cy="2402284"/>
          </a:xfrm>
          <a:prstGeom prst="rect">
            <a:avLst/>
          </a:prstGeom>
          <a:solidFill>
            <a:srgbClr val="00CC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1577" y="4707235"/>
            <a:ext cx="9144000" cy="932656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One command changes the deployment shape: </a:t>
            </a:r>
            <a:r>
              <a:rPr sz="1486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</a:t>
            </a:r>
            <a:r>
              <a:rPr sz="1728" b="1">
                <a:solidFill>
                  <a:srgbClr val="2026D2"/>
                </a:solidFill>
              </a:rPr>
              <a:t> is a process you watch. </a:t>
            </a:r>
            <a:r>
              <a:rPr sz="1486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 serve</a:t>
            </a:r>
            <a:r>
              <a:rPr sz="1728" b="1">
                <a:solidFill>
                  <a:srgbClr val="2026D2"/>
                </a:solidFill>
              </a:rPr>
              <a:t> is a service you talk to.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whole thing in one 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038548"/>
            <a:ext cx="11375132" cy="1390253"/>
          </a:xfrm>
          <a:prstGeom prst="roundRect">
            <a:avLst>
              <a:gd name="adj" fmla="val 3654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7C86B8"/>
                </a:solidFill>
                <a:latin typeface="Consolas"/>
              </a:rPr>
              <a:t># loopback, no auth needed, Web Shell on by default</a:t>
            </a:r>
            <a:br/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</a:t>
            </a:r>
            <a:br/>
            <a:br/>
            <a:r>
              <a:rPr sz="1036" b="0">
                <a:solidFill>
                  <a:srgbClr val="7C86B8"/>
                </a:solidFill>
                <a:latin typeface="Consolas"/>
              </a:rPr>
              <a:t># it prints something like:</a:t>
            </a:r>
            <a:br/>
            <a:r>
              <a:rPr sz="1036" b="0">
                <a:solidFill>
                  <a:srgbClr val="7C86B8"/>
                </a:solidFill>
                <a:latin typeface="Consolas"/>
              </a:rPr>
              <a:t>#   Web Shell:  http://127.0.0.1:4170</a:t>
            </a:r>
            <a:br/>
            <a:r>
              <a:rPr sz="1036" b="0">
                <a:solidFill>
                  <a:srgbClr val="7C86B8"/>
                </a:solidFill>
                <a:latin typeface="Consolas"/>
              </a:rPr>
              <a:t>#   API:        http://127.0.0.1:4170/session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038548"/>
            <a:ext cx="25400" cy="1390253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6060" y="3559274"/>
          <a:ext cx="11375132" cy="221456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419945"/>
                <a:gridCol w="1471017"/>
                <a:gridCol w="7484170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FLAG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DEFAULT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MEANING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--port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4170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TCP port.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0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asks the OS for a free one.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--hostname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127.0.0.1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Loopback → auth-free. Anything else → token required.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--web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true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Serve the browser UI.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--no-web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= API only.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--http-bridge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true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Preheats a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qwen --acp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child process.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--max-sessions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32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Concurrent live sessions before 503.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actually starts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606947"/>
            <a:ext cx="11375132" cy="3755430"/>
          </a:xfrm>
          <a:prstGeom prst="roundRect">
            <a:avLst>
              <a:gd name="adj" fmla="val 1352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E8EBFF"/>
                </a:solidFill>
                <a:latin typeface="Consolas"/>
              </a:rPr>
              <a:t>            you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┌─────────┴──────────┬─────────────────────┐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│                    │        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browser             curl / script         another qwen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(Web Shell)         (HTTP + SSE)          (--join / Agent Host)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│                    │        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└────────────────────┴─────────────────────┘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┌─────────▼──────────┐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│   qwen serve       │   daemon :4170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│   ─ HTTP API       │   bearer token (non-loopback)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│   ─ Web Shell UI   │   CORS allowlist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│   ─ session store  │   SSE replay ring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└─────────┬──────────┘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          │  --http-bridge (stage 1)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┌─────────▼──────────┐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│  qwen --acp child  │   the real agent runtime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│  tools, MCP, skills│   one per session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└────────────────────┘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1606947"/>
            <a:ext cx="25400" cy="3755430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6060" y="5465366"/>
            <a:ext cx="11375132" cy="68818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Stage 1 spawns a child process per session. The help text is explicit that </a:t>
            </a:r>
            <a:r>
              <a:rPr sz="1474" b="1">
                <a:solidFill>
                  <a:srgbClr val="4A4D10"/>
                </a:solidFill>
              </a:rPr>
              <a:t>stage 2 native in-process mode is not yet implemented</a:t>
            </a:r>
            <a:r>
              <a:rPr sz="1474" b="0">
                <a:solidFill>
                  <a:srgbClr val="4A4D10"/>
                </a:solidFill>
              </a:rPr>
              <a:t>, and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--http-bridge</a:t>
            </a:r>
            <a:r>
              <a:rPr sz="1474" b="0">
                <a:solidFill>
                  <a:srgbClr val="4A4D10"/>
                </a:solidFill>
              </a:rPr>
              <a:t> will become opt-in then. Treat the internals as moving.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060" y="5465366"/>
            <a:ext cx="25400" cy="68818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Loopback is trusted. Everything else is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507952"/>
            <a:ext cx="5602188" cy="1771749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6060" y="2507952"/>
            <a:ext cx="25400" cy="1771749"/>
          </a:xfrm>
          <a:prstGeom prst="rect">
            <a:avLst/>
          </a:prstGeom>
          <a:solidFill>
            <a:srgbClr val="00CC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116" y="2684959"/>
            <a:ext cx="5333708" cy="29289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Bind 127.0.0.1 </a:t>
            </a:r>
            <a:r>
              <a:rPr sz="1152" b="1" spc="92">
                <a:solidFill>
                  <a:srgbClr val="00CC67"/>
                </a:solidFill>
              </a:rPr>
              <a:t>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16" y="3046909"/>
            <a:ext cx="5333708" cy="26769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Auth-free by design. Only processes on your machine can reach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2116" y="3364111"/>
            <a:ext cx="5229126" cy="403027"/>
          </a:xfrm>
          <a:prstGeom prst="roundRect">
            <a:avLst>
              <a:gd name="adj" fmla="val 12604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116" y="3364111"/>
            <a:ext cx="25400" cy="40302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8905" y="2507952"/>
            <a:ext cx="5602288" cy="1771749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8905" y="2507952"/>
            <a:ext cx="25400" cy="1771749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4961" y="2684959"/>
            <a:ext cx="5333810" cy="29289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Bind anything else </a:t>
            </a:r>
            <a:r>
              <a:rPr sz="1152" b="1" spc="92">
                <a:solidFill>
                  <a:srgbClr val="F26B43"/>
                </a:solidFill>
              </a:rPr>
              <a:t>TOKEN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4961" y="3046909"/>
            <a:ext cx="5333810" cy="561975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A LAN IP requires a bearer token. With neither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--token</a:t>
            </a:r>
            <a:r>
              <a:rPr sz="1405" b="0">
                <a:solidFill>
                  <a:srgbClr val="575757"/>
                </a:solidFill>
              </a:rPr>
              <a:t> nor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QWEN_SERVER_TOKEN</a:t>
            </a:r>
            <a:r>
              <a:rPr sz="1405" b="0">
                <a:solidFill>
                  <a:srgbClr val="575757"/>
                </a:solidFill>
              </a:rPr>
              <a:t>, one is </a:t>
            </a:r>
            <a:r>
              <a:rPr sz="1405" b="1">
                <a:solidFill>
                  <a:srgbClr val="2026D2"/>
                </a:solidFill>
              </a:rPr>
              <a:t>generated at startup</a:t>
            </a:r>
            <a:r>
              <a:rPr sz="1405" b="0">
                <a:solidFill>
                  <a:srgbClr val="575757"/>
                </a:solidFill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4961" y="3658394"/>
            <a:ext cx="5229225" cy="403027"/>
          </a:xfrm>
          <a:prstGeom prst="roundRect">
            <a:avLst>
              <a:gd name="adj" fmla="val 12604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</a:t>
            </a:r>
            <a:r>
              <a:rPr sz="1036" b="0">
                <a:solidFill>
                  <a:srgbClr val="9FB0FF"/>
                </a:solidFill>
                <a:latin typeface="Consolas"/>
              </a:rPr>
              <a:t>--hostname</a:t>
            </a:r>
            <a:r>
              <a:rPr sz="1036" b="0">
                <a:solidFill>
                  <a:srgbClr val="E8EBFF"/>
                </a:solidFill>
                <a:latin typeface="Consolas"/>
              </a:rPr>
              <a:t> 192.168.1.20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4961" y="3658394"/>
            <a:ext cx="25400" cy="40302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6060" y="4382691"/>
            <a:ext cx="11375132" cy="910431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1">
                <a:solidFill>
                  <a:srgbClr val="6B3320"/>
                </a:solidFill>
              </a:rPr>
              <a:t>Read the help text carefully:</a:t>
            </a:r>
            <a:r>
              <a:rPr sz="1474" b="0">
                <a:solidFill>
                  <a:srgbClr val="6B3320"/>
                </a:solidFill>
              </a:rPr>
              <a:t> "Loopback (127.0.0.0/8, localhost, ::1, [::1]) is auth-free; anything else requires a token." An agent that can run shell commands, exposed on your network without a token, is not a small mistake.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--require-auth</a:t>
            </a:r>
            <a:r>
              <a:rPr sz="1474" b="0">
                <a:solidFill>
                  <a:srgbClr val="6B3320"/>
                </a:solidFill>
              </a:rPr>
              <a:t> forces a token even on loopback — use it on shared dev boxes and CI runners.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6060" y="4382691"/>
            <a:ext cx="25400" cy="91043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settings that bite people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644279"/>
            <a:ext cx="3677940" cy="2615605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6060" y="2644279"/>
            <a:ext cx="25400" cy="2615605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116" y="2821285"/>
            <a:ext cx="3370975" cy="2413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--allow-origin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16" y="3131641"/>
            <a:ext cx="3370975" cy="108406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Browser clients send an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Origin</a:t>
            </a:r>
            <a:r>
              <a:rPr sz="1405" b="0">
                <a:solidFill>
                  <a:srgbClr val="575757"/>
                </a:solidFill>
              </a:rPr>
              <a:t> header. If it is not on the allowlist the daemon </a:t>
            </a:r>
            <a:r>
              <a:rPr sz="1405" b="1">
                <a:solidFill>
                  <a:srgbClr val="575757"/>
                </a:solidFill>
              </a:rPr>
              <a:t>403s every request</a:t>
            </a:r>
            <a:r>
              <a:rPr sz="1405" b="0">
                <a:solidFill>
                  <a:srgbClr val="575757"/>
                </a:solidFill>
              </a:rPr>
              <a:t> — including all the ones from your 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2116" y="4256980"/>
            <a:ext cx="3304877" cy="600472"/>
          </a:xfrm>
          <a:prstGeom prst="roundRect">
            <a:avLst>
              <a:gd name="adj" fmla="val 8460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--allow-origin</a:t>
            </a:r>
            <a:r>
              <a:rPr sz="1036" b="0">
                <a:solidFill>
                  <a:srgbClr val="E8EBFF"/>
                </a:solidFill>
                <a:latin typeface="Consolas"/>
              </a:rPr>
              <a:t> \</a:t>
            </a:r>
            <a:br/>
            <a:r>
              <a:rPr sz="1036" b="0">
                <a:solidFill>
                  <a:srgbClr val="E8EBFF"/>
                </a:solidFill>
                <a:latin typeface="Consolas"/>
              </a:rPr>
              <a:t>  http://192.168.1.20:4170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116" y="4256980"/>
            <a:ext cx="25400" cy="600472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4656" y="2644279"/>
            <a:ext cx="3677940" cy="2615605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4656" y="2644279"/>
            <a:ext cx="25400" cy="2615605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0712" y="2821285"/>
            <a:ext cx="3370975" cy="2413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--tls-cert / --tls-key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0712" y="3131641"/>
            <a:ext cx="3370975" cy="1070769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Browsers only allow the microphone on a </a:t>
            </a:r>
            <a:r>
              <a:rPr sz="1405" b="1">
                <a:solidFill>
                  <a:srgbClr val="2026D2"/>
                </a:solidFill>
              </a:rPr>
              <a:t>secure context</a:t>
            </a:r>
            <a:r>
              <a:rPr sz="1405" b="0">
                <a:solidFill>
                  <a:srgbClr val="575757"/>
                </a:solidFill>
              </a:rPr>
              <a:t>. Over a LAN IP that means HTTPS, or voice input silently does not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0712" y="4243685"/>
            <a:ext cx="3304877" cy="797917"/>
          </a:xfrm>
          <a:prstGeom prst="roundRect">
            <a:avLst>
              <a:gd name="adj" fmla="val 6366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7C86B8"/>
                </a:solidFill>
                <a:latin typeface="Consolas"/>
              </a:rPr>
              <a:t># mkcert makes a local cert</a:t>
            </a:r>
            <a:br/>
            <a:r>
              <a:rPr sz="1036" b="0">
                <a:solidFill>
                  <a:srgbClr val="9FB0FF"/>
                </a:solidFill>
                <a:latin typeface="Consolas"/>
              </a:rPr>
              <a:t>--tls-cert</a:t>
            </a:r>
            <a:r>
              <a:rPr sz="1036" b="0">
                <a:solidFill>
                  <a:srgbClr val="E8EBFF"/>
                </a:solidFill>
                <a:latin typeface="Consolas"/>
              </a:rPr>
              <a:t> cert.pem \</a:t>
            </a:r>
            <a:br/>
            <a:r>
              <a:rPr sz="1036" b="0">
                <a:solidFill>
                  <a:srgbClr val="9FB0FF"/>
                </a:solidFill>
                <a:latin typeface="Consolas"/>
              </a:rPr>
              <a:t>--tls-key</a:t>
            </a:r>
            <a:r>
              <a:rPr sz="1036" b="0">
                <a:solidFill>
                  <a:srgbClr val="E8EBFF"/>
                </a:solidFill>
                <a:latin typeface="Consolas"/>
              </a:rPr>
              <a:t> key.pem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0712" y="4243685"/>
            <a:ext cx="25400" cy="79791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52" y="2644279"/>
            <a:ext cx="3677940" cy="2615605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--enable-session-shell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Turns on direct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POST /session/:id/shell</a:t>
            </a:r>
            <a:r>
              <a:rPr sz="1405" b="0">
                <a:solidFill>
                  <a:srgbClr val="575757"/>
                </a:solidFill>
              </a:rPr>
              <a:t> — arbitrary command execution over HTTP. Off by default. </a:t>
            </a:r>
            <a:r>
              <a:rPr sz="1405" b="1">
                <a:solidFill>
                  <a:srgbClr val="575757"/>
                </a:solidFill>
              </a:rPr>
              <a:t>Leave it off</a:t>
            </a:r>
            <a:r>
              <a:rPr sz="1405" b="0">
                <a:solidFill>
                  <a:srgbClr val="575757"/>
                </a:solidFill>
              </a:rPr>
              <a:t> unless you have a real reason.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52" y="2644279"/>
            <a:ext cx="25400" cy="2615605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--local-control vs a static 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996480"/>
            <a:ext cx="5602188" cy="2775744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--local-control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Shares the Web Shell on your LAN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Mints its own </a:t>
            </a:r>
            <a:r>
              <a:rPr sz="1405" b="1">
                <a:solidFill>
                  <a:srgbClr val="2026D2"/>
                </a:solidFill>
              </a:rPr>
              <a:t>revocable</a:t>
            </a:r>
            <a:r>
              <a:rPr sz="1405" b="0">
                <a:solidFill>
                  <a:srgbClr val="575757"/>
                </a:solidFill>
              </a:rPr>
              <a:t> pairing token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Prints a QR code in the terminal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Best-effort sleep inhibition</a:t>
            </a:r>
          </a:p>
          <a:p>
            <a:pPr marL="0" marR="0" algn="l">
              <a:lnSpc>
                <a:spcPts val="2108"/>
              </a:lnSpc>
              <a:spcBef>
                <a:spcPts val="843"/>
              </a:spcBef>
              <a:spcAft>
                <a:spcPts val="0"/>
              </a:spcAft>
              <a:buNone/>
            </a:pPr>
            <a:r>
              <a:rPr sz="1405" b="1">
                <a:solidFill>
                  <a:srgbClr val="F26B43"/>
                </a:solidFill>
              </a:rPr>
              <a:t>But:</a:t>
            </a:r>
            <a:r>
              <a:rPr sz="1405" b="0">
                <a:solidFill>
                  <a:srgbClr val="F26B43"/>
                </a:solidFill>
              </a:rPr>
              <a:t> the pairing token is minted in memory and revoked at stop. Restart → </a:t>
            </a:r>
            <a:r>
              <a:rPr sz="1405" b="1">
                <a:solidFill>
                  <a:srgbClr val="F26B43"/>
                </a:solidFill>
              </a:rPr>
              <a:t>new token</a:t>
            </a:r>
            <a:r>
              <a:rPr sz="1405" b="0">
                <a:solidFill>
                  <a:srgbClr val="F26B43"/>
                </a:solidFill>
              </a:rPr>
              <a:t> → every bookmarked URL breaks.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1996480"/>
            <a:ext cx="25400" cy="2775744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1996480"/>
            <a:ext cx="5602288" cy="2775744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58905" y="1996480"/>
            <a:ext cx="25400" cy="2775744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4961" y="2173486"/>
            <a:ext cx="5333810" cy="2413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Static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4961" y="2483842"/>
            <a:ext cx="5229225" cy="995362"/>
          </a:xfrm>
          <a:prstGeom prst="roundRect">
            <a:avLst>
              <a:gd name="adj" fmla="val 5103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\</a:t>
            </a:r>
            <a:br/>
            <a:r>
              <a:rPr sz="1036" b="0">
                <a:solidFill>
                  <a:srgbClr val="E8EBFF"/>
                </a:solidFill>
                <a:latin typeface="Consolas"/>
              </a:rPr>
              <a:t>  </a:t>
            </a:r>
            <a:r>
              <a:rPr sz="1036" b="0">
                <a:solidFill>
                  <a:srgbClr val="9FB0FF"/>
                </a:solidFill>
                <a:latin typeface="Consolas"/>
              </a:rPr>
              <a:t>--hostname</a:t>
            </a:r>
            <a:r>
              <a:rPr sz="1036" b="0">
                <a:solidFill>
                  <a:srgbClr val="E8EBFF"/>
                </a:solidFill>
                <a:latin typeface="Consolas"/>
              </a:rPr>
              <a:t> 192.168.1.20 \</a:t>
            </a:r>
            <a:br/>
            <a:r>
              <a:rPr sz="1036" b="0">
                <a:solidFill>
                  <a:srgbClr val="E8EBFF"/>
                </a:solidFill>
                <a:latin typeface="Consolas"/>
              </a:rPr>
              <a:t>  </a:t>
            </a:r>
            <a:r>
              <a:rPr sz="1036" b="0">
                <a:solidFill>
                  <a:srgbClr val="9FB0FF"/>
                </a:solidFill>
                <a:latin typeface="Consolas"/>
              </a:rPr>
              <a:t>--token</a:t>
            </a:r>
            <a:r>
              <a:rPr sz="1036" b="0">
                <a:solidFill>
                  <a:srgbClr val="E8EBFF"/>
                </a:solidFill>
                <a:latin typeface="Consolas"/>
              </a:rPr>
              <a:t> </a:t>
            </a:r>
            <a:r>
              <a:rPr sz="1036" b="0">
                <a:solidFill>
                  <a:srgbClr val="DDEF03"/>
                </a:solidFill>
                <a:latin typeface="Consolas"/>
              </a:rPr>
              <a:t>"$QWEN_SERVER_TOKEN"</a:t>
            </a:r>
            <a:r>
              <a:rPr sz="1036" b="0">
                <a:solidFill>
                  <a:srgbClr val="E8EBFF"/>
                </a:solidFill>
                <a:latin typeface="Consolas"/>
              </a:rPr>
              <a:t> \</a:t>
            </a:r>
            <a:br/>
            <a:r>
              <a:rPr sz="1036" b="0">
                <a:solidFill>
                  <a:srgbClr val="E8EBFF"/>
                </a:solidFill>
                <a:latin typeface="Consolas"/>
              </a:rPr>
              <a:t>  </a:t>
            </a:r>
            <a:r>
              <a:rPr sz="1036" b="0">
                <a:solidFill>
                  <a:srgbClr val="9FB0FF"/>
                </a:solidFill>
                <a:latin typeface="Consolas"/>
              </a:rPr>
              <a:t>--allow-origin</a:t>
            </a:r>
            <a:r>
              <a:rPr sz="1036" b="0">
                <a:solidFill>
                  <a:srgbClr val="E8EBFF"/>
                </a:solidFill>
                <a:latin typeface="Consolas"/>
              </a:rPr>
              <a:t> http://192.168.1.20:4170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4961" y="2483842"/>
            <a:ext cx="25400" cy="995362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4961" y="3554115"/>
            <a:ext cx="5333810" cy="96619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267736" marR="0" indent="-267736"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Token comes from you, so it </a:t>
            </a:r>
            <a:r>
              <a:rPr sz="1405" b="1">
                <a:solidFill>
                  <a:srgbClr val="575757"/>
                </a:solidFill>
              </a:rPr>
              <a:t>survives restarts</a:t>
            </a:r>
          </a:p>
          <a:p>
            <a:pPr marL="267736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Bookmark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http://IP:4170/#token=…</a:t>
            </a:r>
            <a:r>
              <a:rPr sz="1405" b="0">
                <a:solidFill>
                  <a:srgbClr val="575757"/>
                </a:solidFill>
              </a:rPr>
              <a:t> once, forever</a:t>
            </a:r>
          </a:p>
          <a:p>
            <a:pPr marL="267736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No QR — you manage the secret yourself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060" y="4875212"/>
            <a:ext cx="11375132" cy="929481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1">
                <a:solidFill>
                  <a:srgbClr val="1C2160"/>
                </a:solidFill>
              </a:rPr>
              <a:t>Rule of thumb:</a:t>
            </a:r>
            <a:r>
              <a:rPr sz="1474" b="0">
                <a:solidFill>
                  <a:srgbClr val="1C2160"/>
                </a:solidFill>
              </a:rPr>
              <a:t> ad-hoc demo to a room →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--local-control</a:t>
            </a:r>
            <a:r>
              <a:rPr sz="1474" b="0">
                <a:solidFill>
                  <a:srgbClr val="1C2160"/>
                </a:solidFill>
              </a:rPr>
              <a:t>, scan the QR. Persistent setup you will come back to → static token. And note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--open</a:t>
            </a:r>
            <a:r>
              <a:rPr sz="1474" b="0">
                <a:solidFill>
                  <a:srgbClr val="1C2160"/>
                </a:solidFill>
              </a:rPr>
              <a:t> hands a token-bearing URL to the browser launcher, </a:t>
            </a:r>
            <a:r>
              <a:rPr sz="1474" b="1">
                <a:solidFill>
                  <a:srgbClr val="2026D2"/>
                </a:solidFill>
              </a:rPr>
              <a:t>visible in the process list</a:t>
            </a:r>
            <a:r>
              <a:rPr sz="1474" b="0">
                <a:solidFill>
                  <a:srgbClr val="1C2160"/>
                </a:solidFill>
              </a:rPr>
              <a:t> — open it manually on a multi-user host.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060" y="4875212"/>
            <a:ext cx="25400" cy="92948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Sessions outlive your browser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2070199"/>
            <a:ext cx="11400556" cy="62329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The Web Shell talks to the daemon over </a:t>
            </a:r>
            <a:r>
              <a:rPr sz="1635" b="1">
                <a:solidFill>
                  <a:srgbClr val="262626"/>
                </a:solidFill>
              </a:rPr>
              <a:t>Server-Sent Events</a:t>
            </a:r>
            <a:r>
              <a:rPr sz="1635" b="0">
                <a:solidFill>
                  <a:srgbClr val="262626"/>
                </a:solidFill>
              </a:rPr>
              <a:t>. Drop the connection, reconnect, and it replays what you missed: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060" y="2734766"/>
            <a:ext cx="11375132" cy="600472"/>
          </a:xfrm>
          <a:prstGeom prst="roundRect">
            <a:avLst>
              <a:gd name="adj" fmla="val 8460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GET</a:t>
            </a:r>
            <a:r>
              <a:rPr sz="1036" b="0">
                <a:solidFill>
                  <a:srgbClr val="E8EBFF"/>
                </a:solidFill>
                <a:latin typeface="Consolas"/>
              </a:rPr>
              <a:t> /session/:id/events</a:t>
            </a:r>
            <a:br/>
            <a:r>
              <a:rPr sz="1036" b="0">
                <a:solidFill>
                  <a:srgbClr val="9FB0FF"/>
                </a:solidFill>
                <a:latin typeface="Consolas"/>
              </a:rPr>
              <a:t>Last-Event-ID</a:t>
            </a:r>
            <a:r>
              <a:rPr sz="1036" b="0">
                <a:solidFill>
                  <a:srgbClr val="E8EBFF"/>
                </a:solidFill>
                <a:latin typeface="Consolas"/>
              </a:rPr>
              <a:t>: </a:t>
            </a:r>
            <a:r>
              <a:rPr sz="1036" b="0">
                <a:solidFill>
                  <a:srgbClr val="5BE3A0"/>
                </a:solidFill>
                <a:latin typeface="Consolas"/>
              </a:rPr>
              <a:t>4182</a:t>
            </a:r>
            <a:r>
              <a:rPr sz="1036" b="0">
                <a:solidFill>
                  <a:srgbClr val="E8EBFF"/>
                </a:solidFill>
                <a:latin typeface="Consolas"/>
              </a:rPr>
              <a:t>        </a:t>
            </a:r>
            <a:r>
              <a:rPr sz="1036" b="0">
                <a:solidFill>
                  <a:srgbClr val="7C86B8"/>
                </a:solidFill>
                <a:latin typeface="Consolas"/>
              </a:rPr>
              <a:t>← resume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2734766"/>
            <a:ext cx="25400" cy="600472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6060" y="3437434"/>
            <a:ext cx="5602188" cy="1480741"/>
          </a:xfrm>
          <a:prstGeom prst="roundRect">
            <a:avLst>
              <a:gd name="adj" fmla="val 343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The replay ring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--event-ring-size</a:t>
            </a:r>
            <a:r>
              <a:rPr sz="1405" b="0">
                <a:solidFill>
                  <a:srgbClr val="575757"/>
                </a:solidFill>
              </a:rPr>
              <a:t> (default </a:t>
            </a:r>
            <a:r>
              <a:rPr sz="1405" b="1">
                <a:solidFill>
                  <a:srgbClr val="575757"/>
                </a:solidFill>
              </a:rPr>
              <a:t>8000</a:t>
            </a:r>
            <a:r>
              <a:rPr sz="1405" b="0">
                <a:solidFill>
                  <a:srgbClr val="575757"/>
                </a:solidFill>
              </a:rPr>
              <a:t>) is how much history a reconnect can recover. Bigger = more headroom, a few hundred KB extra RAM per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060" y="3437434"/>
            <a:ext cx="25400" cy="148074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8905" y="3437434"/>
            <a:ext cx="5602288" cy="1480741"/>
          </a:xfrm>
          <a:prstGeom prst="roundRect">
            <a:avLst>
              <a:gd name="adj" fmla="val 343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Late attach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POST /session/:id/load</a:t>
            </a:r>
            <a:r>
              <a:rPr sz="1405" b="0">
                <a:solidFill>
                  <a:srgbClr val="575757"/>
                </a:solidFill>
              </a:rPr>
              <a:t> hands a joining client a compacted snapshot.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--compacted-replay-max-bytes</a:t>
            </a:r>
            <a:r>
              <a:rPr sz="1405" b="0">
                <a:solidFill>
                  <a:srgbClr val="575757"/>
                </a:solidFill>
              </a:rPr>
              <a:t> caps it (max 256 MiB).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8905" y="3437434"/>
            <a:ext cx="25400" cy="148074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6060" y="5021163"/>
            <a:ext cx="11375132" cy="66913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This is the feature that makes it feel like a real service rather than a toy. Refresh the page on your phone mid-run and you are back where you were.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060" y="5021163"/>
            <a:ext cx="25400" cy="66913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refuses work rather than dying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6060" y="2210495"/>
          <a:ext cx="11375133" cy="280253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245148"/>
                <a:gridCol w="895648"/>
                <a:gridCol w="7234337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FLAG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DEFAULT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WHAT IT PROTECTS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6006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--max-sessions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32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Concurrent live sessions; beyond it, new spawns get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503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 Attaching to existing ones still works.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--max-total-sessions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—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Same cap across </a:t>
                      </a:r>
                      <a:r>
                        <a:rPr sz="1405" b="1">
                          <a:solidFill>
                            <a:srgbClr val="2026D2"/>
                          </a:solidFill>
                        </a:rPr>
                        <a:t>all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workspace runtimes.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--max-pending-prompts-per-session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5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Queued prompts per session; excess get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503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--max-connections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256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Raw TCP sockets. Slow or phantom SSE clients are rejected at accept time.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--prompt-deadline-ms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—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Server-side wallclock cap on a prompt.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--mcp-client-budget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—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Live MCP clients per workspace.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--mcp-budget-mode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chooses warn / enforce / off.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6060" y="5105400"/>
            <a:ext cx="11400556" cy="63678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0</a:t>
            </a:r>
            <a:r>
              <a:rPr sz="1635" b="0">
                <a:solidFill>
                  <a:srgbClr val="575757"/>
                </a:solidFill>
              </a:rPr>
              <a:t> disables a cap. Note the difference between </a:t>
            </a:r>
            <a:r>
              <a:rPr sz="1635" b="1">
                <a:solidFill>
                  <a:srgbClr val="2026D2"/>
                </a:solidFill>
              </a:rPr>
              <a:t>warn</a:t>
            </a:r>
            <a:r>
              <a:rPr sz="1635" b="0">
                <a:solidFill>
                  <a:srgbClr val="575757"/>
                </a:solidFill>
              </a:rPr>
              <a:t> (observability only) and </a:t>
            </a:r>
            <a:r>
              <a:rPr sz="1635" b="1">
                <a:solidFill>
                  <a:srgbClr val="2026D2"/>
                </a:solidFill>
              </a:rPr>
              <a:t>enforce</a:t>
            </a:r>
            <a:r>
              <a:rPr sz="1635" b="0">
                <a:solidFill>
                  <a:srgbClr val="575757"/>
                </a:solidFill>
              </a:rPr>
              <a:t> (refuses) — boot rejects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enforce</a:t>
            </a:r>
            <a:r>
              <a:rPr sz="1635" b="0">
                <a:solidFill>
                  <a:srgbClr val="575757"/>
                </a:solidFill>
              </a:rPr>
              <a:t> without a budget set.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memory budget, not a hope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493466"/>
            <a:ext cx="2715716" cy="2917130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--memory-budget-mb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Total budget for the daemon </a:t>
            </a:r>
            <a:r>
              <a:rPr sz="1405" b="1">
                <a:solidFill>
                  <a:srgbClr val="2026D2"/>
                </a:solidFill>
              </a:rPr>
              <a:t>process tree</a:t>
            </a:r>
            <a:r>
              <a:rPr sz="1405" b="0">
                <a:solidFill>
                  <a:srgbClr val="575757"/>
                </a:solidFill>
              </a:rPr>
              <a:t>. Unset, derived as </a:t>
            </a:r>
            <a:r>
              <a:rPr sz="1405" b="1">
                <a:solidFill>
                  <a:srgbClr val="575757"/>
                </a:solidFill>
              </a:rPr>
              <a:t>50% of cgroup-constrained or host memory</a:t>
            </a:r>
            <a:r>
              <a:rPr sz="1405" b="0">
                <a:solidFill>
                  <a:srgbClr val="575757"/>
                </a:solidFill>
              </a:rPr>
              <a:t>, capped at available. Range 1024–1048576.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493466"/>
            <a:ext cx="25400" cy="2917130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72433" y="2493466"/>
            <a:ext cx="2715816" cy="2917130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7703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--memory-pressure-mode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observe</a:t>
            </a:r>
            <a:r>
              <a:rPr sz="1405" b="0">
                <a:solidFill>
                  <a:srgbClr val="575757"/>
                </a:solidFill>
              </a:rPr>
              <a:t> (default) reports the level and raises a status issue when it leaves normal.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off</a:t>
            </a:r>
            <a:r>
              <a:rPr sz="1405" b="0">
                <a:solidFill>
                  <a:srgbClr val="575757"/>
                </a:solidFill>
              </a:rPr>
              <a:t> reports figures, raises nothing. </a:t>
            </a:r>
            <a:r>
              <a:rPr sz="1405" b="1">
                <a:solidFill>
                  <a:srgbClr val="575757"/>
                </a:solidFill>
              </a:rPr>
              <a:t>Nothing remediates in either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8905" y="2493466"/>
            <a:ext cx="2715816" cy="2917130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7703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--child-heap-mode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observe</a:t>
            </a:r>
            <a:r>
              <a:rPr sz="1405" b="0">
                <a:solidFill>
                  <a:srgbClr val="575757"/>
                </a:solidFill>
              </a:rPr>
              <a:t> models a per-child partition and counts spawns that would exceed it.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admit</a:t>
            </a:r>
            <a:r>
              <a:rPr sz="1405" b="0">
                <a:solidFill>
                  <a:srgbClr val="575757"/>
                </a:solidFill>
              </a:rPr>
              <a:t> rejects past the limit.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enforce</a:t>
            </a:r>
            <a:r>
              <a:rPr sz="1405" b="0">
                <a:solidFill>
                  <a:srgbClr val="575757"/>
                </a:solidFill>
              </a:rPr>
              <a:t> is experimental.</a:t>
            </a:r>
          </a:p>
          <a:p>
            <a:pPr marL="0" marR="0" algn="l">
              <a:lnSpc>
                <a:spcPts val="2108"/>
              </a:lnSpc>
              <a:spcBef>
                <a:spcPts val="562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F26B43"/>
                </a:solidFill>
              </a:rPr>
              <a:t>A refusal count of 0 does </a:t>
            </a:r>
            <a:r>
              <a:rPr sz="1405" b="1">
                <a:solidFill>
                  <a:srgbClr val="2026D2"/>
                </a:solidFill>
              </a:rPr>
              <a:t>not</a:t>
            </a:r>
            <a:r>
              <a:rPr sz="1405" b="0">
                <a:solidFill>
                  <a:srgbClr val="F26B43"/>
                </a:solidFill>
              </a:rPr>
              <a:t> mean the partition would be safe to apply.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5377" y="2493466"/>
            <a:ext cx="2715816" cy="2917130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Why this matters on a laptop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Each session is a child process with its own V8 heap. Thirty-two sessions is thirty-two heaps. On 16 GB that is the difference between a demo and a freeze.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45377" y="2493466"/>
            <a:ext cx="25400" cy="2917130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than one project, more than one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2129929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Several workspaces on one daemon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060" y="2497336"/>
            <a:ext cx="11375132" cy="403027"/>
          </a:xfrm>
          <a:prstGeom prst="roundRect">
            <a:avLst>
              <a:gd name="adj" fmla="val 12604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</a:t>
            </a:r>
            <a:r>
              <a:rPr sz="1036" b="0">
                <a:solidFill>
                  <a:srgbClr val="9FB0FF"/>
                </a:solidFill>
                <a:latin typeface="Consolas"/>
              </a:rPr>
              <a:t>--workspace</a:t>
            </a:r>
            <a:r>
              <a:rPr sz="1036" b="0">
                <a:solidFill>
                  <a:srgbClr val="E8EBFF"/>
                </a:solidFill>
                <a:latin typeface="Consolas"/>
              </a:rPr>
              <a:t> /repos/api </a:t>
            </a:r>
            <a:r>
              <a:rPr sz="1036" b="0">
                <a:solidFill>
                  <a:srgbClr val="9FB0FF"/>
                </a:solidFill>
                <a:latin typeface="Consolas"/>
              </a:rPr>
              <a:t>--workspace</a:t>
            </a:r>
            <a:r>
              <a:rPr sz="1036" b="0">
                <a:solidFill>
                  <a:srgbClr val="E8EBFF"/>
                </a:solidFill>
                <a:latin typeface="Consolas"/>
              </a:rPr>
              <a:t> /repos/web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2497336"/>
            <a:ext cx="25400" cy="40302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060" y="2941638"/>
            <a:ext cx="11400556" cy="65028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Repeat the flag to register isolated runtimes; the first is primary. A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POST /session</a:t>
            </a:r>
            <a:r>
              <a:rPr sz="1635" b="0">
                <a:solidFill>
                  <a:srgbClr val="575757"/>
                </a:solidFill>
              </a:rPr>
              <a:t> with a mismatched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cwd</a:t>
            </a:r>
            <a:r>
              <a:rPr sz="1635" b="0">
                <a:solidFill>
                  <a:srgbClr val="575757"/>
                </a:solidFill>
              </a:rPr>
              <a:t> returns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400 workspace_mismatch</a:t>
            </a:r>
            <a:r>
              <a:rPr sz="1635" b="0">
                <a:solidFill>
                  <a:srgbClr val="575757"/>
                </a:solidFill>
              </a:rPr>
              <a:t> — it will not let a session wander into the wrong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060" y="3767435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Linking machines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060" y="4134148"/>
            <a:ext cx="5602188" cy="1775023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--join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Join another Qwen Code as a runtime, using the one-line link from </a:t>
            </a:r>
            <a:r>
              <a:rPr sz="1405" b="1">
                <a:solidFill>
                  <a:srgbClr val="2026D2"/>
                </a:solidFill>
              </a:rPr>
              <a:t>Agent → Runtime → Add runtime</a:t>
            </a:r>
            <a:r>
              <a:rPr sz="1405" b="0">
                <a:solidFill>
                  <a:srgbClr val="575757"/>
                </a:solidFill>
              </a:rPr>
              <a:t>. Your laptop becomes a worker for someone else's daemon.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060" y="4134148"/>
            <a:ext cx="25400" cy="1775023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8905" y="4134148"/>
            <a:ext cx="5602288" cy="1775023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Agent Host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--agent-host-server</a:t>
            </a:r>
            <a:r>
              <a:rPr sz="1405" b="0">
                <a:solidFill>
                  <a:srgbClr val="575757"/>
                </a:solidFill>
              </a:rPr>
              <a:t>,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--agent-host-workspace-id</a:t>
            </a:r>
            <a:r>
              <a:rPr sz="1405" b="0">
                <a:solidFill>
                  <a:srgbClr val="575757"/>
                </a:solidFill>
              </a:rPr>
              <a:t>,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--agent-host-name</a:t>
            </a:r>
            <a:r>
              <a:rPr sz="1405" b="0">
                <a:solidFill>
                  <a:srgbClr val="575757"/>
                </a:solidFill>
              </a:rPr>
              <a:t> register this daemon as a host with a primary.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--agent-host-allow-http</a:t>
            </a:r>
            <a:r>
              <a:rPr sz="1405" b="0">
                <a:solidFill>
                  <a:srgbClr val="575757"/>
                </a:solidFill>
              </a:rPr>
              <a:t> permits unencrypted connections — </a:t>
            </a:r>
            <a:r>
              <a:rPr sz="1405" b="1">
                <a:solidFill>
                  <a:srgbClr val="2026D2"/>
                </a:solidFill>
              </a:rPr>
              <a:t>trusted demo networks only</a:t>
            </a:r>
            <a:r>
              <a:rPr sz="1405" b="0">
                <a:solidFill>
                  <a:srgbClr val="575757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8905" y="4134148"/>
            <a:ext cx="25400" cy="1775023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ways to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1737916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1 · Local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060" y="2105323"/>
            <a:ext cx="11375132" cy="403027"/>
          </a:xfrm>
          <a:prstGeom prst="roundRect">
            <a:avLst>
              <a:gd name="adj" fmla="val 12604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                   </a:t>
            </a:r>
            <a:r>
              <a:rPr sz="1036" b="0">
                <a:solidFill>
                  <a:srgbClr val="7C86B8"/>
                </a:solidFill>
                <a:latin typeface="Consolas"/>
              </a:rPr>
              <a:t># loopback, no token, Web Shell on :4170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2105323"/>
            <a:ext cx="25400" cy="40302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060" y="2725142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2 · Phone on the same Wi-Fi, ad-hoc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060" y="3092549"/>
            <a:ext cx="11375132" cy="403027"/>
          </a:xfrm>
          <a:prstGeom prst="roundRect">
            <a:avLst>
              <a:gd name="adj" fmla="val 12604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</a:t>
            </a:r>
            <a:r>
              <a:rPr sz="1036" b="0">
                <a:solidFill>
                  <a:srgbClr val="9FB0FF"/>
                </a:solidFill>
                <a:latin typeface="Consolas"/>
              </a:rPr>
              <a:t>--local-control</a:t>
            </a:r>
            <a:r>
              <a:rPr sz="1036" b="0">
                <a:solidFill>
                  <a:srgbClr val="E8EBFF"/>
                </a:solidFill>
                <a:latin typeface="Consolas"/>
              </a:rPr>
              <a:t>     </a:t>
            </a:r>
            <a:r>
              <a:rPr sz="1036" b="0">
                <a:solidFill>
                  <a:srgbClr val="7C86B8"/>
                </a:solidFill>
                <a:latin typeface="Consolas"/>
              </a:rPr>
              <a:t># prints a QR — scan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060" y="3092549"/>
            <a:ext cx="25400" cy="40302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060" y="3712369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3 · Phone, persistent (survives restarts)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060" y="4079776"/>
            <a:ext cx="11375132" cy="995362"/>
          </a:xfrm>
          <a:prstGeom prst="roundRect">
            <a:avLst>
              <a:gd name="adj" fmla="val 5103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\</a:t>
            </a:r>
            <a:br/>
            <a:r>
              <a:rPr sz="1036" b="0">
                <a:solidFill>
                  <a:srgbClr val="E8EBFF"/>
                </a:solidFill>
                <a:latin typeface="Consolas"/>
              </a:rPr>
              <a:t>  </a:t>
            </a:r>
            <a:r>
              <a:rPr sz="1036" b="0">
                <a:solidFill>
                  <a:srgbClr val="9FB0FF"/>
                </a:solidFill>
                <a:latin typeface="Consolas"/>
              </a:rPr>
              <a:t>--hostname</a:t>
            </a:r>
            <a:r>
              <a:rPr sz="1036" b="0">
                <a:solidFill>
                  <a:srgbClr val="E8EBFF"/>
                </a:solidFill>
                <a:latin typeface="Consolas"/>
              </a:rPr>
              <a:t> 192.168.1.20 \</a:t>
            </a:r>
            <a:br/>
            <a:r>
              <a:rPr sz="1036" b="0">
                <a:solidFill>
                  <a:srgbClr val="E8EBFF"/>
                </a:solidFill>
                <a:latin typeface="Consolas"/>
              </a:rPr>
              <a:t>  </a:t>
            </a:r>
            <a:r>
              <a:rPr sz="1036" b="0">
                <a:solidFill>
                  <a:srgbClr val="9FB0FF"/>
                </a:solidFill>
                <a:latin typeface="Consolas"/>
              </a:rPr>
              <a:t>--token</a:t>
            </a:r>
            <a:r>
              <a:rPr sz="1036" b="0">
                <a:solidFill>
                  <a:srgbClr val="E8EBFF"/>
                </a:solidFill>
                <a:latin typeface="Consolas"/>
              </a:rPr>
              <a:t> </a:t>
            </a:r>
            <a:r>
              <a:rPr sz="1036" b="0">
                <a:solidFill>
                  <a:srgbClr val="DDEF03"/>
                </a:solidFill>
                <a:latin typeface="Consolas"/>
              </a:rPr>
              <a:t>"$(cat ~/.qwen-serve-token)"</a:t>
            </a:r>
            <a:r>
              <a:rPr sz="1036" b="0">
                <a:solidFill>
                  <a:srgbClr val="E8EBFF"/>
                </a:solidFill>
                <a:latin typeface="Consolas"/>
              </a:rPr>
              <a:t> \</a:t>
            </a:r>
            <a:br/>
            <a:r>
              <a:rPr sz="1036" b="0">
                <a:solidFill>
                  <a:srgbClr val="E8EBFF"/>
                </a:solidFill>
                <a:latin typeface="Consolas"/>
              </a:rPr>
              <a:t>  </a:t>
            </a:r>
            <a:r>
              <a:rPr sz="1036" b="0">
                <a:solidFill>
                  <a:srgbClr val="9FB0FF"/>
                </a:solidFill>
                <a:latin typeface="Consolas"/>
              </a:rPr>
              <a:t>--allow-origin</a:t>
            </a:r>
            <a:r>
              <a:rPr sz="1036" b="0">
                <a:solidFill>
                  <a:srgbClr val="E8EBFF"/>
                </a:solidFill>
                <a:latin typeface="Consolas"/>
              </a:rPr>
              <a:t> http://192.168.1.20:4170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060" y="4079776"/>
            <a:ext cx="25400" cy="995362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060" y="5291931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4 · Shared dev box or 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060" y="5659338"/>
            <a:ext cx="11375132" cy="600472"/>
          </a:xfrm>
          <a:prstGeom prst="roundRect">
            <a:avLst>
              <a:gd name="adj" fmla="val 8460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</a:t>
            </a:r>
            <a:r>
              <a:rPr sz="1036" b="0">
                <a:solidFill>
                  <a:srgbClr val="9FB0FF"/>
                </a:solidFill>
                <a:latin typeface="Consolas"/>
              </a:rPr>
              <a:t>--require-auth</a:t>
            </a:r>
            <a:r>
              <a:rPr sz="1036" b="0">
                <a:solidFill>
                  <a:srgbClr val="E8EBFF"/>
                </a:solidFill>
                <a:latin typeface="Consolas"/>
              </a:rPr>
              <a:t> </a:t>
            </a:r>
            <a:r>
              <a:rPr sz="1036" b="0">
                <a:solidFill>
                  <a:srgbClr val="9FB0FF"/>
                </a:solidFill>
                <a:latin typeface="Consolas"/>
              </a:rPr>
              <a:t>--no-web</a:t>
            </a:r>
            <a:r>
              <a:rPr sz="1036" b="0">
                <a:solidFill>
                  <a:srgbClr val="E8EBFF"/>
                </a:solidFill>
                <a:latin typeface="Consolas"/>
              </a:rPr>
              <a:t> </a:t>
            </a:r>
            <a:r>
              <a:rPr sz="1036" b="0">
                <a:solidFill>
                  <a:srgbClr val="9FB0FF"/>
                </a:solidFill>
                <a:latin typeface="Consolas"/>
              </a:rPr>
              <a:t>--max-sessions</a:t>
            </a:r>
            <a:r>
              <a:rPr sz="1036" b="0">
                <a:solidFill>
                  <a:srgbClr val="E8EBFF"/>
                </a:solidFill>
                <a:latin typeface="Consolas"/>
              </a:rPr>
              <a:t> </a:t>
            </a:r>
            <a:r>
              <a:rPr sz="1036" b="0">
                <a:solidFill>
                  <a:srgbClr val="5BE3A0"/>
                </a:solidFill>
                <a:latin typeface="Consolas"/>
              </a:rPr>
              <a:t>4</a:t>
            </a:r>
            <a:br/>
            <a:r>
              <a:rPr sz="1036" b="0">
                <a:solidFill>
                  <a:srgbClr val="7C86B8"/>
                </a:solidFill>
                <a:latin typeface="Consolas"/>
              </a:rPr>
              <a:t># token enforced even on loopback; API only; small session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6060" y="5659338"/>
            <a:ext cx="25400" cy="600472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experiments to run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839" y="2289076"/>
            <a:ext cx="11425777" cy="239117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332403" marR="0" indent="-332403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1"/>
            </a:pPr>
            <a:r>
              <a:rPr sz="1635" b="1">
                <a:solidFill>
                  <a:srgbClr val="262626"/>
                </a:solidFill>
              </a:rPr>
              <a:t>Start it.</a:t>
            </a:r>
            <a:r>
              <a:rPr sz="1635" b="0">
                <a:solidFill>
                  <a:srgbClr val="262626"/>
                </a:solidFill>
              </a:rPr>
              <a:t>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 serve</a:t>
            </a:r>
            <a:r>
              <a:rPr sz="1635" b="0">
                <a:solidFill>
                  <a:srgbClr val="262626"/>
                </a:solidFill>
              </a:rPr>
              <a:t> — note the printed URL, and that loopback needed no token.</a:t>
            </a:r>
          </a:p>
          <a:p>
            <a:pPr marL="332403" marR="0" indent="-332403" algn="l">
              <a:lnSpc>
                <a:spcPts val="2454"/>
              </a:lnSpc>
              <a:spcBef>
                <a:spcPts val="736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2"/>
            </a:pPr>
            <a:r>
              <a:rPr sz="1635" b="1">
                <a:solidFill>
                  <a:srgbClr val="262626"/>
                </a:solidFill>
              </a:rPr>
              <a:t>Open the Web Shell</a:t>
            </a:r>
            <a:r>
              <a:rPr sz="1635" b="0">
                <a:solidFill>
                  <a:srgbClr val="262626"/>
                </a:solidFill>
              </a:rPr>
              <a:t> in a browser. Start a session against your local model.</a:t>
            </a:r>
          </a:p>
          <a:p>
            <a:pPr marL="332403" marR="0" indent="-332403" algn="l">
              <a:lnSpc>
                <a:spcPts val="2454"/>
              </a:lnSpc>
              <a:spcBef>
                <a:spcPts val="736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3"/>
            </a:pPr>
            <a:r>
              <a:rPr sz="1635" b="1">
                <a:solidFill>
                  <a:srgbClr val="262626"/>
                </a:solidFill>
              </a:rPr>
              <a:t>Kill the network.</a:t>
            </a:r>
            <a:r>
              <a:rPr sz="1635" b="0">
                <a:solidFill>
                  <a:srgbClr val="262626"/>
                </a:solidFill>
              </a:rPr>
              <a:t> Turn off Wi-Fi mid-run, reconnect, and watch the SSE ring replay what you missed.</a:t>
            </a:r>
          </a:p>
          <a:p>
            <a:pPr marL="332403" marR="0" indent="-332403" algn="l">
              <a:lnSpc>
                <a:spcPts val="2454"/>
              </a:lnSpc>
              <a:spcBef>
                <a:spcPts val="736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4"/>
            </a:pPr>
            <a:r>
              <a:rPr sz="1635" b="1">
                <a:solidFill>
                  <a:srgbClr val="262626"/>
                </a:solidFill>
              </a:rPr>
              <a:t>Use your phone.</a:t>
            </a:r>
            <a:r>
              <a:rPr sz="1635" b="0">
                <a:solidFill>
                  <a:srgbClr val="262626"/>
                </a:solidFill>
              </a:rPr>
              <a:t> Re-run with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--local-control</a:t>
            </a:r>
            <a:r>
              <a:rPr sz="1635" b="0">
                <a:solidFill>
                  <a:srgbClr val="262626"/>
                </a:solidFill>
              </a:rPr>
              <a:t>, scan the QR, drive the same daemon from a handset.</a:t>
            </a:r>
          </a:p>
          <a:p>
            <a:pPr marL="332403" marR="0" indent="-332403" algn="l">
              <a:lnSpc>
                <a:spcPts val="2454"/>
              </a:lnSpc>
              <a:spcBef>
                <a:spcPts val="736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5"/>
            </a:pPr>
            <a:r>
              <a:rPr sz="1635" b="1">
                <a:solidFill>
                  <a:srgbClr val="262626"/>
                </a:solidFill>
              </a:rPr>
              <a:t>Prove the token.</a:t>
            </a:r>
            <a:r>
              <a:rPr sz="1635" b="0">
                <a:solidFill>
                  <a:srgbClr val="262626"/>
                </a:solidFill>
              </a:rPr>
              <a:t> Re-run on a LAN IP; confirm the 401 without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Authorization</a:t>
            </a:r>
            <a:r>
              <a:rPr sz="1635" b="0">
                <a:solidFill>
                  <a:srgbClr val="262626"/>
                </a:solidFill>
              </a:rPr>
              <a:t>, then success with it.</a:t>
            </a:r>
          </a:p>
          <a:p>
            <a:pPr marL="332403" marR="0" indent="-332403" algn="l">
              <a:lnSpc>
                <a:spcPts val="2454"/>
              </a:lnSpc>
              <a:spcBef>
                <a:spcPts val="736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6"/>
            </a:pPr>
            <a:r>
              <a:rPr sz="1635" b="1">
                <a:solidFill>
                  <a:srgbClr val="262626"/>
                </a:solidFill>
              </a:rPr>
              <a:t>Find the ceiling.</a:t>
            </a:r>
            <a:r>
              <a:rPr sz="1635" b="0">
                <a:solidFill>
                  <a:srgbClr val="262626"/>
                </a:solidFill>
              </a:rPr>
              <a:t>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--max-sessions 2</a:t>
            </a:r>
            <a:r>
              <a:rPr sz="1635" b="0">
                <a:solidFill>
                  <a:srgbClr val="262626"/>
                </a:solidFill>
              </a:rPr>
              <a:t>, open a third session, read the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503</a:t>
            </a:r>
            <a:r>
              <a:rPr sz="1635" b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4942483"/>
            <a:ext cx="11375132" cy="68818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Every one of these is a behaviour you can read off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--help</a:t>
            </a:r>
            <a:r>
              <a:rPr sz="1474" b="0">
                <a:solidFill>
                  <a:srgbClr val="4A4D10"/>
                </a:solidFill>
              </a:rPr>
              <a:t>. None needs a GPU, a cloud account, or a model bigger than the 1.7B you already downloaded.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4942483"/>
            <a:ext cx="25400" cy="68818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stable, and what is experimental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124968"/>
            <a:ext cx="5602188" cy="2779018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Safe to build on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Loopback vs LAN auth model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Web Shell + phone access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SSE replay surviving a refresh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--max-sessions</a:t>
            </a:r>
            <a:r>
              <a:rPr sz="1405" b="0">
                <a:solidFill>
                  <a:srgbClr val="575757"/>
                </a:solidFill>
              </a:rPr>
              <a:t> returning 503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--workspace</a:t>
            </a:r>
            <a:r>
              <a:rPr sz="1405" b="0">
                <a:solidFill>
                  <a:srgbClr val="575757"/>
                </a:solidFill>
              </a:rPr>
              <a:t> isolation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--local-control</a:t>
            </a:r>
            <a:r>
              <a:rPr sz="1405" b="0">
                <a:solidFill>
                  <a:srgbClr val="575757"/>
                </a:solidFill>
              </a:rPr>
              <a:t> QR pairing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124968"/>
            <a:ext cx="25400" cy="2779018"/>
          </a:xfrm>
          <a:prstGeom prst="rect">
            <a:avLst/>
          </a:prstGeom>
          <a:solidFill>
            <a:srgbClr val="00CC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2124968"/>
            <a:ext cx="5602288" cy="2779018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Avoid — experimental or private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--profile hosted-harness</a:t>
            </a:r>
            <a:r>
              <a:rPr sz="1405" b="0">
                <a:solidFill>
                  <a:srgbClr val="575757"/>
                </a:solidFill>
              </a:rPr>
              <a:t> + capability digests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Agent Host control-plane wiring</a:t>
            </a:r>
          </a:p>
          <a:p>
            <a:pPr marL="267705" marR="0" indent="-267736" algn="l">
              <a:lnSpc>
                <a:spcPts val="1813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--experimental-paired-engines</a:t>
            </a:r>
          </a:p>
          <a:p>
            <a:pPr marL="267705" marR="0" indent="-267736" algn="l">
              <a:lnSpc>
                <a:spcPts val="1813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--child-heap-mode enforce</a:t>
            </a:r>
          </a:p>
          <a:p>
            <a:pPr marL="267705" marR="0" indent="-267736" algn="l">
              <a:lnSpc>
                <a:spcPts val="1813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--enable-session-shell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Journal byte-cap 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8905" y="2124968"/>
            <a:ext cx="25400" cy="2779018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6060" y="5006975"/>
            <a:ext cx="11375132" cy="66913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The left column is durable and safe to experiment with. The right column is private, experimental, or explicitly documented as not-yet-implemented — a config copied from it may not even boot on the next release.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060" y="5006975"/>
            <a:ext cx="25400" cy="66913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15" y="2075855"/>
            <a:ext cx="8980609" cy="2706985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348204" marR="0" indent="-348204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1"/>
            </a:pP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 serve</a:t>
            </a:r>
            <a:r>
              <a:rPr sz="1635" b="0">
                <a:solidFill>
                  <a:srgbClr val="262626"/>
                </a:solidFill>
              </a:rPr>
              <a:t> turns an agent from a </a:t>
            </a:r>
            <a:r>
              <a:rPr sz="1635" b="1">
                <a:solidFill>
                  <a:srgbClr val="2026D2"/>
                </a:solidFill>
              </a:rPr>
              <a:t>process</a:t>
            </a:r>
            <a:r>
              <a:rPr sz="1635" b="0">
                <a:solidFill>
                  <a:srgbClr val="262626"/>
                </a:solidFill>
              </a:rPr>
              <a:t> into a </a:t>
            </a:r>
            <a:r>
              <a:rPr sz="1635" b="1">
                <a:solidFill>
                  <a:srgbClr val="2026D2"/>
                </a:solidFill>
              </a:rPr>
              <a:t>service</a:t>
            </a:r>
            <a:r>
              <a:rPr sz="1635" b="0">
                <a:solidFill>
                  <a:srgbClr val="262626"/>
                </a:solidFill>
              </a:rPr>
              <a:t>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2"/>
            </a:pPr>
            <a:r>
              <a:rPr sz="1635" b="1">
                <a:solidFill>
                  <a:srgbClr val="262626"/>
                </a:solidFill>
              </a:rPr>
              <a:t>Loopback is auth-free; every other bind needs a token.</a:t>
            </a:r>
            <a:r>
              <a:rPr sz="1635" b="0">
                <a:solidFill>
                  <a:srgbClr val="262626"/>
                </a:solidFill>
              </a:rPr>
              <a:t> That single rule is the security model.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3"/>
            </a:pPr>
            <a:r>
              <a:rPr sz="1635" b="0">
                <a:solidFill>
                  <a:srgbClr val="262626"/>
                </a:solidFill>
              </a:rPr>
              <a:t>A static token survives restarts. A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--local-control</a:t>
            </a:r>
            <a:r>
              <a:rPr sz="1635" b="0">
                <a:solidFill>
                  <a:srgbClr val="262626"/>
                </a:solidFill>
              </a:rPr>
              <a:t> pairing token does not.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4"/>
            </a:pPr>
            <a:r>
              <a:rPr sz="1635" b="0">
                <a:solidFill>
                  <a:srgbClr val="262626"/>
                </a:solidFill>
              </a:rPr>
              <a:t>Sessions are durable because of the SSE replay ring — that is why a refresh does not lose your work.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5"/>
            </a:pPr>
            <a:r>
              <a:rPr sz="1635" b="0">
                <a:solidFill>
                  <a:srgbClr val="262626"/>
                </a:solidFill>
              </a:rPr>
              <a:t>It is stage 1 experimental. The API shape is real; the internals will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6060" y="5189736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Read the flags yourself — the help text is unusually good and is the source for everything here: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6060" y="5542657"/>
            <a:ext cx="11375132" cy="403027"/>
          </a:xfrm>
          <a:prstGeom prst="roundRect">
            <a:avLst>
              <a:gd name="adj" fmla="val 12604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6" b="0">
                <a:solidFill>
                  <a:srgbClr val="9FB0FF"/>
                </a:solidFill>
                <a:latin typeface="Consolas"/>
              </a:rPr>
              <a:t>qwen</a:t>
            </a:r>
            <a:r>
              <a:rPr sz="1036" b="0">
                <a:solidFill>
                  <a:srgbClr val="E8EBFF"/>
                </a:solidFill>
                <a:latin typeface="Consolas"/>
              </a:rPr>
              <a:t> serve </a:t>
            </a:r>
            <a:r>
              <a:rPr sz="1036" b="0">
                <a:solidFill>
                  <a:srgbClr val="9FB0FF"/>
                </a:solidFill>
                <a:latin typeface="Consolas"/>
              </a:rPr>
              <a:t>--help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060" y="5542657"/>
            <a:ext cx="25400" cy="40302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1400" dirty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A9CEE26-62B3-4470-8830-97A56F89C059}">
  <ds:schemaRefs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49fdd0f7-b5e6-4db2-af4b-ed23e4d5c043"/>
    <ds:schemaRef ds:uri="http://purl.org/dc/terms/"/>
    <ds:schemaRef ds:uri="http://schemas.openxmlformats.org/package/2006/metadata/core-properties"/>
    <ds:schemaRef ds:uri="09f2d918-0e3a-466c-9f38-aa4613b3185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Segoe UI</vt:lpstr>
      <vt:lpstr>Symbol</vt:lpstr>
      <vt:lpstr>Wingdings</vt:lpstr>
      <vt:lpstr>MHP</vt:lpstr>
      <vt:lpstr>think-cell Slide</vt:lpstr>
      <vt:lpstr>Master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Roxana-Aniela Oroian</cp:lastModifiedBy>
  <cp:revision>8</cp:revision>
  <dcterms:created xsi:type="dcterms:W3CDTF">2024-05-08T11:14:55Z</dcterms:created>
  <dcterms:modified xsi:type="dcterms:W3CDTF">2026-10-19T08:47:59Z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